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56" r:id="rId5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0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122E-DDFC-4296-A727-61F207A20488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1E-7AE6-47CD-AC6A-2E1E325B2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15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122E-DDFC-4296-A727-61F207A20488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1E-7AE6-47CD-AC6A-2E1E325B2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82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122E-DDFC-4296-A727-61F207A20488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1E-7AE6-47CD-AC6A-2E1E325B2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61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122E-DDFC-4296-A727-61F207A20488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1E-7AE6-47CD-AC6A-2E1E325B2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61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122E-DDFC-4296-A727-61F207A20488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1E-7AE6-47CD-AC6A-2E1E325B2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05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122E-DDFC-4296-A727-61F207A20488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1E-7AE6-47CD-AC6A-2E1E325B2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835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122E-DDFC-4296-A727-61F207A20488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1E-7AE6-47CD-AC6A-2E1E325B2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95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122E-DDFC-4296-A727-61F207A20488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1E-7AE6-47CD-AC6A-2E1E325B2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298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122E-DDFC-4296-A727-61F207A20488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1E-7AE6-47CD-AC6A-2E1E325B2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358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122E-DDFC-4296-A727-61F207A20488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1E-7AE6-47CD-AC6A-2E1E325B2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527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D122E-DDFC-4296-A727-61F207A20488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4D11E-7AE6-47CD-AC6A-2E1E325B2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36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D122E-DDFC-4296-A727-61F207A20488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24D11E-7AE6-47CD-AC6A-2E1E325B27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25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60120" rtl="0" eaLnBrk="1" latinLnBrk="1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1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F04A5ED-A8B8-1E94-9DFC-C876EB754F59}"/>
              </a:ext>
            </a:extLst>
          </p:cNvPr>
          <p:cNvSpPr/>
          <p:nvPr/>
        </p:nvSpPr>
        <p:spPr>
          <a:xfrm>
            <a:off x="496957" y="1040948"/>
            <a:ext cx="8607286" cy="117783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B9003F8-98BF-E53D-EF9B-40870925C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07619"/>
              </p:ext>
            </p:extLst>
          </p:nvPr>
        </p:nvGraphicFramePr>
        <p:xfrm>
          <a:off x="1012505" y="1180876"/>
          <a:ext cx="7576187" cy="98867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576187">
                  <a:extLst>
                    <a:ext uri="{9D8B030D-6E8A-4147-A177-3AD203B41FA5}">
                      <a16:colId xmlns:a16="http://schemas.microsoft.com/office/drawing/2014/main" val="3957371376"/>
                    </a:ext>
                  </a:extLst>
                </a:gridCol>
              </a:tblGrid>
              <a:tr h="988679">
                <a:tc>
                  <a:txBody>
                    <a:bodyPr/>
                    <a:lstStyle/>
                    <a:p>
                      <a:pPr marL="317500" marR="317500" algn="ctr" latinLnBrk="0">
                        <a:spcBef>
                          <a:spcPts val="200"/>
                        </a:spcBef>
                        <a:buNone/>
                      </a:pPr>
                      <a:r>
                        <a:rPr lang="en-US" sz="1800" b="1" i="0" spc="-3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3D MO </a:t>
                      </a:r>
                      <a:r>
                        <a:rPr lang="ko-KR" sz="1800" b="1" i="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액션 게임을 위한 </a:t>
                      </a:r>
                      <a:r>
                        <a:rPr lang="en-US" sz="1800" b="1" i="0" spc="-30" dirty="0" err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glTF</a:t>
                      </a:r>
                      <a:r>
                        <a:rPr lang="en-US" sz="1800" b="1" i="0" spc="-3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 2.0 </a:t>
                      </a:r>
                      <a:r>
                        <a:rPr lang="ko-KR" sz="1800" b="1" i="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표준 파서 및 </a:t>
                      </a:r>
                      <a:r>
                        <a:rPr lang="ko-KR" sz="1800" b="1" i="0" dirty="0" err="1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스키닝</a:t>
                      </a:r>
                      <a:r>
                        <a:rPr lang="ko-KR" sz="1800" b="1" i="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 애니메이션 구현과 </a:t>
                      </a:r>
                      <a:r>
                        <a:rPr lang="en-US" altLang="ko-KR" sz="1800" b="1" i="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1" i="0" spc="-3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PBR </a:t>
                      </a:r>
                      <a:r>
                        <a:rPr lang="ko-KR" sz="1800" b="1" i="0" dirty="0">
                          <a:effectLst/>
                          <a:latin typeface="+mj-ea"/>
                          <a:ea typeface="+mj-ea"/>
                          <a:cs typeface="Times New Roman" panose="02020603050405020304" pitchFamily="18" charset="0"/>
                        </a:rPr>
                        <a:t>파이프라인 및 오픈소스 물리엔진 서버 최적화 연구</a:t>
                      </a:r>
                      <a:endParaRPr lang="ko-KR" sz="1800" b="1" i="0" dirty="0">
                        <a:latin typeface="+mj-ea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985" marR="69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606023"/>
                  </a:ext>
                </a:extLst>
              </a:tr>
            </a:tbl>
          </a:graphicData>
        </a:graphic>
      </p:graphicFrame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4DE3213-222E-69D5-0B4D-5E121BC47F82}"/>
              </a:ext>
            </a:extLst>
          </p:cNvPr>
          <p:cNvSpPr/>
          <p:nvPr/>
        </p:nvSpPr>
        <p:spPr>
          <a:xfrm>
            <a:off x="496956" y="2357286"/>
            <a:ext cx="8607286" cy="14516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ko-KR" altLang="en-US" sz="1400" dirty="0">
              <a:latin typeface="+mj-ea"/>
              <a:ea typeface="+mj-ea"/>
              <a:cs typeface="+mn-lt"/>
            </a:endParaRPr>
          </a:p>
          <a:p>
            <a:pPr algn="ctr"/>
            <a:endParaRPr lang="ko-KR" altLang="en-US" sz="1400" dirty="0">
              <a:latin typeface="+mj-ea"/>
              <a:ea typeface="+mj-ea"/>
              <a:cs typeface="+mn-lt"/>
            </a:endParaRPr>
          </a:p>
          <a:p>
            <a:pPr algn="ctr"/>
            <a:endParaRPr lang="en-US" altLang="ko-KR" sz="1400" dirty="0">
              <a:latin typeface="+mj-ea"/>
              <a:ea typeface="+mj-ea"/>
              <a:cs typeface="+mn-lt"/>
            </a:endParaRPr>
          </a:p>
          <a:p>
            <a:pPr algn="ctr"/>
            <a:r>
              <a:rPr lang="ko-KR" altLang="en-US" sz="1400" dirty="0">
                <a:latin typeface="+mj-ea"/>
                <a:ea typeface="+mj-ea"/>
                <a:cs typeface="+mn-lt"/>
              </a:rPr>
              <a:t>외부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라이브러리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없는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독자적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en-US" sz="1400" dirty="0" err="1">
                <a:latin typeface="+mj-ea"/>
                <a:ea typeface="+mj-ea"/>
                <a:cs typeface="+mn-lt"/>
              </a:rPr>
              <a:t>glTF</a:t>
            </a:r>
            <a:r>
              <a:rPr lang="en-US" sz="1400" dirty="0">
                <a:latin typeface="+mj-ea"/>
                <a:ea typeface="+mj-ea"/>
                <a:cs typeface="+mn-lt"/>
              </a:rPr>
              <a:t> 2.0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파서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개발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및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 err="1">
                <a:latin typeface="+mj-ea"/>
                <a:ea typeface="+mj-ea"/>
                <a:cs typeface="+mn-lt"/>
              </a:rPr>
              <a:t>스키닝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애니메이션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시스템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구현</a:t>
            </a:r>
            <a:endParaRPr lang="ko-KR" sz="1400" dirty="0">
              <a:latin typeface="+mj-ea"/>
              <a:ea typeface="+mj-ea"/>
            </a:endParaRPr>
          </a:p>
          <a:p>
            <a:pPr algn="ctr"/>
            <a:r>
              <a:rPr lang="en-US" sz="1400" dirty="0">
                <a:latin typeface="+mj-ea"/>
                <a:ea typeface="+mj-ea"/>
                <a:cs typeface="+mn-lt"/>
              </a:rPr>
              <a:t>DirectX 12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기반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실시간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en-US" sz="1400" dirty="0">
                <a:latin typeface="+mj-ea"/>
                <a:ea typeface="+mj-ea"/>
                <a:cs typeface="+mn-lt"/>
              </a:rPr>
              <a:t>PBR </a:t>
            </a:r>
            <a:r>
              <a:rPr lang="en-US" sz="1400" dirty="0" err="1">
                <a:latin typeface="+mj-ea"/>
                <a:ea typeface="+mj-ea"/>
                <a:cs typeface="+mn-lt"/>
              </a:rPr>
              <a:t>파이프라인</a:t>
            </a:r>
            <a:r>
              <a:rPr lang="en-US" sz="1400" dirty="0">
                <a:latin typeface="+mj-ea"/>
                <a:ea typeface="+mj-ea"/>
                <a:cs typeface="+mn-lt"/>
              </a:rPr>
              <a:t> </a:t>
            </a:r>
            <a:r>
              <a:rPr lang="en-US" sz="1400" dirty="0" err="1">
                <a:latin typeface="+mj-ea"/>
                <a:ea typeface="+mj-ea"/>
                <a:cs typeface="+mn-lt"/>
              </a:rPr>
              <a:t>구축으로</a:t>
            </a:r>
            <a:r>
              <a:rPr lang="en-US" sz="1400" dirty="0">
                <a:latin typeface="+mj-ea"/>
                <a:ea typeface="+mj-ea"/>
                <a:cs typeface="+mn-lt"/>
              </a:rPr>
              <a:t> </a:t>
            </a:r>
            <a:r>
              <a:rPr lang="en-US" sz="1400" dirty="0" err="1">
                <a:latin typeface="+mj-ea"/>
                <a:ea typeface="+mj-ea"/>
                <a:cs typeface="+mn-lt"/>
              </a:rPr>
              <a:t>시각적</a:t>
            </a:r>
            <a:r>
              <a:rPr lang="en-US" sz="1400" dirty="0">
                <a:latin typeface="+mj-ea"/>
                <a:ea typeface="+mj-ea"/>
                <a:cs typeface="+mn-lt"/>
              </a:rPr>
              <a:t> </a:t>
            </a:r>
            <a:r>
              <a:rPr lang="en-US" sz="1400" dirty="0" err="1">
                <a:latin typeface="+mj-ea"/>
                <a:ea typeface="+mj-ea"/>
                <a:cs typeface="+mn-lt"/>
              </a:rPr>
              <a:t>사실성</a:t>
            </a:r>
            <a:r>
              <a:rPr lang="en-US" sz="1400" dirty="0">
                <a:latin typeface="+mj-ea"/>
                <a:ea typeface="+mj-ea"/>
                <a:cs typeface="+mn-lt"/>
              </a:rPr>
              <a:t> 및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렌더링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성능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확보</a:t>
            </a:r>
            <a:endParaRPr 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latin typeface="+mj-ea"/>
                <a:ea typeface="+mj-ea"/>
                <a:cs typeface="+mn-lt"/>
              </a:rPr>
              <a:t>IOCP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서버와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Jolt Physics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엔진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연동을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통한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en-US" sz="1400" dirty="0">
                <a:latin typeface="+mj-ea"/>
                <a:ea typeface="+mj-ea"/>
                <a:cs typeface="+mn-lt"/>
              </a:rPr>
              <a:t>3D MO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게임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맞춤형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물리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시뮬레이션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환경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완성</a:t>
            </a:r>
            <a:endParaRPr lang="ko-KR" altLang="en-US" sz="1400" dirty="0">
              <a:latin typeface="+mj-ea"/>
              <a:ea typeface="+mj-ea"/>
            </a:endParaRPr>
          </a:p>
          <a:p>
            <a:pPr algn="ctr"/>
            <a:r>
              <a:rPr lang="ko-KR" altLang="en-US" sz="1400" dirty="0">
                <a:latin typeface="+mj-ea"/>
                <a:ea typeface="+mj-ea"/>
                <a:cs typeface="+mn-lt"/>
              </a:rPr>
              <a:t>스냅샷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 err="1">
                <a:latin typeface="+mj-ea"/>
                <a:ea typeface="+mj-ea"/>
                <a:cs typeface="+mn-lt"/>
              </a:rPr>
              <a:t>리와인드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지연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보상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및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물리</a:t>
            </a:r>
            <a:r>
              <a:rPr lang="en-US" sz="1400" dirty="0">
                <a:latin typeface="+mj-ea"/>
                <a:ea typeface="+mj-ea"/>
                <a:cs typeface="+mn-lt"/>
              </a:rPr>
              <a:t> LOD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적용으로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다중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접속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환경의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물리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연산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병목</a:t>
            </a:r>
            <a:r>
              <a:rPr lang="en-US" altLang="ko-KR" sz="1400" dirty="0">
                <a:latin typeface="+mj-ea"/>
                <a:ea typeface="+mj-ea"/>
                <a:cs typeface="+mn-lt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+mn-lt"/>
              </a:rPr>
              <a:t>해소</a:t>
            </a:r>
            <a:endParaRPr lang="ko-KR" altLang="en-US" sz="1400" dirty="0">
              <a:latin typeface="+mj-ea"/>
              <a:ea typeface="+mj-ea"/>
            </a:endParaRPr>
          </a:p>
          <a:p>
            <a:pPr algn="ctr"/>
            <a:endParaRPr lang="en-US" altLang="ko-KR" sz="1400" dirty="0">
              <a:latin typeface="+mj-ea"/>
              <a:ea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9494674-31D8-25D8-70E5-0C204A1FCDF4}"/>
              </a:ext>
            </a:extLst>
          </p:cNvPr>
          <p:cNvSpPr/>
          <p:nvPr/>
        </p:nvSpPr>
        <p:spPr>
          <a:xfrm>
            <a:off x="1650380" y="2308238"/>
            <a:ext cx="6300439" cy="47950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000" dirty="0">
                <a:latin typeface="+mj-ea"/>
                <a:ea typeface="+mj-ea"/>
              </a:rPr>
              <a:t>Introduction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16B4EF9-A5CA-994D-F63D-C440C4A4BA33}"/>
              </a:ext>
            </a:extLst>
          </p:cNvPr>
          <p:cNvSpPr/>
          <p:nvPr/>
        </p:nvSpPr>
        <p:spPr>
          <a:xfrm>
            <a:off x="1532" y="1253"/>
            <a:ext cx="9598137" cy="8855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E5134BEB-C2A4-C238-02CB-0156F72CD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312" y="50812"/>
            <a:ext cx="2274888" cy="761084"/>
          </a:xfrm>
          <a:prstGeom prst="rect">
            <a:avLst/>
          </a:prstGeom>
        </p:spPr>
      </p:pic>
      <p:pic>
        <p:nvPicPr>
          <p:cNvPr id="13" name="그림 12" descr="일반대 채널 링크3.0">
            <a:extLst>
              <a:ext uri="{FF2B5EF4-FFF2-40B4-BE49-F238E27FC236}">
                <a16:creationId xmlns:a16="http://schemas.microsoft.com/office/drawing/2014/main" id="{07C8C932-49C3-8A46-A131-D57EFB70F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79" y="50812"/>
            <a:ext cx="2743200" cy="786384"/>
          </a:xfrm>
          <a:prstGeom prst="rect">
            <a:avLst/>
          </a:prstGeom>
        </p:spPr>
      </p:pic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5B4D2492-FCFF-D1D6-DC41-A15F0A7D7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676246"/>
              </p:ext>
            </p:extLst>
          </p:nvPr>
        </p:nvGraphicFramePr>
        <p:xfrm>
          <a:off x="4737701" y="1818589"/>
          <a:ext cx="4679490" cy="29115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79490">
                  <a:extLst>
                    <a:ext uri="{9D8B030D-6E8A-4147-A177-3AD203B41FA5}">
                      <a16:colId xmlns:a16="http://schemas.microsoft.com/office/drawing/2014/main" val="3957371376"/>
                    </a:ext>
                  </a:extLst>
                </a:gridCol>
              </a:tblGrid>
              <a:tr h="291157">
                <a:tc>
                  <a:txBody>
                    <a:bodyPr/>
                    <a:lstStyle/>
                    <a:p>
                      <a:pPr marL="317500" marR="317500" lvl="0" algn="l">
                        <a:spcBef>
                          <a:spcPts val="200"/>
                        </a:spcBef>
                        <a:buNone/>
                      </a:pPr>
                      <a:r>
                        <a:rPr lang="ko-KR" alt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/>
                        </a:rPr>
                        <a:t>한국공학대학교 박대원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/>
                        </a:rPr>
                        <a:t>, </a:t>
                      </a:r>
                      <a:r>
                        <a:rPr lang="ko-KR" altLang="en-US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/>
                        </a:rPr>
                        <a:t>임찬진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/>
                        </a:rPr>
                        <a:t>, </a:t>
                      </a:r>
                      <a:r>
                        <a:rPr lang="ko-KR" altLang="en-US" sz="1400" b="1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/>
                        </a:rPr>
                        <a:t>박경준</a:t>
                      </a:r>
                      <a:r>
                        <a:rPr lang="en-US" altLang="ko-KR" sz="14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/>
                        </a:rPr>
                        <a:t>, </a:t>
                      </a:r>
                      <a:r>
                        <a:rPr lang="ko-KR" altLang="en-US" sz="1400" b="1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  <a:cs typeface="Times New Roman"/>
                        </a:rPr>
                        <a:t>정내훈</a:t>
                      </a:r>
                      <a:endParaRPr lang="ko-KR" sz="1600" b="1" i="0" dirty="0">
                        <a:latin typeface="+mj-ea"/>
                        <a:ea typeface="+mj-ea"/>
                        <a:cs typeface="Times New Roman"/>
                      </a:endParaRPr>
                    </a:p>
                  </a:txBody>
                  <a:tcPr marL="6985" marR="698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606023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68A4E29-7AF3-BC88-C1EF-C0AD81A76E87}"/>
              </a:ext>
            </a:extLst>
          </p:cNvPr>
          <p:cNvSpPr/>
          <p:nvPr/>
        </p:nvSpPr>
        <p:spPr>
          <a:xfrm>
            <a:off x="474166" y="3987049"/>
            <a:ext cx="4283642" cy="455419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sz="1400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7BEFE9-B95D-01AB-F02B-6F6D10888E10}"/>
              </a:ext>
            </a:extLst>
          </p:cNvPr>
          <p:cNvSpPr txBox="1"/>
          <p:nvPr/>
        </p:nvSpPr>
        <p:spPr>
          <a:xfrm>
            <a:off x="4990155" y="5166486"/>
            <a:ext cx="4082052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 sz="1200">
                <a:ea typeface="+mn-lt"/>
                <a:cs typeface="+mn-lt"/>
              </a:rPr>
              <a:t>Room 인스턴스 단위로 독립적인 물리 공간을 격리하고, 계층적 충돌 필터링을 통해 Broad-phase 단계의 불필요한 충돌 쌍을 </a:t>
            </a:r>
            <a:r>
              <a:rPr lang="ko-KR" altLang="en-US" sz="1200">
                <a:ea typeface="+mn-lt"/>
                <a:cs typeface="+mn-lt"/>
              </a:rPr>
              <a:t>차단.</a:t>
            </a:r>
            <a:endParaRPr lang="ko-KR" sz="1200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sz="1200">
                <a:ea typeface="+mn-lt"/>
                <a:cs typeface="+mn-lt"/>
              </a:rPr>
              <a:t>정적 맵 데이터(StaticCompoundShape)를 단일 생성 후 인스턴싱하여 메모리를 최적화함.</a:t>
            </a:r>
            <a:endParaRPr lang="ko-KR" sz="1200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sz="1200">
                <a:ea typeface="+mn-lt"/>
                <a:cs typeface="+mn-lt"/>
              </a:rPr>
              <a:t>거리 기반 물리 LOD를 적용하여, 원거리 NPC는 RayCast 제어로 전환하고 메인 루프 호출을 제한함.</a:t>
            </a:r>
            <a:endParaRPr lang="ko-KR" sz="1200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sz="1200">
                <a:ea typeface="+mn-lt"/>
                <a:cs typeface="+mn-lt"/>
              </a:rPr>
              <a:t>Transform, CharacterController, NPCController 등을 계층적 컴포넌트 구조로 분리하여 로직 제어 효율성을 높임.</a:t>
            </a:r>
            <a:endParaRPr lang="ko-KR" sz="1200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sz="1200">
                <a:ea typeface="+mn-lt"/>
                <a:cs typeface="+mn-lt"/>
              </a:rPr>
              <a:t>부위별 Hitbox 데이터와 스냅샷 리와인드(Snapshot Rewind)를 결합하여, 공격 패킷 수신 시 과거 위치를 역산해 지연을 보상함.</a:t>
            </a:r>
          </a:p>
          <a:p>
            <a:endParaRPr lang="ko-KR" altLang="en-US" sz="1200">
              <a:ea typeface="맑은 고딕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AAF5853-48A6-1777-0DFE-127754CAE99D}"/>
              </a:ext>
            </a:extLst>
          </p:cNvPr>
          <p:cNvSpPr/>
          <p:nvPr/>
        </p:nvSpPr>
        <p:spPr>
          <a:xfrm>
            <a:off x="4926067" y="8933488"/>
            <a:ext cx="4269030" cy="357887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96F4CE-9201-8A41-0C2B-3AB6B309A67F}"/>
              </a:ext>
            </a:extLst>
          </p:cNvPr>
          <p:cNvSpPr txBox="1"/>
          <p:nvPr/>
        </p:nvSpPr>
        <p:spPr>
          <a:xfrm>
            <a:off x="5054240" y="9331800"/>
            <a:ext cx="4070005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독자적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glTF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파싱으로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메모리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캐시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효율을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극대화하고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좌표계를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보정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.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이진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탐색을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통해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애니메이션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연산을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O(log N)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으로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단축함과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동시에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마스터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스켈레톤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소켓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시스템을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구현하였고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선형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할당기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제작을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통해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렌더링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시의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메모리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단편화를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차단하였으며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,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마스터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OBB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기반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계층적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BVH를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도입해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실시간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충돌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연산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부하를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대폭</a:t>
            </a:r>
            <a:r>
              <a:rPr lang="en-US" altLang="ko-KR" sz="12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감소</a:t>
            </a:r>
            <a:endParaRPr lang="en-US" altLang="ko-KR" sz="1200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pPr marL="285750" indent="-285750">
              <a:buFont typeface="Arial"/>
              <a:buChar char="•"/>
            </a:pPr>
            <a:r>
              <a:rPr lang="en-US" altLang="ko-KR" sz="1200" dirty="0">
                <a:latin typeface="Malgun Gothic"/>
                <a:ea typeface="Malgun Gothic"/>
              </a:rPr>
              <a:t>Cook-Torrance BRDF</a:t>
            </a:r>
            <a:r>
              <a:rPr lang="ko-KR" altLang="en-US" sz="1200" dirty="0">
                <a:latin typeface="Malgun Gothic"/>
                <a:ea typeface="Malgun Gothic"/>
              </a:rPr>
              <a:t>와 향상된 </a:t>
            </a:r>
            <a:r>
              <a:rPr lang="en-US" altLang="ko-KR" sz="1200" dirty="0">
                <a:latin typeface="Malgun Gothic"/>
                <a:ea typeface="Malgun Gothic"/>
              </a:rPr>
              <a:t>IBL </a:t>
            </a:r>
            <a:r>
              <a:rPr lang="ko-KR" altLang="en-US" sz="1200" dirty="0">
                <a:latin typeface="Malgun Gothic"/>
                <a:ea typeface="Malgun Gothic"/>
              </a:rPr>
              <a:t>기법</a:t>
            </a:r>
            <a:r>
              <a:rPr lang="en-US" altLang="ko-KR" sz="1200" dirty="0">
                <a:latin typeface="Malgun Gothic"/>
                <a:ea typeface="Malgun Gothic"/>
              </a:rPr>
              <a:t>(SH </a:t>
            </a:r>
            <a:r>
              <a:rPr lang="ko-KR" altLang="en-US" sz="1200" dirty="0">
                <a:latin typeface="Malgun Gothic"/>
                <a:ea typeface="Malgun Gothic"/>
              </a:rPr>
              <a:t>계수</a:t>
            </a:r>
            <a:r>
              <a:rPr lang="en-US" altLang="ko-KR" sz="1200" dirty="0">
                <a:latin typeface="Malgun Gothic"/>
                <a:ea typeface="Malgun Gothic"/>
              </a:rPr>
              <a:t>, Split-Sum </a:t>
            </a:r>
            <a:r>
              <a:rPr lang="ko-KR" altLang="en-US" sz="1200" dirty="0">
                <a:latin typeface="Malgun Gothic"/>
                <a:ea typeface="Malgun Gothic"/>
              </a:rPr>
              <a:t>근사</a:t>
            </a:r>
            <a:r>
              <a:rPr lang="en-US" altLang="ko-KR" sz="1200" dirty="0">
                <a:latin typeface="Malgun Gothic"/>
                <a:ea typeface="Malgun Gothic"/>
              </a:rPr>
              <a:t>)</a:t>
            </a:r>
            <a:r>
              <a:rPr lang="ko-KR" altLang="en-US" sz="1200" dirty="0">
                <a:latin typeface="Malgun Gothic"/>
                <a:ea typeface="Malgun Gothic"/>
              </a:rPr>
              <a:t>을 적용한 최적화된 </a:t>
            </a:r>
            <a:r>
              <a:rPr lang="en-US" altLang="ko-KR" sz="1200" dirty="0">
                <a:latin typeface="Malgun Gothic"/>
                <a:ea typeface="Malgun Gothic"/>
              </a:rPr>
              <a:t>PBR </a:t>
            </a:r>
            <a:r>
              <a:rPr lang="ko-KR" altLang="en-US" sz="1200" dirty="0">
                <a:latin typeface="Malgun Gothic"/>
                <a:ea typeface="Malgun Gothic"/>
              </a:rPr>
              <a:t>파이프라인을 구축하고 </a:t>
            </a:r>
            <a:r>
              <a:rPr lang="en-US" altLang="ko-KR" sz="1200" dirty="0" err="1">
                <a:latin typeface="Malgun Gothic"/>
                <a:ea typeface="Malgun Gothic"/>
              </a:rPr>
              <a:t>glTF</a:t>
            </a:r>
            <a:r>
              <a:rPr lang="en-US" altLang="ko-KR" sz="1200" dirty="0">
                <a:latin typeface="Malgun Gothic"/>
                <a:ea typeface="Malgun Gothic"/>
              </a:rPr>
              <a:t> 2.0 </a:t>
            </a:r>
            <a:r>
              <a:rPr lang="ko-KR" altLang="en-US" sz="1200" dirty="0" err="1">
                <a:latin typeface="Malgun Gothic"/>
                <a:ea typeface="Malgun Gothic"/>
              </a:rPr>
              <a:t>파서를</a:t>
            </a:r>
            <a:r>
              <a:rPr lang="ko-KR" altLang="en-US" sz="1200" dirty="0">
                <a:latin typeface="Malgun Gothic"/>
                <a:ea typeface="Malgun Gothic"/>
              </a:rPr>
              <a:t> 결합해 연산 부하를 절감함으로써</a:t>
            </a:r>
            <a:r>
              <a:rPr lang="en-US" altLang="ko-KR" sz="1200" dirty="0">
                <a:latin typeface="Malgun Gothic"/>
                <a:ea typeface="Malgun Gothic"/>
              </a:rPr>
              <a:t>, </a:t>
            </a:r>
            <a:r>
              <a:rPr lang="ko-KR" altLang="en-US" sz="1200" dirty="0">
                <a:latin typeface="Malgun Gothic"/>
                <a:ea typeface="Malgun Gothic"/>
              </a:rPr>
              <a:t>상용 엔진 없이도 수준의 시각적 사실성과 실시간 렌더링 성능을 입증</a:t>
            </a:r>
            <a:endParaRPr lang="en-US" altLang="ko-KR" sz="1200" dirty="0">
              <a:latin typeface="Malgun Gothic"/>
              <a:ea typeface="Malgun Gothic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ko-KR" altLang="ko-KR" sz="1200" dirty="0">
                <a:latin typeface="Malgun Gothic"/>
                <a:ea typeface="Malgun Gothic"/>
                <a:cs typeface="+mn-lt"/>
              </a:rPr>
              <a:t>서버 권위적 판정</a:t>
            </a:r>
            <a:r>
              <a:rPr lang="en-US" altLang="ko-KR" sz="1200" dirty="0">
                <a:latin typeface="Malgun Gothic"/>
                <a:ea typeface="Malgun Gothic"/>
                <a:cs typeface="+mn-lt"/>
              </a:rPr>
              <a:t>,</a:t>
            </a:r>
            <a:r>
              <a:rPr lang="ko-KR" altLang="ko-KR" sz="1200" dirty="0">
                <a:latin typeface="Malgun Gothic"/>
                <a:ea typeface="Malgun Gothic"/>
                <a:cs typeface="+mn-lt"/>
              </a:rPr>
              <a:t> 스냅샷 기반 지연 보상시스템을 결합하여, 클라이언트 변조를 원천 차단하고 네트워크 지연 상황에서도 높은 타격 신뢰성을 </a:t>
            </a:r>
            <a:r>
              <a:rPr lang="ko-KR" altLang="en-US" sz="1200" dirty="0">
                <a:latin typeface="Malgun Gothic"/>
                <a:ea typeface="Malgun Gothic"/>
                <a:cs typeface="+mn-lt"/>
              </a:rPr>
              <a:t>보장이 가능하며, 400명 플레이어 + 5만마리 NPC 동시 </a:t>
            </a:r>
            <a:r>
              <a:rPr lang="ko-KR" altLang="en-US" sz="1200" dirty="0" err="1">
                <a:latin typeface="Malgun Gothic"/>
                <a:ea typeface="Malgun Gothic"/>
                <a:cs typeface="+mn-lt"/>
              </a:rPr>
              <a:t>물리시뮬레이션</a:t>
            </a:r>
            <a:r>
              <a:rPr lang="ko-KR" altLang="en-US" sz="1200" dirty="0">
                <a:latin typeface="Malgun Gothic"/>
                <a:ea typeface="Malgun Gothic"/>
                <a:cs typeface="+mn-lt"/>
              </a:rPr>
              <a:t> 가능한 </a:t>
            </a:r>
            <a:r>
              <a:rPr lang="ko-KR" altLang="en-US" sz="1200" dirty="0" err="1">
                <a:latin typeface="Malgun Gothic"/>
                <a:ea typeface="Malgun Gothic"/>
                <a:cs typeface="+mn-lt"/>
              </a:rPr>
              <a:t>아키텍쳐</a:t>
            </a:r>
            <a:r>
              <a:rPr lang="ko-KR" altLang="en-US" sz="1200" dirty="0">
                <a:latin typeface="Malgun Gothic"/>
                <a:ea typeface="Malgun Gothic"/>
                <a:cs typeface="+mn-lt"/>
              </a:rPr>
              <a:t> 구현</a:t>
            </a:r>
            <a:endParaRPr lang="en-US" altLang="ko-KR" sz="1200" dirty="0">
              <a:latin typeface="Malgun Gothic"/>
              <a:ea typeface="Malgun Gothic"/>
              <a:cs typeface="+mn-lt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F11CA18-EDE3-CDA0-4B06-736EF8A82343}"/>
              </a:ext>
            </a:extLst>
          </p:cNvPr>
          <p:cNvSpPr/>
          <p:nvPr/>
        </p:nvSpPr>
        <p:spPr>
          <a:xfrm>
            <a:off x="718949" y="3950908"/>
            <a:ext cx="3717601" cy="53950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sz="1400" b="1" dirty="0" err="1">
                <a:solidFill>
                  <a:srgbClr val="FFFFFF"/>
                </a:solidFill>
                <a:latin typeface="맑은 고딕"/>
                <a:ea typeface="맑은 고딕"/>
              </a:rPr>
              <a:t>glTF</a:t>
            </a:r>
            <a:r>
              <a:rPr lang="ko-KR" sz="1400" b="1" dirty="0">
                <a:solidFill>
                  <a:srgbClr val="FFFFFF"/>
                </a:solidFill>
                <a:latin typeface="맑은 고딕"/>
                <a:ea typeface="맑은 고딕"/>
              </a:rPr>
              <a:t> 2.0 파싱 및 </a:t>
            </a:r>
            <a:r>
              <a:rPr lang="ko-KR" sz="1400" b="1" dirty="0" err="1">
                <a:solidFill>
                  <a:srgbClr val="FFFFFF"/>
                </a:solidFill>
                <a:latin typeface="맑은 고딕"/>
                <a:ea typeface="맑은 고딕"/>
              </a:rPr>
              <a:t>스키닝</a:t>
            </a:r>
            <a:r>
              <a:rPr lang="ko-KR" sz="1400" b="1" dirty="0">
                <a:solidFill>
                  <a:srgbClr val="FFFFFF"/>
                </a:solidFill>
                <a:latin typeface="맑은 고딕"/>
                <a:ea typeface="맑은 고딕"/>
              </a:rPr>
              <a:t> 애니메이션 시스템</a:t>
            </a:r>
            <a:endParaRPr lang="ko-KR" sz="1600" dirty="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36CE09F-A448-5EFC-9B4B-62BE89964DAF}"/>
              </a:ext>
            </a:extLst>
          </p:cNvPr>
          <p:cNvSpPr/>
          <p:nvPr/>
        </p:nvSpPr>
        <p:spPr>
          <a:xfrm>
            <a:off x="4918761" y="3993690"/>
            <a:ext cx="4276336" cy="45235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5FB9063-5E79-5BA9-ECA7-9979FB9D8BAF}"/>
              </a:ext>
            </a:extLst>
          </p:cNvPr>
          <p:cNvSpPr/>
          <p:nvPr/>
        </p:nvSpPr>
        <p:spPr>
          <a:xfrm>
            <a:off x="432782" y="8939835"/>
            <a:ext cx="4283642" cy="358701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altLang="ko-KR" sz="12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>
                <a:ea typeface="맑은 고딕"/>
              </a:rPr>
              <a:t>ORM </a:t>
            </a:r>
            <a:r>
              <a:rPr lang="ko-KR" altLang="en-US" sz="1200">
                <a:ea typeface="맑은 고딕"/>
              </a:rPr>
              <a:t>텍스처를 분리하여 차폐</a:t>
            </a:r>
            <a:r>
              <a:rPr lang="en-US" altLang="ko-KR" sz="1200">
                <a:ea typeface="맑은 고딕"/>
              </a:rPr>
              <a:t>(R), </a:t>
            </a:r>
            <a:r>
              <a:rPr lang="ko-KR" altLang="en-US" sz="1200">
                <a:ea typeface="맑은 고딕"/>
              </a:rPr>
              <a:t>거칠기</a:t>
            </a:r>
            <a:r>
              <a:rPr lang="en-US" altLang="ko-KR" sz="1200">
                <a:ea typeface="맑은 고딕"/>
              </a:rPr>
              <a:t>(G), </a:t>
            </a:r>
            <a:r>
              <a:rPr lang="ko-KR" altLang="en-US" sz="1200">
                <a:ea typeface="맑은 고딕"/>
              </a:rPr>
              <a:t>금속성</a:t>
            </a:r>
            <a:r>
              <a:rPr lang="en-US" altLang="ko-KR" sz="1200">
                <a:ea typeface="맑은 고딕"/>
              </a:rPr>
              <a:t>(B) </a:t>
            </a:r>
            <a:r>
              <a:rPr lang="ko-KR" altLang="en-US" sz="1200">
                <a:ea typeface="맑은 고딕"/>
              </a:rPr>
              <a:t>파라미터로 해석해 메모리 대역폭을 절약</a:t>
            </a:r>
            <a:endParaRPr lang="en-US" altLang="ko-KR" sz="1200">
              <a:ea typeface="맑은 고딕"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altLang="ko-KR" sz="1200" dirty="0">
                <a:ea typeface="맑은 고딕"/>
              </a:rPr>
              <a:t>Cook-Torrance BRDF </a:t>
            </a:r>
            <a:r>
              <a:rPr lang="ko-KR" altLang="en-US" sz="1200" dirty="0">
                <a:ea typeface="맑은 고딕"/>
              </a:rPr>
              <a:t>모델을 적용하여 </a:t>
            </a:r>
            <a:r>
              <a:rPr lang="ko-KR" altLang="en-US" sz="1200" dirty="0" err="1">
                <a:ea typeface="맑은 고딕"/>
              </a:rPr>
              <a:t>직접광</a:t>
            </a:r>
            <a:r>
              <a:rPr lang="ko-KR" altLang="en-US" sz="1200" dirty="0">
                <a:ea typeface="맑은 고딕"/>
              </a:rPr>
              <a:t> 반사를 구현</a:t>
            </a:r>
            <a:endParaRPr lang="en-US" altLang="ko-KR" sz="1200" dirty="0">
              <a:ea typeface="맑은 고딕"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altLang="ko-KR" sz="1200" dirty="0">
                <a:ea typeface="맑은 고딕"/>
              </a:rPr>
              <a:t>Diffuse IBL</a:t>
            </a:r>
            <a:r>
              <a:rPr lang="ko-KR" altLang="en-US" sz="1200" dirty="0">
                <a:ea typeface="맑은 고딕"/>
              </a:rPr>
              <a:t>은 </a:t>
            </a:r>
            <a:r>
              <a:rPr lang="en-US" altLang="ko-KR" sz="1200" dirty="0">
                <a:ea typeface="맑은 고딕"/>
              </a:rPr>
              <a:t>9</a:t>
            </a:r>
            <a:r>
              <a:rPr lang="ko-KR" altLang="en-US" sz="1200" dirty="0">
                <a:ea typeface="맑은 고딕"/>
              </a:rPr>
              <a:t>개의 </a:t>
            </a:r>
            <a:r>
              <a:rPr lang="en-US" altLang="ko-KR" sz="1200" dirty="0">
                <a:ea typeface="맑은 고딕"/>
              </a:rPr>
              <a:t>SH </a:t>
            </a:r>
            <a:r>
              <a:rPr lang="ko-KR" altLang="en-US" sz="1200" dirty="0">
                <a:ea typeface="맑은 고딕"/>
              </a:rPr>
              <a:t>계수를 통해 </a:t>
            </a:r>
            <a:r>
              <a:rPr lang="ko-KR" altLang="en-US" sz="1200" dirty="0" err="1">
                <a:ea typeface="맑은 고딕"/>
              </a:rPr>
              <a:t>연산량을</a:t>
            </a:r>
            <a:r>
              <a:rPr lang="ko-KR" altLang="en-US" sz="1200" dirty="0">
                <a:ea typeface="맑은 고딕"/>
              </a:rPr>
              <a:t> 감축</a:t>
            </a:r>
            <a:endParaRPr lang="en-US" altLang="ko-KR" sz="1200" dirty="0">
              <a:ea typeface="맑은 고딕"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altLang="ko-KR" sz="1200" dirty="0">
                <a:ea typeface="맑은 고딕"/>
              </a:rPr>
              <a:t>Specular IBL</a:t>
            </a:r>
            <a:r>
              <a:rPr lang="ko-KR" altLang="en-US" sz="1200" dirty="0">
                <a:ea typeface="맑은 고딕"/>
              </a:rPr>
              <a:t>은 </a:t>
            </a:r>
            <a:r>
              <a:rPr lang="en-US" altLang="ko-KR" sz="1200" dirty="0">
                <a:ea typeface="맑은 고딕"/>
              </a:rPr>
              <a:t>Split-Sum Approximation</a:t>
            </a:r>
            <a:r>
              <a:rPr lang="ko-KR" altLang="en-US" sz="1200" dirty="0">
                <a:ea typeface="맑은 고딕"/>
              </a:rPr>
              <a:t>을 도입해</a:t>
            </a:r>
            <a:r>
              <a:rPr lang="en-US" altLang="ko-KR" sz="1200" dirty="0">
                <a:ea typeface="맑은 고딕"/>
              </a:rPr>
              <a:t>, </a:t>
            </a:r>
            <a:r>
              <a:rPr lang="ko-KR" altLang="en-US" sz="1200" dirty="0" err="1">
                <a:ea typeface="맑은 고딕"/>
              </a:rPr>
              <a:t>환경맵과</a:t>
            </a:r>
            <a:r>
              <a:rPr lang="ko-KR" altLang="en-US" sz="1200" dirty="0">
                <a:ea typeface="맑은 고딕"/>
              </a:rPr>
              <a:t> </a:t>
            </a:r>
            <a:r>
              <a:rPr lang="en-US" altLang="ko-KR" sz="1200" dirty="0">
                <a:ea typeface="맑은 고딕"/>
              </a:rPr>
              <a:t>BRDF LUT</a:t>
            </a:r>
            <a:r>
              <a:rPr lang="ko-KR" altLang="en-US" sz="1200" dirty="0">
                <a:ea typeface="맑은 고딕"/>
              </a:rPr>
              <a:t>를 조합하여 실시간 렌더링 성능을 확보</a:t>
            </a:r>
            <a:endParaRPr lang="en-US" altLang="ko-KR" sz="1200" dirty="0">
              <a:ea typeface="맑은 고딕"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altLang="ko-KR" sz="1200" dirty="0"/>
              <a:t>Fresnel </a:t>
            </a:r>
            <a:r>
              <a:rPr lang="ko-KR" altLang="en-US" sz="1200" dirty="0"/>
              <a:t>근사식을 적용하여                                                                             금속</a:t>
            </a:r>
            <a:r>
              <a:rPr lang="en-US" altLang="ko-KR" sz="1200" dirty="0"/>
              <a:t>/</a:t>
            </a:r>
            <a:r>
              <a:rPr lang="ko-KR" altLang="en-US" sz="1200" dirty="0"/>
              <a:t>비금속 재질의                                                                    물리적 반사 특성 구현</a:t>
            </a:r>
            <a:endParaRPr lang="en-US" altLang="ko-KR" sz="1200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ea typeface="맑은 고딕"/>
              </a:rPr>
              <a:t>표준 샘플 모델 기반의                                                        시각적 검증을 통해                                                                </a:t>
            </a:r>
            <a:r>
              <a:rPr lang="en-US" altLang="ko-KR" sz="1200" dirty="0">
                <a:ea typeface="맑은 고딕"/>
              </a:rPr>
              <a:t>PBR </a:t>
            </a:r>
            <a:r>
              <a:rPr lang="ko-KR" altLang="en-US" sz="1200" dirty="0">
                <a:ea typeface="맑은 고딕"/>
              </a:rPr>
              <a:t>파이프라인의                                                               렌더링 신뢰성 입증</a:t>
            </a:r>
            <a:endParaRPr lang="en-US" altLang="ko-KR" sz="1200" dirty="0">
              <a:ea typeface="맑은 고딕"/>
            </a:endParaRPr>
          </a:p>
          <a:p>
            <a:pPr fontAlgn="base"/>
            <a:endParaRPr lang="en-US" altLang="ko-KR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70E10B-B697-1E57-629C-D3500030E803}"/>
              </a:ext>
            </a:extLst>
          </p:cNvPr>
          <p:cNvSpPr txBox="1"/>
          <p:nvPr/>
        </p:nvSpPr>
        <p:spPr>
          <a:xfrm>
            <a:off x="551213" y="4497839"/>
            <a:ext cx="405422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ko-KR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외부</a:t>
            </a:r>
            <a:r>
              <a:rPr lang="ko-KR" sz="1200" dirty="0">
                <a:solidFill>
                  <a:srgbClr val="000000"/>
                </a:solidFill>
                <a:ea typeface="맑은 고딕"/>
                <a:cs typeface="+mn-lt"/>
              </a:rPr>
              <a:t> 라이브러리 없이 바이너리를 직접 1차원 배열로 </a:t>
            </a:r>
            <a:r>
              <a:rPr lang="ko-KR" sz="1200" dirty="0" err="1">
                <a:solidFill>
                  <a:srgbClr val="000000"/>
                </a:solidFill>
                <a:ea typeface="맑은 고딕"/>
                <a:cs typeface="+mn-lt"/>
              </a:rPr>
              <a:t>파싱해</a:t>
            </a:r>
            <a:r>
              <a:rPr lang="ko-KR" sz="1200" dirty="0">
                <a:solidFill>
                  <a:srgbClr val="000000"/>
                </a:solidFill>
                <a:ea typeface="맑은 고딕"/>
                <a:cs typeface="+mn-lt"/>
              </a:rPr>
              <a:t> 캐시 효율을 높이고</a:t>
            </a:r>
            <a:r>
              <a:rPr lang="en-US" altLang="ko-KR" sz="1200" dirty="0">
                <a:solidFill>
                  <a:srgbClr val="000000"/>
                </a:solidFill>
                <a:ea typeface="맑은 고딕"/>
                <a:cs typeface="+mn-lt"/>
              </a:rPr>
              <a:t>,</a:t>
            </a:r>
            <a:r>
              <a:rPr lang="ko-KR" sz="1200" dirty="0">
                <a:solidFill>
                  <a:srgbClr val="000000"/>
                </a:solidFill>
                <a:ea typeface="맑은 고딕"/>
                <a:cs typeface="+mn-lt"/>
              </a:rPr>
              <a:t> 스케일 행렬을 곱해 왼손 좌표계 이기종 문제를 </a:t>
            </a:r>
            <a:r>
              <a:rPr lang="ko-KR" altLang="en-US" sz="1200" dirty="0">
                <a:solidFill>
                  <a:srgbClr val="000000"/>
                </a:solidFill>
                <a:ea typeface="맑은 고딕"/>
                <a:cs typeface="+mn-lt"/>
              </a:rPr>
              <a:t>해결</a:t>
            </a:r>
            <a:endParaRPr lang="ko-KR" sz="1200" dirty="0">
              <a:solidFill>
                <a:srgbClr val="000000"/>
              </a:solidFill>
              <a:ea typeface="맑은 고딕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이진</a:t>
            </a:r>
            <a:r>
              <a:rPr lang="ko-KR" altLang="en-US" sz="1200" dirty="0">
                <a:solidFill>
                  <a:srgbClr val="000000"/>
                </a:solidFill>
                <a:ea typeface="맑은 고딕"/>
                <a:cs typeface="+mn-lt"/>
              </a:rPr>
              <a:t> 탐색을 적용해 키프레임 탐색 시간을 단축하고, 마스터 스켈레톤 기반의 소켓 시스템으로 무기 장착을 구현</a:t>
            </a:r>
            <a:endParaRPr lang="ko-KR" sz="1200" dirty="0">
              <a:solidFill>
                <a:srgbClr val="000000"/>
              </a:solidFill>
              <a:latin typeface="Aptos"/>
              <a:ea typeface="맑은 고딕"/>
            </a:endParaRPr>
          </a:p>
          <a:p>
            <a:pPr marL="285750" indent="-285750">
              <a:buFont typeface="Arial,Sans-Serif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선형</a:t>
            </a:r>
            <a:r>
              <a:rPr lang="ko-KR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할당기를 </a:t>
            </a:r>
            <a:r>
              <a:rPr lang="ko-KR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설계하여</a:t>
            </a:r>
            <a:r>
              <a:rPr lang="ko-KR" altLang="en-US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 렌더링 시 발생하는 할당 오버헤드와 </a:t>
            </a:r>
            <a:r>
              <a:rPr lang="ko-KR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단편화를 </a:t>
            </a:r>
            <a:r>
              <a:rPr lang="ko-KR" altLang="en-US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차단</a:t>
            </a:r>
            <a:endParaRPr lang="ko-KR" sz="1200" dirty="0">
              <a:latin typeface="Aptos"/>
              <a:ea typeface="맑은 고딕"/>
            </a:endParaRPr>
          </a:p>
          <a:p>
            <a:pPr marL="285750" indent="-285750">
              <a:buFont typeface="Arial,Sans-Serif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마스터 </a:t>
            </a:r>
            <a:r>
              <a:rPr lang="en-US" altLang="ko-KR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OBB</a:t>
            </a:r>
            <a:r>
              <a:rPr lang="ko-KR" altLang="en-US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 기반의 </a:t>
            </a:r>
            <a:r>
              <a:rPr lang="ko-KR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계층적 BVH 구조를 통해</a:t>
            </a:r>
            <a:r>
              <a:rPr lang="en-US" altLang="ko-KR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,</a:t>
            </a:r>
            <a:r>
              <a:rPr lang="ko-KR" altLang="en-US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 </a:t>
            </a:r>
            <a:r>
              <a:rPr lang="ko-KR" sz="1200" dirty="0" err="1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메쉬와</a:t>
            </a:r>
            <a:r>
              <a:rPr lang="ko-KR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 카메라 간의</a:t>
            </a:r>
            <a:r>
              <a:rPr lang="ko-KR" altLang="en-US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 </a:t>
            </a:r>
            <a:r>
              <a:rPr lang="ko-KR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충돌 </a:t>
            </a:r>
            <a:r>
              <a:rPr lang="ko-KR" altLang="en-US" sz="1200" dirty="0">
                <a:solidFill>
                  <a:srgbClr val="000000"/>
                </a:solidFill>
                <a:latin typeface="Aptos"/>
                <a:ea typeface="맑은 고딕"/>
                <a:cs typeface="+mn-lt"/>
              </a:rPr>
              <a:t>연산 부하를 대폭 감소</a:t>
            </a:r>
            <a:endParaRPr lang="en-US" altLang="ko-KR" sz="1200" dirty="0">
              <a:latin typeface="Aptos"/>
              <a:ea typeface="맑은 고딕"/>
            </a:endParaRPr>
          </a:p>
        </p:txBody>
      </p:sp>
      <p:pic>
        <p:nvPicPr>
          <p:cNvPr id="1027" name="_x357172840">
            <a:extLst>
              <a:ext uri="{FF2B5EF4-FFF2-40B4-BE49-F238E27FC236}">
                <a16:creationId xmlns:a16="http://schemas.microsoft.com/office/drawing/2014/main" id="{FFA51D39-037C-408F-A2CF-F678C6E27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980" y="10844789"/>
            <a:ext cx="1473449" cy="159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그림 37" descr="스크린샷, 하늘, 구름, PC 게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2566D9-99B7-5C23-D9DB-5E6E07DEC4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274" b="-464"/>
          <a:stretch>
            <a:fillRect/>
          </a:stretch>
        </p:blipFill>
        <p:spPr>
          <a:xfrm>
            <a:off x="749937" y="6400800"/>
            <a:ext cx="3722718" cy="193899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DF7EC0EF-E3F5-4869-AC29-0E86752CFC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-2381"/>
          <a:stretch>
            <a:fillRect/>
          </a:stretch>
        </p:blipFill>
        <p:spPr>
          <a:xfrm>
            <a:off x="5853922" y="5831845"/>
            <a:ext cx="2308427" cy="7390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1EE59E2-03AA-7C82-CB92-C07A8B4D7561}"/>
              </a:ext>
            </a:extLst>
          </p:cNvPr>
          <p:cNvSpPr txBox="1"/>
          <p:nvPr/>
        </p:nvSpPr>
        <p:spPr>
          <a:xfrm>
            <a:off x="5014235" y="4488769"/>
            <a:ext cx="3985071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 sz="1200" dirty="0" err="1">
                <a:latin typeface="Malgun Gothic"/>
                <a:ea typeface="Malgun Gothic"/>
                <a:cs typeface="+mn-lt"/>
              </a:rPr>
              <a:t>Room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 인스턴스 단위로 독립적인 물리 공간을 격리하고, 계층적 충돌 필터링을 통해 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Broad-phase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 단계의 불필요한 충돌 쌍을 차단함.</a:t>
            </a:r>
            <a:endParaRPr lang="ko-KR" dirty="0">
              <a:latin typeface="Malgun Gothic"/>
              <a:ea typeface="Malgun Gothic"/>
            </a:endParaRPr>
          </a:p>
          <a:p>
            <a:pPr marL="285750" indent="-285750">
              <a:buFont typeface="Arial"/>
              <a:buChar char="•"/>
            </a:pPr>
            <a:r>
              <a:rPr lang="ko-KR" sz="1200" dirty="0">
                <a:latin typeface="Malgun Gothic"/>
                <a:ea typeface="Malgun Gothic"/>
                <a:cs typeface="+mn-lt"/>
              </a:rPr>
              <a:t>정적 맵 데이터(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StaticCompoundShape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)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를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 단일 생성 후 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인스턴싱하여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 메모리를 최적화함.</a:t>
            </a:r>
            <a:endParaRPr lang="ko-KR" dirty="0">
              <a:latin typeface="Malgun Gothic"/>
              <a:ea typeface="Malgun Gothic"/>
            </a:endParaRPr>
          </a:p>
          <a:p>
            <a:pPr marL="285750" indent="-285750">
              <a:buFont typeface="Arial"/>
              <a:buChar char="•"/>
            </a:pPr>
            <a:r>
              <a:rPr lang="ko-KR" sz="1200" dirty="0">
                <a:latin typeface="Malgun Gothic"/>
                <a:ea typeface="Malgun Gothic"/>
                <a:cs typeface="+mn-lt"/>
              </a:rPr>
              <a:t>거리 기반 물리 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LOD를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 적용하여, 원거리 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NPC는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 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RayCast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 제어로 전환하고 메인 루프 호출을 제한함.</a:t>
            </a:r>
            <a:endParaRPr lang="ko-KR" dirty="0">
              <a:latin typeface="Malgun Gothic"/>
              <a:ea typeface="Malgun Gothic"/>
            </a:endParaRPr>
          </a:p>
          <a:p>
            <a:pPr marL="285750" indent="-285750">
              <a:buFont typeface="Arial"/>
              <a:buChar char="•"/>
            </a:pPr>
            <a:endParaRPr lang="ko-KR" sz="1200" dirty="0">
              <a:latin typeface="Malgun Gothic"/>
              <a:ea typeface="Malgun Gothic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ko-KR" sz="1200" dirty="0">
              <a:latin typeface="Malgun Gothic"/>
              <a:ea typeface="Malgun Gothic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ko-KR" sz="1200" dirty="0">
              <a:latin typeface="Malgun Gothic"/>
              <a:ea typeface="Malgun Gothic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ko-KR" sz="1200" dirty="0">
              <a:latin typeface="Malgun Gothic"/>
              <a:ea typeface="Malgun Gothic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ko-KR" sz="1200" dirty="0">
              <a:latin typeface="Malgun Gothic"/>
              <a:ea typeface="Malgun Gothic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ko-KR" sz="1200" dirty="0">
              <a:latin typeface="Malgun Gothic"/>
              <a:ea typeface="Malgun Gothic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ko-KR" sz="1200" dirty="0">
              <a:latin typeface="Malgun Gothic"/>
              <a:ea typeface="Malgun Gothic"/>
              <a:cs typeface="+mn-lt"/>
            </a:endParaRPr>
          </a:p>
          <a:p>
            <a:endParaRPr lang="ko-KR" altLang="en-US" sz="1200" dirty="0">
              <a:latin typeface="Malgun Gothic"/>
              <a:ea typeface="Malgun Gothic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ko-KR" sz="1200" dirty="0" err="1">
                <a:latin typeface="Malgun Gothic"/>
                <a:ea typeface="Malgun Gothic"/>
                <a:cs typeface="+mn-lt"/>
              </a:rPr>
              <a:t>Transform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, 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CharacterController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, 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NPCController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 등을 계층적 컴포넌트 구조로 분리하여 로직 제어 효율성을 높임.</a:t>
            </a:r>
            <a:endParaRPr lang="ko-KR" dirty="0">
              <a:latin typeface="Malgun Gothic"/>
              <a:ea typeface="Malgun Gothic"/>
            </a:endParaRPr>
          </a:p>
          <a:p>
            <a:pPr marL="285750" indent="-285750">
              <a:buFont typeface="Arial"/>
              <a:buChar char="•"/>
            </a:pPr>
            <a:r>
              <a:rPr lang="ko-KR" sz="1200" dirty="0">
                <a:latin typeface="Malgun Gothic"/>
                <a:ea typeface="Malgun Gothic"/>
                <a:cs typeface="+mn-lt"/>
              </a:rPr>
              <a:t>부위별 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Hitbox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 데이터와 스냅샷 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리와인드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(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Snapshot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 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Rewind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)</a:t>
            </a:r>
            <a:r>
              <a:rPr lang="ko-KR" sz="1200" dirty="0" err="1">
                <a:latin typeface="Malgun Gothic"/>
                <a:ea typeface="Malgun Gothic"/>
                <a:cs typeface="+mn-lt"/>
              </a:rPr>
              <a:t>를</a:t>
            </a:r>
            <a:r>
              <a:rPr lang="ko-KR" sz="1200" dirty="0">
                <a:latin typeface="Malgun Gothic"/>
                <a:ea typeface="Malgun Gothic"/>
                <a:cs typeface="+mn-lt"/>
              </a:rPr>
              <a:t> 결합하여, 공격 패킷 수신 시 과거 위치를 역산해 지연을 보상함.</a:t>
            </a:r>
            <a:endParaRPr lang="ko-KR" dirty="0">
              <a:latin typeface="Malgun Gothic"/>
              <a:ea typeface="Malgun Gothic"/>
            </a:endParaRPr>
          </a:p>
          <a:p>
            <a:pPr algn="l"/>
            <a:endParaRPr lang="ko-KR" altLang="en-US" dirty="0">
              <a:latin typeface="Malgun Gothic"/>
              <a:ea typeface="Malgun Gothic"/>
            </a:endParaRPr>
          </a:p>
        </p:txBody>
      </p:sp>
      <p:pic>
        <p:nvPicPr>
          <p:cNvPr id="1025" name="_x357172264">
            <a:extLst>
              <a:ext uri="{FF2B5EF4-FFF2-40B4-BE49-F238E27FC236}">
                <a16:creationId xmlns:a16="http://schemas.microsoft.com/office/drawing/2014/main" id="{891FADC3-843B-5EBD-7BC5-CBF6CE814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771" y="6513899"/>
            <a:ext cx="2678838" cy="788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A29D83D1-E8E3-517E-9688-2F6CE92A36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192" y="-523899"/>
            <a:ext cx="4445781" cy="1881352"/>
          </a:xfrm>
          <a:prstGeom prst="rect">
            <a:avLst/>
          </a:prstGeom>
        </p:spPr>
      </p:pic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1C56FF3-37D3-E96D-7BA0-D4219B3E0686}"/>
              </a:ext>
            </a:extLst>
          </p:cNvPr>
          <p:cNvSpPr/>
          <p:nvPr/>
        </p:nvSpPr>
        <p:spPr>
          <a:xfrm>
            <a:off x="718949" y="8807634"/>
            <a:ext cx="3717601" cy="53950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ko-KR" altLang="en-US" sz="1400" b="1" dirty="0">
                <a:latin typeface="+mj-ea"/>
              </a:rPr>
              <a:t>실시간 </a:t>
            </a:r>
            <a:r>
              <a:rPr lang="en-US" altLang="ko-KR" sz="1400" b="1" dirty="0">
                <a:latin typeface="+mj-ea"/>
              </a:rPr>
              <a:t>PBR </a:t>
            </a:r>
            <a:r>
              <a:rPr lang="ko-KR" altLang="en-US" sz="1400" b="1" dirty="0">
                <a:latin typeface="+mj-ea"/>
              </a:rPr>
              <a:t>파이프라인 및 </a:t>
            </a:r>
            <a:r>
              <a:rPr lang="en-US" altLang="ko-KR" sz="1400" b="1" dirty="0">
                <a:latin typeface="+mj-ea"/>
              </a:rPr>
              <a:t>IBL </a:t>
            </a:r>
            <a:r>
              <a:rPr lang="ko-KR" altLang="en-US" sz="1400" b="1" dirty="0">
                <a:latin typeface="+mj-ea"/>
              </a:rPr>
              <a:t>통합</a:t>
            </a:r>
            <a:endParaRPr lang="ko-KR" altLang="en-US" sz="1400" dirty="0">
              <a:latin typeface="+mj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110970A-6A9E-153B-28B5-3AF71F2ED361}"/>
              </a:ext>
            </a:extLst>
          </p:cNvPr>
          <p:cNvSpPr/>
          <p:nvPr/>
        </p:nvSpPr>
        <p:spPr>
          <a:xfrm>
            <a:off x="5230441" y="3950908"/>
            <a:ext cx="3717601" cy="53950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1" dirty="0">
                <a:ea typeface="+mn-lt"/>
                <a:cs typeface="+mn-lt"/>
              </a:rPr>
              <a:t>Jolt</a:t>
            </a:r>
            <a:r>
              <a:rPr lang="ko-KR" altLang="ko-KR" sz="1400" b="1" dirty="0">
                <a:ea typeface="+mn-lt"/>
                <a:cs typeface="+mn-lt"/>
              </a:rPr>
              <a:t> </a:t>
            </a:r>
            <a:r>
              <a:rPr lang="ko-KR" altLang="ko-KR" sz="1400" b="1" dirty="0" err="1">
                <a:ea typeface="+mn-lt"/>
                <a:cs typeface="+mn-lt"/>
              </a:rPr>
              <a:t>Physics</a:t>
            </a:r>
            <a:r>
              <a:rPr lang="ko-KR" altLang="ko-KR" sz="1400" b="1" dirty="0">
                <a:ea typeface="+mn-lt"/>
                <a:cs typeface="+mn-lt"/>
              </a:rPr>
              <a:t> 서버 연동</a:t>
            </a:r>
            <a:r>
              <a:rPr lang="ko-KR" altLang="en-US" sz="1400" b="1" dirty="0">
                <a:ea typeface="+mn-lt"/>
                <a:cs typeface="+mn-lt"/>
              </a:rPr>
              <a:t> 및 </a:t>
            </a:r>
            <a:r>
              <a:rPr lang="ko-KR" altLang="ko-KR" sz="1400" b="1" dirty="0">
                <a:ea typeface="+mn-lt"/>
                <a:cs typeface="+mn-lt"/>
              </a:rPr>
              <a:t>물리 엔진 </a:t>
            </a:r>
            <a:r>
              <a:rPr lang="ko-KR" altLang="en-US" sz="1400" b="1" dirty="0">
                <a:ea typeface="+mn-lt"/>
                <a:cs typeface="+mn-lt"/>
              </a:rPr>
              <a:t>최적화</a:t>
            </a:r>
            <a:endParaRPr lang="ko-KR" altLang="en-US" sz="1400" b="1" dirty="0">
              <a:ea typeface="맑은 고딕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7ECFF8D-F998-9E73-3810-E53466405A68}"/>
              </a:ext>
            </a:extLst>
          </p:cNvPr>
          <p:cNvSpPr/>
          <p:nvPr/>
        </p:nvSpPr>
        <p:spPr>
          <a:xfrm>
            <a:off x="5230441" y="8801723"/>
            <a:ext cx="3717601" cy="53950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>
                <a:latin typeface="+mj-ea"/>
              </a:rPr>
              <a:t>Result</a:t>
            </a:r>
            <a:endParaRPr lang="ko-KR" altLang="en-US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80774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77bd7ae-f088-42af-b580-968387a9ac7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232AA40192C4D46A5CDE5C9625220AC" ma:contentTypeVersion="14" ma:contentTypeDescription="새 문서를 만듭니다." ma:contentTypeScope="" ma:versionID="c960c217dafcae775bd24efc31e725c9">
  <xsd:schema xmlns:xsd="http://www.w3.org/2001/XMLSchema" xmlns:xs="http://www.w3.org/2001/XMLSchema" xmlns:p="http://schemas.microsoft.com/office/2006/metadata/properties" xmlns:ns3="477bd7ae-f088-42af-b580-968387a9ac78" targetNamespace="http://schemas.microsoft.com/office/2006/metadata/properties" ma:root="true" ma:fieldsID="7773d4b435b0c594e756198fc19016dd" ns3:_="">
    <xsd:import namespace="477bd7ae-f088-42af-b580-968387a9ac7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bd7ae-f088-42af-b580-968387a9ac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6B84D7-9A8F-4E81-9B09-E915FEFB59F2}">
  <ds:schemaRefs>
    <ds:schemaRef ds:uri="http://purl.org/dc/terms/"/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477bd7ae-f088-42af-b580-968387a9ac78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2DF4A52-97E4-4B1E-8122-50CC755CF5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AB80F8-C289-4FD1-8E5D-431A5BD555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7bd7ae-f088-42af-b580-968387a9ac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</TotalTime>
  <Words>548</Words>
  <Application>Microsoft Office PowerPoint</Application>
  <PresentationFormat>A3 용지(297x420mm)</PresentationFormat>
  <Paragraphs>48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Arial,Sans-Serif</vt:lpstr>
      <vt:lpstr>맑은 고딕</vt:lpstr>
      <vt:lpstr>맑은 고딕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임찬진(2021180035)</dc:creator>
  <cp:lastModifiedBy>임찬진(2021180035)</cp:lastModifiedBy>
  <cp:revision>5</cp:revision>
  <dcterms:created xsi:type="dcterms:W3CDTF">2026-05-24T12:22:13Z</dcterms:created>
  <dcterms:modified xsi:type="dcterms:W3CDTF">2026-05-24T14:30:01Z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0x0101000232AA40192C4D46A5CDE5C9625220AC</vt:lpwstr>
  </property>
</Properties>
</file>