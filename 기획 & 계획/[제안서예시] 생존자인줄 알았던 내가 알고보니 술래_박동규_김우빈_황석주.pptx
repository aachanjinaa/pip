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96" r:id="rId2"/>
    <p:sldId id="289" r:id="rId3"/>
    <p:sldId id="321" r:id="rId4"/>
    <p:sldId id="322" r:id="rId5"/>
    <p:sldId id="323" r:id="rId6"/>
    <p:sldId id="324" r:id="rId7"/>
    <p:sldId id="325" r:id="rId8"/>
    <p:sldId id="326" r:id="rId9"/>
    <p:sldId id="327" r:id="rId10"/>
    <p:sldId id="334" r:id="rId11"/>
    <p:sldId id="328" r:id="rId12"/>
    <p:sldId id="329" r:id="rId13"/>
    <p:sldId id="330" r:id="rId14"/>
    <p:sldId id="331" r:id="rId15"/>
    <p:sldId id="332" r:id="rId16"/>
    <p:sldId id="335" r:id="rId17"/>
    <p:sldId id="336" r:id="rId18"/>
    <p:sldId id="337" r:id="rId19"/>
    <p:sldId id="270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EBF7"/>
    <a:srgbClr val="0070C0"/>
    <a:srgbClr val="404040"/>
    <a:srgbClr val="CFD5EA"/>
    <a:srgbClr val="CC99FF"/>
    <a:srgbClr val="ED7D31"/>
    <a:srgbClr val="FFC000"/>
    <a:srgbClr val="C5E0B4"/>
    <a:srgbClr val="1ECEBC"/>
    <a:srgbClr val="C191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C9EB34-BF5C-4A8A-AF45-C1FBBCC0C0B2}" v="71" dt="2022-12-09T16:48:00.1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338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840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05262D-9A33-490D-AFB5-364B278FF2C3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DE243A-6A2C-40CE-8D32-631E67DFA5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2141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5A1BB-01A0-4E13-AB60-2010C482C94A}" type="datetime1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36F23-2DE0-4C93-9E4D-3BD093BFA6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3395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DC9FE-EE5C-4EE2-A735-5991D188CC45}" type="datetime1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36F23-2DE0-4C93-9E4D-3BD093BFA6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5289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20049-8D63-4421-A943-35CFDFC29001}" type="datetime1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36F23-2DE0-4C93-9E4D-3BD093BFA6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8315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2C417-FA3B-47DB-8CB2-8AF2B1819A1F}" type="datetime1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36F23-2DE0-4C93-9E4D-3BD093BFA6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7050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81AA9-EAC1-4AA1-A928-03B2B66DC095}" type="datetime1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36F23-2DE0-4C93-9E4D-3BD093BFA6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5901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F8867-D19B-4012-B99D-21AE89F20BDE}" type="datetime1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36F23-2DE0-4C93-9E4D-3BD093BFA6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2487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D6B8F-C401-418C-B4AF-5BA2889D52D8}" type="datetime1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36F23-2DE0-4C93-9E4D-3BD093BFA6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6157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D37D1-B9DE-4AE8-A483-453A3E03C152}" type="datetime1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36F23-2DE0-4C93-9E4D-3BD093BFA6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0841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E9D1C-8873-4006-A4C2-C33A2E30CA49}" type="datetime1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36F23-2DE0-4C93-9E4D-3BD093BFA6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9507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6A138-43F2-4459-87AF-C7DC2AFC11E6}" type="datetime1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36F23-2DE0-4C93-9E4D-3BD093BFA6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7952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A87C7-16FD-4042-AA89-3405290F2952}" type="datetime1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36F23-2DE0-4C93-9E4D-3BD093BFA6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037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DD5A3-E935-400C-8A47-51830BB4751B}" type="datetime1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36F23-2DE0-4C93-9E4D-3BD093BFA6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1570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microsoft.com/office/2007/relationships/hdphoto" Target="../media/hdphoto1.wdp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889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22864" y="3961385"/>
            <a:ext cx="354627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altLang="ko-KR" sz="2000" dirty="0">
              <a:solidFill>
                <a:prstClr val="white">
                  <a:lumMod val="85000"/>
                </a:prstClr>
              </a:solidFill>
              <a:cs typeface="Aharoni" panose="02010803020104030203" pitchFamily="2" charset="-79"/>
            </a:endParaRPr>
          </a:p>
          <a:p>
            <a:pPr algn="ctr"/>
            <a:r>
              <a:rPr lang="en-US" altLang="ko-KR" sz="2000" dirty="0">
                <a:solidFill>
                  <a:prstClr val="white">
                    <a:lumMod val="85000"/>
                  </a:prstClr>
                </a:solidFill>
                <a:cs typeface="Aharoni" panose="02010803020104030203" pitchFamily="2" charset="-79"/>
              </a:rPr>
              <a:t>2017182007</a:t>
            </a:r>
            <a:r>
              <a:rPr lang="ko-KR" altLang="en-US" sz="2000" dirty="0">
                <a:solidFill>
                  <a:prstClr val="white">
                    <a:lumMod val="85000"/>
                  </a:prstClr>
                </a:solidFill>
                <a:cs typeface="Aharoni" panose="02010803020104030203" pitchFamily="2" charset="-79"/>
              </a:rPr>
              <a:t> 김우빈</a:t>
            </a:r>
            <a:endParaRPr lang="en-US" altLang="ko-KR" sz="2000" dirty="0">
              <a:solidFill>
                <a:prstClr val="white">
                  <a:lumMod val="85000"/>
                </a:prstClr>
              </a:solidFill>
              <a:cs typeface="Aharoni" panose="02010803020104030203" pitchFamily="2" charset="-79"/>
            </a:endParaRPr>
          </a:p>
          <a:p>
            <a:pPr algn="ctr"/>
            <a:r>
              <a:rPr lang="en-US" altLang="ko-KR" sz="2000" dirty="0">
                <a:solidFill>
                  <a:prstClr val="white">
                    <a:lumMod val="85000"/>
                  </a:prstClr>
                </a:solidFill>
                <a:cs typeface="Aharoni" panose="02010803020104030203" pitchFamily="2" charset="-79"/>
              </a:rPr>
              <a:t>2018182013 </a:t>
            </a:r>
            <a:r>
              <a:rPr lang="ko-KR" altLang="en-US" sz="2000" dirty="0">
                <a:solidFill>
                  <a:prstClr val="white">
                    <a:lumMod val="85000"/>
                  </a:prstClr>
                </a:solidFill>
                <a:cs typeface="Aharoni" panose="02010803020104030203" pitchFamily="2" charset="-79"/>
              </a:rPr>
              <a:t>박동규</a:t>
            </a:r>
            <a:endParaRPr lang="en-US" altLang="ko-KR" sz="2000" dirty="0">
              <a:solidFill>
                <a:prstClr val="white">
                  <a:lumMod val="85000"/>
                </a:prstClr>
              </a:solidFill>
              <a:cs typeface="Aharoni" panose="02010803020104030203" pitchFamily="2" charset="-79"/>
            </a:endParaRPr>
          </a:p>
          <a:p>
            <a:pPr algn="ctr"/>
            <a:r>
              <a:rPr lang="en-US" altLang="ko-KR" sz="2000" dirty="0">
                <a:solidFill>
                  <a:prstClr val="white">
                    <a:lumMod val="85000"/>
                  </a:prstClr>
                </a:solidFill>
                <a:cs typeface="Aharoni" panose="02010803020104030203" pitchFamily="2" charset="-79"/>
              </a:rPr>
              <a:t>2020182044 </a:t>
            </a:r>
            <a:r>
              <a:rPr lang="ko-KR" altLang="en-US" sz="2000" dirty="0" err="1">
                <a:solidFill>
                  <a:prstClr val="white">
                    <a:lumMod val="85000"/>
                  </a:prstClr>
                </a:solidFill>
                <a:cs typeface="Aharoni" panose="02010803020104030203" pitchFamily="2" charset="-79"/>
              </a:rPr>
              <a:t>황석주</a:t>
            </a:r>
            <a:endParaRPr lang="en-US" altLang="ko-KR" sz="2000" dirty="0">
              <a:solidFill>
                <a:prstClr val="white">
                  <a:lumMod val="85000"/>
                </a:prstClr>
              </a:solidFill>
              <a:cs typeface="Aharoni" panose="02010803020104030203" pitchFamily="2" charset="-79"/>
            </a:endParaRPr>
          </a:p>
          <a:p>
            <a:pPr algn="ctr"/>
            <a:endParaRPr lang="en-US" altLang="ko-KR" sz="2000" dirty="0">
              <a:solidFill>
                <a:prstClr val="white">
                  <a:lumMod val="85000"/>
                </a:prstClr>
              </a:solidFill>
              <a:cs typeface="Aharoni" panose="02010803020104030203" pitchFamily="2" charset="-79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0" y="3440636"/>
            <a:ext cx="12192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0" y="1"/>
            <a:ext cx="12192000" cy="3429000"/>
          </a:xfrm>
          <a:prstGeom prst="rect">
            <a:avLst/>
          </a:prstGeom>
          <a:solidFill>
            <a:srgbClr val="616A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200" i="1" dirty="0">
                <a:solidFill>
                  <a:prstClr val="white"/>
                </a:solidFill>
                <a:cs typeface="Aharoni" panose="02010803020104030203" pitchFamily="2" charset="-79"/>
              </a:rPr>
              <a:t>Who’s The Tagger?</a:t>
            </a:r>
            <a:endParaRPr lang="ko-KR" altLang="en-US" sz="7200" dirty="0">
              <a:solidFill>
                <a:prstClr val="white"/>
              </a:solidFill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6425A0F-DF9B-6D25-8C8B-B92C7B872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36F23-2DE0-4C93-9E4D-3BD093BFA6C9}" type="slidenum">
              <a:rPr lang="ko-KR" altLang="en-US" smtClean="0">
                <a:solidFill>
                  <a:schemeClr val="tx1"/>
                </a:solidFill>
              </a:rPr>
              <a:t>1</a:t>
            </a:fld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5593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61982E1-FE81-0B24-C1FB-1AAE6E0D8C7A}"/>
              </a:ext>
            </a:extLst>
          </p:cNvPr>
          <p:cNvSpPr/>
          <p:nvPr/>
        </p:nvSpPr>
        <p:spPr>
          <a:xfrm>
            <a:off x="2654956" y="1790559"/>
            <a:ext cx="45719" cy="49638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96BF4D-C51E-E4F3-13D7-DB7F80C53673}"/>
              </a:ext>
            </a:extLst>
          </p:cNvPr>
          <p:cNvSpPr txBox="1"/>
          <p:nvPr/>
        </p:nvSpPr>
        <p:spPr>
          <a:xfrm>
            <a:off x="2700675" y="1640617"/>
            <a:ext cx="19511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01</a:t>
            </a:r>
          </a:p>
          <a:p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개인별 준비 현황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F067252-611B-083F-7B5F-93D18A7F62BA}"/>
              </a:ext>
            </a:extLst>
          </p:cNvPr>
          <p:cNvSpPr/>
          <p:nvPr/>
        </p:nvSpPr>
        <p:spPr>
          <a:xfrm>
            <a:off x="2654956" y="2835623"/>
            <a:ext cx="45719" cy="49638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295384-67A1-2E34-C09B-70A554D25267}"/>
              </a:ext>
            </a:extLst>
          </p:cNvPr>
          <p:cNvSpPr txBox="1"/>
          <p:nvPr/>
        </p:nvSpPr>
        <p:spPr>
          <a:xfrm>
            <a:off x="2700675" y="2685681"/>
            <a:ext cx="13003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02</a:t>
            </a:r>
          </a:p>
          <a:p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개발 환경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D173132-F829-EF10-3512-2C071969FBC0}"/>
              </a:ext>
            </a:extLst>
          </p:cNvPr>
          <p:cNvSpPr/>
          <p:nvPr/>
        </p:nvSpPr>
        <p:spPr>
          <a:xfrm>
            <a:off x="2654956" y="3880687"/>
            <a:ext cx="45719" cy="49638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9A0B9F-4605-9109-5C39-179C774BC929}"/>
              </a:ext>
            </a:extLst>
          </p:cNvPr>
          <p:cNvSpPr txBox="1"/>
          <p:nvPr/>
        </p:nvSpPr>
        <p:spPr>
          <a:xfrm>
            <a:off x="2700675" y="3730745"/>
            <a:ext cx="13003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03</a:t>
            </a:r>
          </a:p>
          <a:p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연구 목적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D9C49FF-32DF-5DD3-DAAB-C31F2B00F611}"/>
              </a:ext>
            </a:extLst>
          </p:cNvPr>
          <p:cNvSpPr/>
          <p:nvPr/>
        </p:nvSpPr>
        <p:spPr>
          <a:xfrm>
            <a:off x="2654956" y="4922344"/>
            <a:ext cx="45719" cy="49638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ED2D9EA-43A0-62FD-EE5A-C00D7ED789BA}"/>
              </a:ext>
            </a:extLst>
          </p:cNvPr>
          <p:cNvSpPr txBox="1"/>
          <p:nvPr/>
        </p:nvSpPr>
        <p:spPr>
          <a:xfrm>
            <a:off x="2700675" y="4772402"/>
            <a:ext cx="22493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04</a:t>
            </a:r>
          </a:p>
          <a:p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게임 소개 및 방법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0B779B8-DD44-5C5D-2F07-5DBE365C1B1F}"/>
              </a:ext>
            </a:extLst>
          </p:cNvPr>
          <p:cNvSpPr/>
          <p:nvPr/>
        </p:nvSpPr>
        <p:spPr>
          <a:xfrm>
            <a:off x="7048431" y="1790559"/>
            <a:ext cx="45719" cy="49638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F0E7A7-8959-71ED-728C-DDD94C64FDA6}"/>
              </a:ext>
            </a:extLst>
          </p:cNvPr>
          <p:cNvSpPr txBox="1"/>
          <p:nvPr/>
        </p:nvSpPr>
        <p:spPr>
          <a:xfrm>
            <a:off x="7094150" y="1640617"/>
            <a:ext cx="35317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05</a:t>
            </a:r>
          </a:p>
          <a:p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기술적 요소 및 중점연구분야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FF5AA00-9A84-EAE5-D704-45B343ECEE72}"/>
              </a:ext>
            </a:extLst>
          </p:cNvPr>
          <p:cNvSpPr/>
          <p:nvPr/>
        </p:nvSpPr>
        <p:spPr>
          <a:xfrm>
            <a:off x="7048431" y="2840925"/>
            <a:ext cx="45719" cy="49638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8FDA082-5199-236C-37C1-AC4C3D06A7EF}"/>
              </a:ext>
            </a:extLst>
          </p:cNvPr>
          <p:cNvSpPr txBox="1"/>
          <p:nvPr/>
        </p:nvSpPr>
        <p:spPr>
          <a:xfrm>
            <a:off x="7094150" y="2690983"/>
            <a:ext cx="24160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06</a:t>
            </a:r>
          </a:p>
          <a:p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타 게임과의 차별성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F5BB379-54D6-4E6A-F0A7-8DBA948DE634}"/>
              </a:ext>
            </a:extLst>
          </p:cNvPr>
          <p:cNvSpPr/>
          <p:nvPr/>
        </p:nvSpPr>
        <p:spPr>
          <a:xfrm>
            <a:off x="7048431" y="3891291"/>
            <a:ext cx="45719" cy="49638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DD33078-9C95-B0E4-75F4-80EA91BAAF85}"/>
              </a:ext>
            </a:extLst>
          </p:cNvPr>
          <p:cNvSpPr txBox="1"/>
          <p:nvPr/>
        </p:nvSpPr>
        <p:spPr>
          <a:xfrm>
            <a:off x="7094150" y="3741349"/>
            <a:ext cx="22493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07</a:t>
            </a:r>
          </a:p>
          <a:p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역할 분담 및 일정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612CE5E-C3AF-F112-3776-63872800B855}"/>
              </a:ext>
            </a:extLst>
          </p:cNvPr>
          <p:cNvSpPr/>
          <p:nvPr/>
        </p:nvSpPr>
        <p:spPr>
          <a:xfrm>
            <a:off x="7048431" y="4941657"/>
            <a:ext cx="45719" cy="49638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94CF04C-0DA6-56EB-310E-F0B9A1C78FB4}"/>
              </a:ext>
            </a:extLst>
          </p:cNvPr>
          <p:cNvSpPr txBox="1"/>
          <p:nvPr/>
        </p:nvSpPr>
        <p:spPr>
          <a:xfrm>
            <a:off x="7094150" y="4791715"/>
            <a:ext cx="7008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08</a:t>
            </a:r>
          </a:p>
          <a:p>
            <a:r>
              <a:rPr lang="en-US" altLang="ko-KR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QnA</a:t>
            </a:r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9A50DBE-9833-D65B-7348-469C103C00A9}"/>
              </a:ext>
            </a:extLst>
          </p:cNvPr>
          <p:cNvSpPr/>
          <p:nvPr/>
        </p:nvSpPr>
        <p:spPr>
          <a:xfrm>
            <a:off x="0" y="7461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3D2A2B8-7D26-7C7A-5590-53E26C8645DD}"/>
              </a:ext>
            </a:extLst>
          </p:cNvPr>
          <p:cNvSpPr txBox="1"/>
          <p:nvPr/>
        </p:nvSpPr>
        <p:spPr>
          <a:xfrm>
            <a:off x="284047" y="122692"/>
            <a:ext cx="26594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 err="1">
                <a:solidFill>
                  <a:srgbClr val="202020"/>
                </a:solidFill>
                <a:latin typeface="Stencil" panose="040409050D0802020404" pitchFamily="82" charset="0"/>
                <a:ea typeface="나눔스퀘어 Bold" panose="020B0600000101010101" pitchFamily="50" charset="-127"/>
              </a:rPr>
              <a:t>cONTENTS</a:t>
            </a:r>
            <a:endParaRPr lang="ko-KR" altLang="en-US" sz="3600" dirty="0">
              <a:solidFill>
                <a:schemeClr val="tx1">
                  <a:lumMod val="75000"/>
                  <a:lumOff val="25000"/>
                </a:schemeClr>
              </a:solidFill>
              <a:latin typeface="Stencil" panose="040409050D0802020404" pitchFamily="82" charset="0"/>
              <a:ea typeface="나눔스퀘어 Bold" panose="020B0600000101010101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220B23-BC40-8C2D-1D12-076C3D23C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36F23-2DE0-4C93-9E4D-3BD093BFA6C9}" type="slidenum">
              <a:rPr lang="ko-KR" altLang="en-US" smtClean="0">
                <a:solidFill>
                  <a:schemeClr val="tx1"/>
                </a:solidFill>
              </a:rPr>
              <a:t>2</a:t>
            </a:fld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1650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A3D2A2B8-7D26-7C7A-5590-53E26C8645DD}"/>
              </a:ext>
            </a:extLst>
          </p:cNvPr>
          <p:cNvSpPr txBox="1"/>
          <p:nvPr/>
        </p:nvSpPr>
        <p:spPr>
          <a:xfrm>
            <a:off x="329766" y="351392"/>
            <a:ext cx="46572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/>
                <a:ea typeface="나눔스퀘어" panose="020B0600000101010101"/>
              </a:rPr>
              <a:t>01 </a:t>
            </a:r>
            <a:r>
              <a:rPr lang="ko-KR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/>
                <a:ea typeface="나눔스퀘어" panose="020B0600000101010101"/>
              </a:rPr>
              <a:t>개인별 준비 현황</a:t>
            </a:r>
            <a:endParaRPr lang="ko-KR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/>
              <a:ea typeface="나눔스퀘어" panose="020B0600000101010101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0914C1B-77C9-214F-4017-25DE728B1F42}"/>
              </a:ext>
            </a:extLst>
          </p:cNvPr>
          <p:cNvSpPr/>
          <p:nvPr/>
        </p:nvSpPr>
        <p:spPr>
          <a:xfrm>
            <a:off x="284047" y="272634"/>
            <a:ext cx="45719" cy="49638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31223A99-E887-586D-E130-6F15A94347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2049721"/>
              </p:ext>
            </p:extLst>
          </p:nvPr>
        </p:nvGraphicFramePr>
        <p:xfrm>
          <a:off x="144096" y="1711160"/>
          <a:ext cx="11903808" cy="34356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5673">
                  <a:extLst>
                    <a:ext uri="{9D8B030D-6E8A-4147-A177-3AD203B41FA5}">
                      <a16:colId xmlns:a16="http://schemas.microsoft.com/office/drawing/2014/main" val="295815403"/>
                    </a:ext>
                  </a:extLst>
                </a:gridCol>
                <a:gridCol w="3546231">
                  <a:extLst>
                    <a:ext uri="{9D8B030D-6E8A-4147-A177-3AD203B41FA5}">
                      <a16:colId xmlns:a16="http://schemas.microsoft.com/office/drawing/2014/main" val="485466851"/>
                    </a:ext>
                  </a:extLst>
                </a:gridCol>
                <a:gridCol w="5951904">
                  <a:extLst>
                    <a:ext uri="{9D8B030D-6E8A-4147-A177-3AD203B41FA5}">
                      <a16:colId xmlns:a16="http://schemas.microsoft.com/office/drawing/2014/main" val="1443795171"/>
                    </a:ext>
                  </a:extLst>
                </a:gridCol>
              </a:tblGrid>
              <a:tr h="3881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이름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역할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수강과목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210775"/>
                  </a:ext>
                </a:extLst>
              </a:tr>
              <a:tr h="1015838">
                <a:tc>
                  <a:txBody>
                    <a:bodyPr/>
                    <a:lstStyle/>
                    <a:p>
                      <a:pPr algn="ctr" latinLnBrk="1"/>
                      <a:endParaRPr lang="en-US" altLang="ko-KR">
                        <a:ea typeface="나눔스퀘어 Bold" panose="020B0600000101010101"/>
                      </a:endParaRPr>
                    </a:p>
                    <a:p>
                      <a:pPr algn="ctr" latinLnBrk="1"/>
                      <a:r>
                        <a:rPr lang="ko-KR" altLang="en-US">
                          <a:ea typeface="나눔스퀘어 Bold" panose="020B0600000101010101"/>
                        </a:rPr>
                        <a:t>박 동 규</a:t>
                      </a:r>
                      <a:endParaRPr lang="ko-KR" altLang="en-US" dirty="0">
                        <a:ea typeface="나눔스퀘어 Bold" panose="020B0600000101010101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>
                        <a:ea typeface="나눔스퀘어 Bold" panose="020B0600000101010101"/>
                      </a:endParaRPr>
                    </a:p>
                    <a:p>
                      <a:pPr algn="ctr" latinLnBrk="1"/>
                      <a:r>
                        <a:rPr lang="ko-KR" altLang="en-US">
                          <a:solidFill>
                            <a:srgbClr val="0070C0"/>
                          </a:solidFill>
                          <a:ea typeface="나눔스퀘어 Bold" panose="020B0600000101010101"/>
                        </a:rPr>
                        <a:t>클라이언트</a:t>
                      </a:r>
                      <a:endParaRPr lang="ko-KR" altLang="en-US" dirty="0">
                        <a:solidFill>
                          <a:srgbClr val="0070C0"/>
                        </a:solidFill>
                        <a:ea typeface="나눔스퀘어 Bold" panose="020B0600000101010101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/>
                        <a:t>C, C++</a:t>
                      </a:r>
                      <a:r>
                        <a:rPr lang="ko-KR" altLang="en-US"/>
                        <a:t>프로그래밍</a:t>
                      </a:r>
                      <a:r>
                        <a:rPr lang="en-US" altLang="ko-KR"/>
                        <a:t>, STL, </a:t>
                      </a:r>
                      <a:r>
                        <a:rPr lang="ko-KR" altLang="en-US"/>
                        <a:t>컴퓨터 그래픽스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게임수학</a:t>
                      </a:r>
                      <a:endParaRPr lang="en-US" altLang="ko-KR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>
                          <a:highlight>
                            <a:srgbClr val="FFFF00"/>
                          </a:highlight>
                        </a:rPr>
                        <a:t>3D</a:t>
                      </a:r>
                      <a:r>
                        <a:rPr lang="ko-KR" altLang="en-US">
                          <a:highlight>
                            <a:srgbClr val="FFFF00"/>
                          </a:highlight>
                        </a:rPr>
                        <a:t>게임프로그래밍</a:t>
                      </a:r>
                      <a:r>
                        <a:rPr lang="en-US" altLang="ko-KR">
                          <a:highlight>
                            <a:srgbClr val="FFFF00"/>
                          </a:highlight>
                        </a:rPr>
                        <a:t>1, 2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인공지능</a:t>
                      </a:r>
                      <a:endParaRPr lang="en-US" altLang="ko-KR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/>
                        <a:t>네트워크 게임 프로그래밍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4057616"/>
                  </a:ext>
                </a:extLst>
              </a:tr>
              <a:tr h="1015838">
                <a:tc>
                  <a:txBody>
                    <a:bodyPr/>
                    <a:lstStyle/>
                    <a:p>
                      <a:pPr algn="ctr" latinLnBrk="1"/>
                      <a:endParaRPr lang="en-US" altLang="ko-KR">
                        <a:ea typeface="나눔스퀘어 Bold" panose="020B0600000101010101"/>
                      </a:endParaRPr>
                    </a:p>
                    <a:p>
                      <a:pPr algn="ctr" latinLnBrk="1"/>
                      <a:r>
                        <a:rPr lang="ko-KR" altLang="en-US">
                          <a:ea typeface="나눔스퀘어 Bold" panose="020B0600000101010101"/>
                        </a:rPr>
                        <a:t>김 우 빈</a:t>
                      </a:r>
                      <a:endParaRPr lang="ko-KR" altLang="en-US" dirty="0">
                        <a:ea typeface="나눔스퀘어 Bold" panose="020B0600000101010101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>
                        <a:ea typeface="나눔스퀘어 Bold" panose="020B0600000101010101"/>
                      </a:endParaRPr>
                    </a:p>
                    <a:p>
                      <a:pPr algn="ctr" latinLnBrk="1"/>
                      <a:r>
                        <a:rPr lang="ko-KR" altLang="en-US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a typeface="나눔스퀘어 Bold" panose="020B0600000101010101"/>
                        </a:rPr>
                        <a:t>서버</a:t>
                      </a:r>
                      <a:endParaRPr lang="ko-KR" altLang="en-US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a typeface="나눔스퀘어 Bold" panose="020B0600000101010101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/>
                        <a:t>C, C++</a:t>
                      </a:r>
                      <a:r>
                        <a:rPr lang="ko-KR" altLang="en-US"/>
                        <a:t>프로그래밍</a:t>
                      </a:r>
                      <a:r>
                        <a:rPr lang="en-US" altLang="ko-KR"/>
                        <a:t>, STL, </a:t>
                      </a:r>
                      <a:r>
                        <a:rPr lang="ko-KR" altLang="en-US"/>
                        <a:t>컴퓨터 그래픽스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게임수학</a:t>
                      </a:r>
                      <a:endParaRPr lang="en-US" altLang="ko-KR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/>
                        <a:t>3D</a:t>
                      </a:r>
                      <a:r>
                        <a:rPr lang="ko-KR" altLang="en-US"/>
                        <a:t>게임프로그래밍</a:t>
                      </a:r>
                      <a:r>
                        <a:rPr lang="en-US" altLang="ko-KR"/>
                        <a:t>1, </a:t>
                      </a:r>
                      <a:r>
                        <a:rPr lang="ko-KR" altLang="en-US"/>
                        <a:t>인공지능</a:t>
                      </a:r>
                      <a:endParaRPr lang="en-US" altLang="ko-KR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>
                          <a:highlight>
                            <a:srgbClr val="FFFF00"/>
                          </a:highlight>
                        </a:rPr>
                        <a:t>네트워크 게임 프로그래밍</a:t>
                      </a:r>
                      <a:r>
                        <a:rPr lang="en-US" altLang="ko-KR">
                          <a:highlight>
                            <a:srgbClr val="FFFF00"/>
                          </a:highlight>
                          <a:ea typeface="나눔스퀘어 Bold" panose="020B0600000101010101"/>
                        </a:rPr>
                        <a:t>,</a:t>
                      </a:r>
                      <a:r>
                        <a:rPr lang="ko-KR" altLang="en-US">
                          <a:highlight>
                            <a:srgbClr val="FFFF00"/>
                          </a:highlight>
                          <a:ea typeface="나눔스퀘어 Bold" panose="020B0600000101010101"/>
                        </a:rPr>
                        <a:t> 게임서버프로그래밍</a:t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0673623"/>
                  </a:ext>
                </a:extLst>
              </a:tr>
              <a:tr h="1015838">
                <a:tc>
                  <a:txBody>
                    <a:bodyPr/>
                    <a:lstStyle/>
                    <a:p>
                      <a:pPr latinLnBrk="1"/>
                      <a:endParaRPr lang="en-US" altLang="ko-KR">
                        <a:ea typeface="나눔스퀘어 Bold" panose="020B0600000101010101"/>
                      </a:endParaRPr>
                    </a:p>
                    <a:p>
                      <a:pPr algn="ctr" latinLnBrk="1"/>
                      <a:r>
                        <a:rPr lang="ko-KR" altLang="en-US">
                          <a:ea typeface="나눔스퀘어 Bold" panose="020B0600000101010101"/>
                        </a:rPr>
                        <a:t>황 석 주</a:t>
                      </a:r>
                      <a:endParaRPr lang="ko-KR" altLang="en-US" dirty="0">
                        <a:ea typeface="나눔스퀘어 Bold" panose="020B0600000101010101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>
                        <a:ea typeface="나눔스퀘어 Bold" panose="020B0600000101010101"/>
                      </a:endParaRPr>
                    </a:p>
                    <a:p>
                      <a:pPr algn="ctr" latinLnBrk="1"/>
                      <a:r>
                        <a:rPr lang="ko-KR" altLang="en-US">
                          <a:solidFill>
                            <a:srgbClr val="0070C0"/>
                          </a:solidFill>
                          <a:ea typeface="나눔스퀘어 Bold" panose="020B0600000101010101"/>
                        </a:rPr>
                        <a:t>클라이언트</a:t>
                      </a:r>
                      <a:endParaRPr lang="ko-KR" altLang="en-US" dirty="0">
                        <a:solidFill>
                          <a:srgbClr val="0070C0"/>
                        </a:solidFill>
                        <a:ea typeface="나눔스퀘어 Bold" panose="020B0600000101010101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/>
                        <a:t>C, C++</a:t>
                      </a:r>
                      <a:r>
                        <a:rPr lang="ko-KR" altLang="en-US"/>
                        <a:t>프로그래밍</a:t>
                      </a:r>
                      <a:r>
                        <a:rPr lang="en-US" altLang="ko-KR"/>
                        <a:t>, STL, </a:t>
                      </a:r>
                      <a:r>
                        <a:rPr lang="ko-KR" altLang="en-US"/>
                        <a:t>컴퓨터 그래픽스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게임수학</a:t>
                      </a:r>
                      <a:endParaRPr lang="en-US" altLang="ko-KR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>
                          <a:highlight>
                            <a:srgbClr val="FFFF00"/>
                          </a:highlight>
                        </a:rPr>
                        <a:t>3D</a:t>
                      </a:r>
                      <a:r>
                        <a:rPr lang="ko-KR" altLang="en-US">
                          <a:highlight>
                            <a:srgbClr val="FFFF00"/>
                          </a:highlight>
                        </a:rPr>
                        <a:t>게임프로그래밍</a:t>
                      </a:r>
                      <a:r>
                        <a:rPr lang="en-US" altLang="ko-KR">
                          <a:highlight>
                            <a:srgbClr val="FFFF00"/>
                          </a:highlight>
                        </a:rPr>
                        <a:t>1, 2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인공지능</a:t>
                      </a:r>
                      <a:endParaRPr lang="en-US" altLang="ko-KR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/>
                        <a:t>네트워크 게임 프로그래밍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8856675"/>
                  </a:ext>
                </a:extLst>
              </a:tr>
            </a:tbl>
          </a:graphicData>
        </a:graphic>
      </p:graphicFrame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BD0E18A-854A-D711-758B-FB04084E4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36F23-2DE0-4C93-9E4D-3BD093BFA6C9}" type="slidenum">
              <a:rPr lang="ko-KR" altLang="en-US" smtClean="0">
                <a:solidFill>
                  <a:schemeClr val="tx1"/>
                </a:solidFill>
              </a:rPr>
              <a:t>3</a:t>
            </a:fld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6497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A3D2A2B8-7D26-7C7A-5590-53E26C8645DD}"/>
              </a:ext>
            </a:extLst>
          </p:cNvPr>
          <p:cNvSpPr txBox="1"/>
          <p:nvPr/>
        </p:nvSpPr>
        <p:spPr>
          <a:xfrm>
            <a:off x="329766" y="351392"/>
            <a:ext cx="46572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/>
                <a:ea typeface="나눔스퀘어" panose="020B0600000101010101"/>
              </a:rPr>
              <a:t>02 </a:t>
            </a: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/>
                <a:ea typeface="나눔스퀘어" panose="020B0600000101010101"/>
              </a:rPr>
              <a:t>개발 환경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0914C1B-77C9-214F-4017-25DE728B1F42}"/>
              </a:ext>
            </a:extLst>
          </p:cNvPr>
          <p:cNvSpPr/>
          <p:nvPr/>
        </p:nvSpPr>
        <p:spPr>
          <a:xfrm>
            <a:off x="284047" y="272634"/>
            <a:ext cx="45719" cy="49638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1430071-44C8-0AEA-1EF0-CA299FC0AE5C}"/>
              </a:ext>
            </a:extLst>
          </p:cNvPr>
          <p:cNvSpPr/>
          <p:nvPr/>
        </p:nvSpPr>
        <p:spPr>
          <a:xfrm>
            <a:off x="0" y="2174364"/>
            <a:ext cx="6114760" cy="1085449"/>
          </a:xfrm>
          <a:prstGeom prst="rect">
            <a:avLst/>
          </a:prstGeom>
          <a:solidFill>
            <a:schemeClr val="bg1">
              <a:lumMod val="85000"/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D004DE9-267E-5F21-E68C-B34F59EDF5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63324" y1="27007" x2="63324" y2="28175"/>
                        <a14:foregroundMark x1="30907" y1="32701" x2="30769" y2="39124"/>
                        <a14:foregroundMark x1="34890" y1="67445" x2="34890" y2="684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8972" y="2331272"/>
            <a:ext cx="820069" cy="77163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42B20B7-B30E-54B3-5511-36A029837571}"/>
              </a:ext>
            </a:extLst>
          </p:cNvPr>
          <p:cNvSpPr txBox="1"/>
          <p:nvPr/>
        </p:nvSpPr>
        <p:spPr>
          <a:xfrm>
            <a:off x="2090858" y="2393921"/>
            <a:ext cx="28961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Microsoft</a:t>
            </a: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Windows</a:t>
            </a: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10</a:t>
            </a:r>
          </a:p>
          <a:p>
            <a:r>
              <a:rPr lang="en-US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Microsoft Windows 11</a:t>
            </a:r>
            <a:endParaRPr lang="ko-KR" altLang="en-US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F4E6CBF-ED89-5D0C-3B31-1F585A4A8A29}"/>
              </a:ext>
            </a:extLst>
          </p:cNvPr>
          <p:cNvSpPr/>
          <p:nvPr/>
        </p:nvSpPr>
        <p:spPr>
          <a:xfrm>
            <a:off x="6114760" y="2174364"/>
            <a:ext cx="6077240" cy="1085449"/>
          </a:xfrm>
          <a:prstGeom prst="rect">
            <a:avLst/>
          </a:prstGeom>
          <a:solidFill>
            <a:schemeClr val="bg1">
              <a:lumMod val="65000"/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6848B2B-A47D-91B3-05F2-7F063A620D43}"/>
              </a:ext>
            </a:extLst>
          </p:cNvPr>
          <p:cNvSpPr/>
          <p:nvPr/>
        </p:nvSpPr>
        <p:spPr>
          <a:xfrm>
            <a:off x="0" y="3516923"/>
            <a:ext cx="6114760" cy="1085449"/>
          </a:xfrm>
          <a:prstGeom prst="rect">
            <a:avLst/>
          </a:prstGeom>
          <a:solidFill>
            <a:schemeClr val="bg1">
              <a:lumMod val="85000"/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A8E9721-EBDF-44F9-62EE-32C2ABFD4E06}"/>
              </a:ext>
            </a:extLst>
          </p:cNvPr>
          <p:cNvSpPr/>
          <p:nvPr/>
        </p:nvSpPr>
        <p:spPr>
          <a:xfrm>
            <a:off x="6114760" y="3516923"/>
            <a:ext cx="6077240" cy="1085449"/>
          </a:xfrm>
          <a:prstGeom prst="rect">
            <a:avLst/>
          </a:prstGeom>
          <a:solidFill>
            <a:schemeClr val="bg1">
              <a:lumMod val="65000"/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1" name="Picture 2" descr="microsoft visual studio2019 icon에 대한 이미지 검색결과">
            <a:extLst>
              <a:ext uri="{FF2B5EF4-FFF2-40B4-BE49-F238E27FC236}">
                <a16:creationId xmlns:a16="http://schemas.microsoft.com/office/drawing/2014/main" id="{AC64E882-565C-698C-A488-C0309EEA21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047" y="3697995"/>
            <a:ext cx="723304" cy="723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9DD4166-0ECC-09F6-F7FD-6B14F8619CCA}"/>
              </a:ext>
            </a:extLst>
          </p:cNvPr>
          <p:cNvSpPr txBox="1"/>
          <p:nvPr/>
        </p:nvSpPr>
        <p:spPr>
          <a:xfrm>
            <a:off x="2090858" y="3874981"/>
            <a:ext cx="2896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Visual Studio 2022</a:t>
            </a:r>
            <a:endParaRPr lang="ko-KR" altLang="en-US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B80D03B-12C6-8EBF-C606-940F8F5802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44986" y1="33824" x2="44986" y2="33824"/>
                        <a14:foregroundMark x1="50678" y1="36029" x2="50678" y2="36029"/>
                        <a14:foregroundMark x1="50949" y1="52941" x2="50949" y2="52941"/>
                        <a14:foregroundMark x1="55285" y1="47794" x2="55285" y2="47794"/>
                        <a14:foregroundMark x1="65854" y1="48529" x2="65854" y2="48529"/>
                        <a14:foregroundMark x1="72087" y1="54412" x2="72087" y2="54412"/>
                        <a14:foregroundMark x1="82385" y1="47794" x2="82385" y2="4779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54888" y="2331272"/>
            <a:ext cx="2048140" cy="75487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FFB9446-91D8-F3DB-9421-C977BE1D8B32}"/>
              </a:ext>
            </a:extLst>
          </p:cNvPr>
          <p:cNvSpPr txBox="1"/>
          <p:nvPr/>
        </p:nvSpPr>
        <p:spPr>
          <a:xfrm>
            <a:off x="8124809" y="3874981"/>
            <a:ext cx="2896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DirectX 12</a:t>
            </a:r>
            <a:endParaRPr lang="ko-KR" altLang="en-US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pic>
        <p:nvPicPr>
          <p:cNvPr id="21" name="그래픽 20">
            <a:extLst>
              <a:ext uri="{FF2B5EF4-FFF2-40B4-BE49-F238E27FC236}">
                <a16:creationId xmlns:a16="http://schemas.microsoft.com/office/drawing/2014/main" id="{24260225-6F4A-3428-48F2-EDEBB7A8342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54888" y="3543368"/>
            <a:ext cx="2132118" cy="87793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322B2EA-F77A-988B-6CF3-AB528AA69449}"/>
              </a:ext>
            </a:extLst>
          </p:cNvPr>
          <p:cNvSpPr txBox="1"/>
          <p:nvPr/>
        </p:nvSpPr>
        <p:spPr>
          <a:xfrm>
            <a:off x="8205618" y="2524041"/>
            <a:ext cx="2896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Git hub</a:t>
            </a:r>
            <a:endParaRPr lang="ko-KR" altLang="en-US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23C171-480E-1954-102C-AB95DF0E9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36F23-2DE0-4C93-9E4D-3BD093BFA6C9}" type="slidenum">
              <a:rPr lang="ko-KR" altLang="en-US" smtClean="0">
                <a:solidFill>
                  <a:schemeClr val="tx1"/>
                </a:solidFill>
              </a:rPr>
              <a:t>4</a:t>
            </a:fld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3191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9E9923FA-F7BE-0987-B1D2-65A627C38F3A}"/>
              </a:ext>
            </a:extLst>
          </p:cNvPr>
          <p:cNvSpPr/>
          <p:nvPr/>
        </p:nvSpPr>
        <p:spPr>
          <a:xfrm>
            <a:off x="0" y="2142604"/>
            <a:ext cx="12192000" cy="796753"/>
          </a:xfrm>
          <a:prstGeom prst="rect">
            <a:avLst/>
          </a:prstGeom>
          <a:solidFill>
            <a:schemeClr val="bg1">
              <a:lumMod val="65000"/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3D2A2B8-7D26-7C7A-5590-53E26C8645DD}"/>
              </a:ext>
            </a:extLst>
          </p:cNvPr>
          <p:cNvSpPr txBox="1"/>
          <p:nvPr/>
        </p:nvSpPr>
        <p:spPr>
          <a:xfrm>
            <a:off x="329766" y="351392"/>
            <a:ext cx="46572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/>
                <a:ea typeface="나눔스퀘어" panose="020B0600000101010101"/>
              </a:rPr>
              <a:t>03 </a:t>
            </a: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/>
                <a:ea typeface="나눔스퀘어" panose="020B0600000101010101"/>
              </a:rPr>
              <a:t>연구 목적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0914C1B-77C9-214F-4017-25DE728B1F42}"/>
              </a:ext>
            </a:extLst>
          </p:cNvPr>
          <p:cNvSpPr/>
          <p:nvPr/>
        </p:nvSpPr>
        <p:spPr>
          <a:xfrm>
            <a:off x="284047" y="272634"/>
            <a:ext cx="45719" cy="49638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F81B7C-6D8D-7D6C-99FC-721DCB619A8E}"/>
              </a:ext>
            </a:extLst>
          </p:cNvPr>
          <p:cNvSpPr txBox="1"/>
          <p:nvPr/>
        </p:nvSpPr>
        <p:spPr>
          <a:xfrm>
            <a:off x="396414" y="2356314"/>
            <a:ext cx="11399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altLang="ko-KR" b="1" dirty="0">
                <a:solidFill>
                  <a:schemeClr val="tx1">
                    <a:lumMod val="95000"/>
                    <a:lumOff val="5000"/>
                  </a:schemeClr>
                </a:solidFill>
                <a:ea typeface="나눔스퀘어 ExtraBold" panose="020B0600000101010101"/>
              </a:rPr>
              <a:t>6</a:t>
            </a:r>
            <a:r>
              <a:rPr lang="ko-KR" altLang="en-US" b="1" dirty="0">
                <a:solidFill>
                  <a:schemeClr val="tx1">
                    <a:lumMod val="95000"/>
                    <a:lumOff val="5000"/>
                  </a:schemeClr>
                </a:solidFill>
                <a:ea typeface="나눔스퀘어 ExtraBold" panose="020B0600000101010101"/>
              </a:rPr>
              <a:t>개의 방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  <a:ea typeface="나눔스퀘어 ExtraBold" panose="020B0600000101010101"/>
              </a:rPr>
              <a:t>으로 구성된 </a:t>
            </a:r>
            <a:r>
              <a:rPr lang="ko-KR" altLang="en-US" dirty="0" err="1">
                <a:solidFill>
                  <a:schemeClr val="tx1">
                    <a:lumMod val="95000"/>
                    <a:lumOff val="5000"/>
                  </a:schemeClr>
                </a:solidFill>
                <a:ea typeface="나눔스퀘어 ExtraBold" panose="020B0600000101010101"/>
              </a:rPr>
              <a:t>맵에서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  <a:ea typeface="나눔스퀘어 ExtraBold" panose="020B0600000101010101"/>
              </a:rPr>
              <a:t> </a:t>
            </a:r>
            <a:r>
              <a:rPr lang="ko-KR" altLang="en-US" b="1" dirty="0">
                <a:solidFill>
                  <a:schemeClr val="tx1">
                    <a:lumMod val="95000"/>
                    <a:lumOff val="5000"/>
                  </a:schemeClr>
                </a:solidFill>
                <a:ea typeface="나눔스퀘어 ExtraBold" panose="020B0600000101010101"/>
              </a:rPr>
              <a:t>총 </a:t>
            </a:r>
            <a:r>
              <a:rPr lang="en-US" altLang="ko-KR" b="1" dirty="0">
                <a:solidFill>
                  <a:schemeClr val="tx1">
                    <a:lumMod val="95000"/>
                    <a:lumOff val="5000"/>
                  </a:schemeClr>
                </a:solidFill>
                <a:ea typeface="나눔스퀘어 ExtraBold" panose="020B0600000101010101"/>
              </a:rPr>
              <a:t>5</a:t>
            </a:r>
            <a:r>
              <a:rPr lang="ko-KR" altLang="en-US" b="1" dirty="0">
                <a:solidFill>
                  <a:schemeClr val="tx1">
                    <a:lumMod val="95000"/>
                    <a:lumOff val="5000"/>
                  </a:schemeClr>
                </a:solidFill>
                <a:ea typeface="나눔스퀘어 ExtraBold" panose="020B0600000101010101"/>
              </a:rPr>
              <a:t>명의 생존자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  <a:ea typeface="나눔스퀘어 ExtraBold" panose="020B0600000101010101"/>
              </a:rPr>
              <a:t>가 </a:t>
            </a:r>
            <a:r>
              <a:rPr lang="ko-KR" altLang="en-US" b="1" dirty="0">
                <a:solidFill>
                  <a:schemeClr val="tx1">
                    <a:lumMod val="95000"/>
                    <a:lumOff val="5000"/>
                  </a:schemeClr>
                </a:solidFill>
                <a:ea typeface="나눔스퀘어 ExtraBold" panose="020B0600000101010101"/>
              </a:rPr>
              <a:t>술래 </a:t>
            </a:r>
            <a:r>
              <a:rPr lang="en-US" altLang="ko-KR" b="1" dirty="0">
                <a:solidFill>
                  <a:schemeClr val="tx1">
                    <a:lumMod val="95000"/>
                    <a:lumOff val="5000"/>
                  </a:schemeClr>
                </a:solidFill>
                <a:ea typeface="나눔스퀘어 ExtraBold" panose="020B0600000101010101"/>
              </a:rPr>
              <a:t>1</a:t>
            </a:r>
            <a:r>
              <a:rPr lang="ko-KR" altLang="en-US" b="1" dirty="0">
                <a:solidFill>
                  <a:schemeClr val="tx1">
                    <a:lumMod val="95000"/>
                    <a:lumOff val="5000"/>
                  </a:schemeClr>
                </a:solidFill>
                <a:ea typeface="나눔스퀘어 ExtraBold" panose="020B0600000101010101"/>
              </a:rPr>
              <a:t>명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  <a:ea typeface="나눔스퀘어 ExtraBold" panose="020B0600000101010101"/>
              </a:rPr>
              <a:t>을 피해 탈출하는 </a:t>
            </a:r>
            <a:r>
              <a:rPr lang="ko-KR" altLang="en-US" b="1" dirty="0">
                <a:solidFill>
                  <a:schemeClr val="accent6">
                    <a:lumMod val="75000"/>
                  </a:schemeClr>
                </a:solidFill>
                <a:ea typeface="나눔스퀘어 ExtraBold" panose="020B0600000101010101"/>
              </a:rPr>
              <a:t>협동</a:t>
            </a:r>
            <a:r>
              <a:rPr lang="en-US" altLang="ko-KR" b="1" dirty="0">
                <a:solidFill>
                  <a:schemeClr val="accent6">
                    <a:lumMod val="75000"/>
                  </a:schemeClr>
                </a:solidFill>
                <a:ea typeface="나눔스퀘어 ExtraBold" panose="020B0600000101010101"/>
              </a:rPr>
              <a:t>, </a:t>
            </a:r>
            <a:r>
              <a:rPr lang="ko-KR" altLang="en-US" b="1" dirty="0">
                <a:solidFill>
                  <a:schemeClr val="accent6">
                    <a:lumMod val="75000"/>
                  </a:schemeClr>
                </a:solidFill>
                <a:ea typeface="나눔스퀘어 ExtraBold" panose="020B0600000101010101"/>
              </a:rPr>
              <a:t>비대칭 서바이벌 게임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  <a:ea typeface="나눔스퀘어 ExtraBold" panose="020B0600000101010101"/>
              </a:rPr>
              <a:t> 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  <a:ea typeface="나눔스퀘어 ExtraBold" panose="020B0600000101010101"/>
              </a:rPr>
              <a:t>개발</a:t>
            </a:r>
            <a:endParaRPr lang="en-US" altLang="ko-KR" dirty="0">
              <a:latin typeface="나눔스퀘어 ExtraBold" panose="020B0600000101010101" pitchFamily="50" charset="-127"/>
              <a:ea typeface="나눔스퀘어 ExtraBold" panose="020B0600000101010101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2DD5FE9-22FE-5B76-8680-5C95CFAFB38C}"/>
              </a:ext>
            </a:extLst>
          </p:cNvPr>
          <p:cNvSpPr/>
          <p:nvPr/>
        </p:nvSpPr>
        <p:spPr>
          <a:xfrm>
            <a:off x="0" y="2944686"/>
            <a:ext cx="12192000" cy="796753"/>
          </a:xfrm>
          <a:prstGeom prst="rect">
            <a:avLst/>
          </a:prstGeom>
          <a:solidFill>
            <a:schemeClr val="bg1">
              <a:lumMod val="85000"/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280842-AF6D-CCDE-D199-64BC3B22A68A}"/>
              </a:ext>
            </a:extLst>
          </p:cNvPr>
          <p:cNvSpPr txBox="1"/>
          <p:nvPr/>
        </p:nvSpPr>
        <p:spPr>
          <a:xfrm>
            <a:off x="396414" y="3158396"/>
            <a:ext cx="11399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/>
              </a:rPr>
              <a:t>DirectX 12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/>
              </a:rPr>
              <a:t>를 이용한 </a:t>
            </a:r>
            <a:r>
              <a:rPr lang="en-US" altLang="ko-KR" b="1" dirty="0">
                <a:solidFill>
                  <a:schemeClr val="accent6">
                    <a:lumMod val="7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/>
              </a:rPr>
              <a:t>1</a:t>
            </a:r>
            <a:r>
              <a:rPr lang="ko-KR" altLang="en-US" b="1" dirty="0">
                <a:solidFill>
                  <a:schemeClr val="accent6">
                    <a:lumMod val="7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/>
              </a:rPr>
              <a:t>인칭 </a:t>
            </a:r>
            <a:r>
              <a:rPr lang="en-US" altLang="ko-KR" b="1" dirty="0">
                <a:solidFill>
                  <a:schemeClr val="accent6">
                    <a:lumMod val="7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/>
              </a:rPr>
              <a:t>3D</a:t>
            </a:r>
            <a:r>
              <a:rPr lang="ko-KR" altLang="en-US" b="1" dirty="0">
                <a:solidFill>
                  <a:schemeClr val="accent6">
                    <a:lumMod val="7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/>
              </a:rPr>
              <a:t>게임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/>
              </a:rPr>
              <a:t> 개발</a:t>
            </a:r>
            <a:endParaRPr lang="en-US" altLang="ko-KR" dirty="0">
              <a:latin typeface="나눔스퀘어 ExtraBold" panose="020B0600000101010101" pitchFamily="50" charset="-127"/>
              <a:ea typeface="나눔스퀘어 ExtraBold" panose="020B0600000101010101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2AD4756-D92F-6C70-0ADB-122DBAD80474}"/>
              </a:ext>
            </a:extLst>
          </p:cNvPr>
          <p:cNvSpPr/>
          <p:nvPr/>
        </p:nvSpPr>
        <p:spPr>
          <a:xfrm>
            <a:off x="0" y="3741438"/>
            <a:ext cx="12192000" cy="773672"/>
          </a:xfrm>
          <a:prstGeom prst="rect">
            <a:avLst/>
          </a:prstGeom>
          <a:solidFill>
            <a:schemeClr val="bg1">
              <a:lumMod val="65000"/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00C468-FE80-D9B7-4ECE-6F8ACAADC6D8}"/>
              </a:ext>
            </a:extLst>
          </p:cNvPr>
          <p:cNvSpPr txBox="1"/>
          <p:nvPr/>
        </p:nvSpPr>
        <p:spPr>
          <a:xfrm>
            <a:off x="396414" y="3937122"/>
            <a:ext cx="11399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나눔스퀘어 ExtraBold" panose="020B0600000101010101" pitchFamily="50" charset="-127"/>
                <a:ea typeface="나눔스퀘어 ExtraBold" panose="020B0600000101010101"/>
              </a:rPr>
              <a:t>IOCP</a:t>
            </a:r>
            <a:r>
              <a:rPr lang="ko-KR" altLang="en-US" b="1" dirty="0">
                <a:latin typeface="나눔스퀘어 ExtraBold" panose="020B0600000101010101" pitchFamily="50" charset="-127"/>
                <a:ea typeface="나눔스퀘어 ExtraBold" panose="020B0600000101010101"/>
              </a:rPr>
              <a:t>서버</a:t>
            </a: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/>
              </a:rPr>
              <a:t>를 이용한 </a:t>
            </a:r>
            <a:r>
              <a:rPr lang="ko-KR" altLang="en-US" b="1" dirty="0">
                <a:solidFill>
                  <a:schemeClr val="accent6">
                    <a:lumMod val="7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/>
              </a:rPr>
              <a:t>멀티플레이</a:t>
            </a:r>
            <a:endParaRPr lang="en-US" altLang="ko-KR" b="1" dirty="0">
              <a:solidFill>
                <a:schemeClr val="accent6">
                  <a:lumMod val="75000"/>
                </a:schemeClr>
              </a:solidFill>
              <a:latin typeface="나눔스퀘어 ExtraBold" panose="020B0600000101010101" pitchFamily="50" charset="-127"/>
              <a:ea typeface="나눔스퀘어 ExtraBold" panose="020B0600000101010101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E63A594-5006-6733-1C20-7B18EBCDE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36F23-2DE0-4C93-9E4D-3BD093BFA6C9}" type="slidenum">
              <a:rPr lang="ko-KR" altLang="en-US" smtClean="0">
                <a:solidFill>
                  <a:schemeClr val="tx1"/>
                </a:solidFill>
              </a:rPr>
              <a:t>5</a:t>
            </a:fld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7270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A3D2A2B8-7D26-7C7A-5590-53E26C8645DD}"/>
              </a:ext>
            </a:extLst>
          </p:cNvPr>
          <p:cNvSpPr txBox="1"/>
          <p:nvPr/>
        </p:nvSpPr>
        <p:spPr>
          <a:xfrm>
            <a:off x="329766" y="272634"/>
            <a:ext cx="46572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/>
                <a:ea typeface="나눔스퀘어" panose="020B0600000101010101"/>
              </a:rPr>
              <a:t>04 </a:t>
            </a: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게임 소개 </a:t>
            </a:r>
            <a:endParaRPr lang="ko-KR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/>
              <a:ea typeface="나눔스퀘어" panose="020B0600000101010101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0914C1B-77C9-214F-4017-25DE728B1F42}"/>
              </a:ext>
            </a:extLst>
          </p:cNvPr>
          <p:cNvSpPr/>
          <p:nvPr/>
        </p:nvSpPr>
        <p:spPr>
          <a:xfrm>
            <a:off x="284047" y="272634"/>
            <a:ext cx="45719" cy="49638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6967DF-FC2A-4E55-B0ED-5FBFB516B2B5}"/>
              </a:ext>
            </a:extLst>
          </p:cNvPr>
          <p:cNvSpPr txBox="1"/>
          <p:nvPr/>
        </p:nvSpPr>
        <p:spPr>
          <a:xfrm>
            <a:off x="4612551" y="1609385"/>
            <a:ext cx="3029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dirty="0">
                <a:ea typeface="나눔스퀘어 ExtraBold" panose="020B0600000101010101"/>
              </a:rPr>
              <a:t>협동</a:t>
            </a:r>
            <a:r>
              <a:rPr lang="en-US" altLang="ko-KR" sz="1800" b="1" dirty="0">
                <a:ea typeface="나눔스퀘어 ExtraBold" panose="020B0600000101010101"/>
              </a:rPr>
              <a:t>, </a:t>
            </a:r>
            <a:r>
              <a:rPr lang="ko-KR" altLang="en-US" sz="1800" b="1" dirty="0">
                <a:ea typeface="나눔스퀘어 ExtraBold" panose="020B0600000101010101"/>
              </a:rPr>
              <a:t>비대칭 서바이벌 게임</a:t>
            </a:r>
            <a:endParaRPr lang="ko-KR" altLang="en-US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E808B2-8263-78D8-05CC-26C475442BB0}"/>
              </a:ext>
            </a:extLst>
          </p:cNvPr>
          <p:cNvSpPr txBox="1"/>
          <p:nvPr/>
        </p:nvSpPr>
        <p:spPr>
          <a:xfrm>
            <a:off x="4645337" y="1243832"/>
            <a:ext cx="665567" cy="4261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장르 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|</a:t>
            </a:r>
            <a:endParaRPr lang="ko-KR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4110D2-8659-74C8-6C6B-6987AE552330}"/>
              </a:ext>
            </a:extLst>
          </p:cNvPr>
          <p:cNvSpPr txBox="1"/>
          <p:nvPr/>
        </p:nvSpPr>
        <p:spPr>
          <a:xfrm>
            <a:off x="375485" y="611188"/>
            <a:ext cx="46572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/>
                <a:ea typeface="나눔스퀘어" panose="020B0600000101010101"/>
              </a:rPr>
              <a:t>간단 설명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95F649-97CE-8FF4-716A-256D7394B9F5}"/>
              </a:ext>
            </a:extLst>
          </p:cNvPr>
          <p:cNvSpPr txBox="1"/>
          <p:nvPr/>
        </p:nvSpPr>
        <p:spPr>
          <a:xfrm>
            <a:off x="4612551" y="2476254"/>
            <a:ext cx="723187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latin typeface="나눔스퀘어 ExtraBold" panose="020B0600000101010101" pitchFamily="50" charset="-127"/>
                <a:ea typeface="나눔스퀘어 ExtraBold" panose="020B0600000101010101"/>
              </a:rPr>
              <a:t>다양한 공간</a:t>
            </a:r>
            <a:r>
              <a:rPr lang="en-US" altLang="ko-KR" sz="1600" b="1" dirty="0">
                <a:latin typeface="나눔스퀘어 ExtraBold" panose="020B0600000101010101" pitchFamily="50" charset="-127"/>
                <a:ea typeface="나눔스퀘어 ExtraBold" panose="020B0600000101010101"/>
              </a:rPr>
              <a:t>(</a:t>
            </a:r>
            <a:r>
              <a:rPr lang="ko-KR" altLang="en-US" sz="1600" b="1" dirty="0">
                <a:latin typeface="나눔스퀘어 ExtraBold" panose="020B0600000101010101" pitchFamily="50" charset="-127"/>
                <a:ea typeface="나눔스퀘어 ExtraBold" panose="020B0600000101010101"/>
              </a:rPr>
              <a:t>방마다의 컨셉이 다름</a:t>
            </a:r>
            <a:r>
              <a:rPr lang="en-US" altLang="ko-KR" sz="1600" b="1" dirty="0">
                <a:latin typeface="나눔스퀘어 ExtraBold" panose="020B0600000101010101" pitchFamily="50" charset="-127"/>
                <a:ea typeface="나눔스퀘어 ExtraBold" panose="020B0600000101010101"/>
              </a:rPr>
              <a:t>)</a:t>
            </a:r>
            <a:r>
              <a:rPr lang="ko-KR" altLang="en-US" sz="1600" dirty="0">
                <a:latin typeface="나눔스퀘어 ExtraBold" panose="020B0600000101010101" pitchFamily="50" charset="-127"/>
                <a:ea typeface="나눔스퀘어 ExtraBold" panose="020B0600000101010101"/>
              </a:rPr>
              <a:t>에 존재하는 </a:t>
            </a:r>
            <a:r>
              <a:rPr lang="ko-KR" altLang="en-US" sz="1600" b="1" dirty="0">
                <a:latin typeface="나눔스퀘어 ExtraBold" panose="020B0600000101010101" pitchFamily="50" charset="-127"/>
                <a:ea typeface="나눔스퀘어 ExtraBold" panose="020B0600000101010101"/>
              </a:rPr>
              <a:t>오브젝트를 활용</a:t>
            </a:r>
            <a:r>
              <a:rPr lang="ko-KR" altLang="en-US" sz="1600" dirty="0">
                <a:latin typeface="나눔스퀘어 ExtraBold" panose="020B0600000101010101" pitchFamily="50" charset="-127"/>
                <a:ea typeface="나눔스퀘어 ExtraBold" panose="020B0600000101010101"/>
              </a:rPr>
              <a:t>하여 </a:t>
            </a:r>
            <a:endParaRPr lang="en-US" altLang="ko-KR" sz="1600" dirty="0">
              <a:latin typeface="나눔스퀘어 ExtraBold" panose="020B0600000101010101" pitchFamily="50" charset="-127"/>
              <a:ea typeface="나눔스퀘어 ExtraBold" panose="020B0600000101010101"/>
            </a:endParaRPr>
          </a:p>
          <a:p>
            <a:pPr algn="ctr"/>
            <a:r>
              <a:rPr lang="ko-KR" altLang="en-US" sz="1600" b="1" dirty="0">
                <a:latin typeface="나눔스퀘어 ExtraBold" panose="020B0600000101010101" pitchFamily="50" charset="-127"/>
                <a:ea typeface="나눔스퀘어 ExtraBold" panose="020B0600000101010101"/>
              </a:rPr>
              <a:t>도망치거나 잡는다</a:t>
            </a:r>
            <a:r>
              <a:rPr lang="en-US" altLang="ko-KR" sz="1600" dirty="0">
                <a:latin typeface="나눔스퀘어 ExtraBold" panose="020B0600000101010101" pitchFamily="50" charset="-127"/>
                <a:ea typeface="나눔스퀘어 ExtraBold" panose="020B0600000101010101"/>
              </a:rPr>
              <a:t>.</a:t>
            </a:r>
          </a:p>
          <a:p>
            <a:pPr algn="ctr"/>
            <a:endParaRPr lang="en-US" altLang="ko-KR" sz="1600" dirty="0">
              <a:latin typeface="나눔스퀘어 ExtraBold" panose="020B0600000101010101" pitchFamily="50" charset="-127"/>
              <a:ea typeface="나눔스퀘어 ExtraBold" panose="020B0600000101010101"/>
            </a:endParaRPr>
          </a:p>
          <a:p>
            <a:pPr algn="ctr"/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/>
              </a:rPr>
              <a:t>생존자는</a:t>
            </a:r>
            <a:r>
              <a:rPr lang="ko-KR" altLang="en-US" sz="1600" dirty="0">
                <a:latin typeface="나눔스퀘어 ExtraBold" panose="020B0600000101010101" pitchFamily="50" charset="-127"/>
                <a:ea typeface="나눔스퀘어 ExtraBold" panose="020B0600000101010101"/>
              </a:rPr>
              <a:t> </a:t>
            </a:r>
            <a:r>
              <a:rPr lang="ko-KR" altLang="en-US" sz="1600" b="1" dirty="0">
                <a:latin typeface="나눔스퀘어 ExtraBold" panose="020B0600000101010101" pitchFamily="50" charset="-127"/>
                <a:ea typeface="나눔스퀘어 ExtraBold" panose="020B0600000101010101"/>
              </a:rPr>
              <a:t>전력장치를 수리</a:t>
            </a:r>
            <a:r>
              <a:rPr lang="ko-KR" altLang="en-US" sz="1600" dirty="0">
                <a:latin typeface="나눔스퀘어 ExtraBold" panose="020B0600000101010101" pitchFamily="50" charset="-127"/>
                <a:ea typeface="나눔스퀘어 ExtraBold" panose="020B0600000101010101"/>
              </a:rPr>
              <a:t>하여 </a:t>
            </a:r>
            <a:r>
              <a:rPr lang="ko-KR" altLang="en-US" sz="1600" b="1" dirty="0">
                <a:latin typeface="나눔스퀘어 ExtraBold" panose="020B0600000101010101" pitchFamily="50" charset="-127"/>
                <a:ea typeface="나눔스퀘어 ExtraBold" panose="020B0600000101010101"/>
              </a:rPr>
              <a:t>탈출장치를 활성화</a:t>
            </a:r>
            <a:r>
              <a:rPr lang="ko-KR" altLang="en-US" sz="1600" dirty="0">
                <a:latin typeface="나눔스퀘어 ExtraBold" panose="020B0600000101010101" pitchFamily="50" charset="-127"/>
                <a:ea typeface="나눔스퀘어 ExtraBold" panose="020B0600000101010101"/>
              </a:rPr>
              <a:t>한다</a:t>
            </a:r>
            <a:r>
              <a:rPr lang="en-US" altLang="ko-KR" sz="1600" dirty="0">
                <a:latin typeface="나눔스퀘어 ExtraBold" panose="020B0600000101010101" pitchFamily="50" charset="-127"/>
                <a:ea typeface="나눔스퀘어 ExtraBold" panose="020B0600000101010101"/>
              </a:rPr>
              <a:t>.</a:t>
            </a:r>
          </a:p>
          <a:p>
            <a:pPr algn="ctr"/>
            <a:endParaRPr lang="en-US" altLang="ko-KR" sz="1600" dirty="0">
              <a:latin typeface="나눔스퀘어 ExtraBold" panose="020B0600000101010101" pitchFamily="50" charset="-127"/>
              <a:ea typeface="나눔스퀘어 ExtraBold" panose="020B0600000101010101"/>
            </a:endParaRPr>
          </a:p>
          <a:p>
            <a:pPr algn="ctr"/>
            <a:r>
              <a:rPr lang="ko-KR" altLang="en-US" sz="1600" b="1" dirty="0">
                <a:solidFill>
                  <a:srgbClr val="C00000"/>
                </a:solidFill>
                <a:latin typeface="나눔스퀘어 ExtraBold" panose="020B0600000101010101" pitchFamily="50" charset="-127"/>
                <a:ea typeface="나눔스퀘어 ExtraBold" panose="020B0600000101010101"/>
              </a:rPr>
              <a:t>술래</a:t>
            </a:r>
            <a:r>
              <a:rPr lang="ko-KR" altLang="en-US" sz="1600" dirty="0">
                <a:latin typeface="나눔스퀘어 ExtraBold" panose="020B0600000101010101" pitchFamily="50" charset="-127"/>
                <a:ea typeface="나눔스퀘어 ExtraBold" panose="020B0600000101010101"/>
              </a:rPr>
              <a:t>는 </a:t>
            </a: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/>
              </a:rPr>
              <a:t>생존자가</a:t>
            </a:r>
            <a:r>
              <a:rPr lang="ko-KR" altLang="en-US" sz="1600" dirty="0">
                <a:latin typeface="나눔스퀘어 ExtraBold" panose="020B0600000101010101" pitchFamily="50" charset="-127"/>
                <a:ea typeface="나눔스퀘어 ExtraBold" panose="020B0600000101010101"/>
              </a:rPr>
              <a:t> </a:t>
            </a:r>
            <a:r>
              <a:rPr lang="ko-KR" altLang="en-US" sz="1600" b="1" dirty="0">
                <a:latin typeface="나눔스퀘어 ExtraBold" panose="020B0600000101010101" pitchFamily="50" charset="-127"/>
                <a:ea typeface="나눔스퀘어 ExtraBold" panose="020B0600000101010101"/>
              </a:rPr>
              <a:t>전력장치를 수리하지 못하게 방해</a:t>
            </a:r>
            <a:r>
              <a:rPr lang="ko-KR" altLang="en-US" sz="1600" dirty="0">
                <a:latin typeface="나눔스퀘어 ExtraBold" panose="020B0600000101010101" pitchFamily="50" charset="-127"/>
                <a:ea typeface="나눔스퀘어 ExtraBold" panose="020B0600000101010101"/>
              </a:rPr>
              <a:t>하여 </a:t>
            </a:r>
            <a:r>
              <a:rPr lang="ko-KR" altLang="en-US" sz="1600" b="1" dirty="0">
                <a:latin typeface="나눔스퀘어 ExtraBold" panose="020B0600000101010101" pitchFamily="50" charset="-127"/>
                <a:ea typeface="나눔스퀘어 ExtraBold" panose="020B0600000101010101"/>
              </a:rPr>
              <a:t>탈출을 저지</a:t>
            </a:r>
            <a:r>
              <a:rPr lang="ko-KR" altLang="en-US" sz="1600" dirty="0">
                <a:latin typeface="나눔스퀘어 ExtraBold" panose="020B0600000101010101" pitchFamily="50" charset="-127"/>
                <a:ea typeface="나눔스퀘어 ExtraBold" panose="020B0600000101010101"/>
              </a:rPr>
              <a:t>한다</a:t>
            </a:r>
            <a:r>
              <a:rPr lang="en-US" altLang="ko-KR" sz="1600" dirty="0">
                <a:latin typeface="나눔스퀘어 ExtraBold" panose="020B0600000101010101" pitchFamily="50" charset="-127"/>
                <a:ea typeface="나눔스퀘어 ExtraBold" panose="020B0600000101010101"/>
              </a:rPr>
              <a:t>.</a:t>
            </a:r>
          </a:p>
          <a:p>
            <a:pPr algn="ctr"/>
            <a:endParaRPr lang="en-US" altLang="ko-KR" sz="1600" dirty="0">
              <a:latin typeface="나눔스퀘어 ExtraBold" panose="020B0600000101010101" pitchFamily="50" charset="-127"/>
              <a:ea typeface="나눔스퀘어 ExtraBold" panose="020B0600000101010101"/>
            </a:endParaRPr>
          </a:p>
          <a:p>
            <a:pPr algn="ctr"/>
            <a:r>
              <a:rPr lang="ko-KR" altLang="en-US" sz="1600" b="1" dirty="0">
                <a:latin typeface="나눔스퀘어 ExtraBold" panose="020B0600000101010101" pitchFamily="50" charset="-127"/>
                <a:ea typeface="나눔스퀘어 ExtraBold" panose="020B0600000101010101"/>
              </a:rPr>
              <a:t>게임내에서의 </a:t>
            </a:r>
            <a:r>
              <a:rPr lang="en-US" altLang="ko-KR" sz="1600" b="1" dirty="0">
                <a:latin typeface="나눔스퀘어 ExtraBold" panose="020B0600000101010101" pitchFamily="50" charset="-127"/>
                <a:ea typeface="나눔스퀘어 ExtraBold" panose="020B0600000101010101"/>
              </a:rPr>
              <a:t>1</a:t>
            </a:r>
            <a:r>
              <a:rPr lang="ko-KR" altLang="en-US" sz="1600" b="1" dirty="0">
                <a:latin typeface="나눔스퀘어 ExtraBold" panose="020B0600000101010101" pitchFamily="50" charset="-127"/>
                <a:ea typeface="나눔스퀘어 ExtraBold" panose="020B0600000101010101"/>
              </a:rPr>
              <a:t>시간</a:t>
            </a:r>
            <a:r>
              <a:rPr lang="ko-KR" altLang="en-US" sz="1600" dirty="0">
                <a:latin typeface="나눔스퀘어 ExtraBold" panose="020B0600000101010101" pitchFamily="50" charset="-127"/>
                <a:ea typeface="나눔스퀘어 ExtraBold" panose="020B0600000101010101"/>
              </a:rPr>
              <a:t>은 </a:t>
            </a:r>
            <a:r>
              <a:rPr lang="ko-KR" altLang="en-US" sz="1600" b="1" dirty="0">
                <a:latin typeface="나눔스퀘어 ExtraBold" panose="020B0600000101010101" pitchFamily="50" charset="-127"/>
                <a:ea typeface="나눔스퀘어 ExtraBold" panose="020B0600000101010101"/>
              </a:rPr>
              <a:t>현실에서의 </a:t>
            </a:r>
            <a:r>
              <a:rPr lang="en-US" altLang="ko-KR" sz="1600" b="1" dirty="0">
                <a:latin typeface="나눔스퀘어 ExtraBold" panose="020B0600000101010101" pitchFamily="50" charset="-127"/>
                <a:ea typeface="나눔스퀘어 ExtraBold" panose="020B0600000101010101"/>
              </a:rPr>
              <a:t>1</a:t>
            </a:r>
            <a:r>
              <a:rPr lang="ko-KR" altLang="en-US" sz="1600" b="1" dirty="0">
                <a:latin typeface="나눔스퀘어 ExtraBold" panose="020B0600000101010101" pitchFamily="50" charset="-127"/>
                <a:ea typeface="나눔스퀘어 ExtraBold" panose="020B0600000101010101"/>
              </a:rPr>
              <a:t>분</a:t>
            </a:r>
            <a:r>
              <a:rPr lang="ko-KR" altLang="en-US" sz="1600" dirty="0">
                <a:latin typeface="나눔스퀘어 ExtraBold" panose="020B0600000101010101" pitchFamily="50" charset="-127"/>
                <a:ea typeface="나눔스퀘어 ExtraBold" panose="020B0600000101010101"/>
              </a:rPr>
              <a:t>이며 </a:t>
            </a:r>
            <a:r>
              <a:rPr lang="ko-KR" altLang="en-US" sz="1600" b="1" dirty="0">
                <a:latin typeface="나눔스퀘어 ExtraBold" panose="020B0600000101010101" pitchFamily="50" charset="-127"/>
                <a:ea typeface="나눔스퀘어 ExtraBold" panose="020B0600000101010101"/>
              </a:rPr>
              <a:t>오후 </a:t>
            </a:r>
            <a:r>
              <a:rPr lang="en-US" altLang="ko-KR" sz="1600" b="1" dirty="0">
                <a:latin typeface="나눔스퀘어 ExtraBold" panose="020B0600000101010101" pitchFamily="50" charset="-127"/>
                <a:ea typeface="나눔스퀘어 ExtraBold" panose="020B0600000101010101"/>
              </a:rPr>
              <a:t>7</a:t>
            </a:r>
            <a:r>
              <a:rPr lang="ko-KR" altLang="en-US" sz="1600" b="1" dirty="0">
                <a:latin typeface="나눔스퀘어 ExtraBold" panose="020B0600000101010101" pitchFamily="50" charset="-127"/>
                <a:ea typeface="나눔스퀘어 ExtraBold" panose="020B0600000101010101"/>
              </a:rPr>
              <a:t>시경 게임이 시작</a:t>
            </a:r>
            <a:r>
              <a:rPr lang="ko-KR" altLang="en-US" sz="1600" dirty="0">
                <a:latin typeface="나눔스퀘어 ExtraBold" panose="020B0600000101010101" pitchFamily="50" charset="-127"/>
                <a:ea typeface="나눔스퀘어 ExtraBold" panose="020B0600000101010101"/>
              </a:rPr>
              <a:t>되며 </a:t>
            </a:r>
            <a:endParaRPr lang="en-US" altLang="ko-KR" sz="1600" dirty="0">
              <a:latin typeface="나눔스퀘어 ExtraBold" panose="020B0600000101010101" pitchFamily="50" charset="-127"/>
              <a:ea typeface="나눔스퀘어 ExtraBold" panose="020B0600000101010101"/>
            </a:endParaRPr>
          </a:p>
          <a:p>
            <a:pPr algn="ctr"/>
            <a:r>
              <a:rPr lang="ko-KR" altLang="en-US" sz="1600" b="1" dirty="0">
                <a:latin typeface="나눔스퀘어 ExtraBold" panose="020B0600000101010101" pitchFamily="50" charset="-127"/>
                <a:ea typeface="나눔스퀘어 ExtraBold" panose="020B0600000101010101"/>
              </a:rPr>
              <a:t>오후 </a:t>
            </a:r>
            <a:r>
              <a:rPr lang="en-US" altLang="ko-KR" sz="1600" b="1" dirty="0">
                <a:latin typeface="나눔스퀘어 ExtraBold" panose="020B0600000101010101" pitchFamily="50" charset="-127"/>
                <a:ea typeface="나눔스퀘어 ExtraBold" panose="020B0600000101010101"/>
              </a:rPr>
              <a:t>8</a:t>
            </a:r>
            <a:r>
              <a:rPr lang="ko-KR" altLang="en-US" sz="1600" b="1" dirty="0">
                <a:latin typeface="나눔스퀘어 ExtraBold" panose="020B0600000101010101" pitchFamily="50" charset="-127"/>
                <a:ea typeface="나눔스퀘어 ExtraBold" panose="020B0600000101010101"/>
              </a:rPr>
              <a:t>시에 술래가 결정</a:t>
            </a:r>
            <a:r>
              <a:rPr lang="ko-KR" altLang="en-US" sz="1600" dirty="0">
                <a:latin typeface="나눔스퀘어 ExtraBold" panose="020B0600000101010101" pitchFamily="50" charset="-127"/>
                <a:ea typeface="나눔스퀘어 ExtraBold" panose="020B0600000101010101"/>
              </a:rPr>
              <a:t>된다</a:t>
            </a:r>
            <a:r>
              <a:rPr lang="en-US" altLang="ko-KR" sz="1600" dirty="0">
                <a:latin typeface="나눔스퀘어 ExtraBold" panose="020B0600000101010101" pitchFamily="50" charset="-127"/>
                <a:ea typeface="나눔스퀘어 ExtraBold" panose="020B0600000101010101"/>
              </a:rPr>
              <a:t>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155A650-9A55-3BC4-2A57-F982FC8C70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047" y="1978717"/>
            <a:ext cx="4328504" cy="2805861"/>
          </a:xfrm>
          <a:prstGeom prst="rect">
            <a:avLst/>
          </a:prstGeom>
          <a:noFill/>
          <a:effectLst>
            <a:softEdge rad="190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EE37F94-D0DD-FA03-0F99-FD7DC527B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36F23-2DE0-4C93-9E4D-3BD093BFA6C9}" type="slidenum">
              <a:rPr lang="ko-KR" altLang="en-US" smtClean="0">
                <a:solidFill>
                  <a:schemeClr val="tx1"/>
                </a:solidFill>
              </a:rPr>
              <a:t>6</a:t>
            </a:fld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2395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A3D2A2B8-7D26-7C7A-5590-53E26C8645DD}"/>
              </a:ext>
            </a:extLst>
          </p:cNvPr>
          <p:cNvSpPr txBox="1"/>
          <p:nvPr/>
        </p:nvSpPr>
        <p:spPr>
          <a:xfrm>
            <a:off x="329766" y="272634"/>
            <a:ext cx="46572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/>
                <a:ea typeface="나눔스퀘어" panose="020B0600000101010101"/>
              </a:rPr>
              <a:t>04 </a:t>
            </a: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게임 소개 </a:t>
            </a:r>
            <a:endParaRPr lang="ko-KR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/>
              <a:ea typeface="나눔스퀘어" panose="020B0600000101010101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0914C1B-77C9-214F-4017-25DE728B1F42}"/>
              </a:ext>
            </a:extLst>
          </p:cNvPr>
          <p:cNvSpPr/>
          <p:nvPr/>
        </p:nvSpPr>
        <p:spPr>
          <a:xfrm>
            <a:off x="284047" y="272634"/>
            <a:ext cx="45719" cy="49638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6967DF-FC2A-4E55-B0ED-5FBFB516B2B5}"/>
              </a:ext>
            </a:extLst>
          </p:cNvPr>
          <p:cNvSpPr txBox="1"/>
          <p:nvPr/>
        </p:nvSpPr>
        <p:spPr>
          <a:xfrm>
            <a:off x="4191921" y="1822751"/>
            <a:ext cx="21034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accent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/>
              </a:rPr>
              <a:t>1</a:t>
            </a:r>
            <a:r>
              <a:rPr lang="ko-KR" altLang="en-US" b="1" dirty="0">
                <a:solidFill>
                  <a:schemeClr val="accent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/>
              </a:rPr>
              <a:t>판당 약 </a:t>
            </a:r>
            <a:r>
              <a:rPr lang="en-US" altLang="ko-KR" b="1" dirty="0">
                <a:solidFill>
                  <a:schemeClr val="accent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/>
              </a:rPr>
              <a:t>15~25</a:t>
            </a:r>
            <a:r>
              <a:rPr lang="ko-KR" altLang="en-US" b="1" dirty="0">
                <a:solidFill>
                  <a:schemeClr val="accent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/>
              </a:rPr>
              <a:t>분</a:t>
            </a:r>
            <a:endParaRPr lang="ko-KR" altLang="en-US" b="1" dirty="0">
              <a:solidFill>
                <a:schemeClr val="accent1">
                  <a:lumMod val="50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4110D2-8659-74C8-6C6B-6987AE552330}"/>
              </a:ext>
            </a:extLst>
          </p:cNvPr>
          <p:cNvSpPr txBox="1"/>
          <p:nvPr/>
        </p:nvSpPr>
        <p:spPr>
          <a:xfrm>
            <a:off x="375485" y="611188"/>
            <a:ext cx="46572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/>
                <a:ea typeface="나눔스퀘어" panose="020B0600000101010101"/>
              </a:rPr>
              <a:t>게임 규모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E5164DE-4B2F-EEAE-6939-CEB1D41846DC}"/>
              </a:ext>
            </a:extLst>
          </p:cNvPr>
          <p:cNvSpPr/>
          <p:nvPr/>
        </p:nvSpPr>
        <p:spPr>
          <a:xfrm>
            <a:off x="1705705" y="1726345"/>
            <a:ext cx="2365131" cy="5099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softEdge rad="0"/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accent1">
                    <a:lumMod val="50000"/>
                  </a:schemeClr>
                </a:solidFill>
              </a:rPr>
              <a:t>예상 플레이 시간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128440F-EB7C-FABB-5F33-9E16E238A4C6}"/>
              </a:ext>
            </a:extLst>
          </p:cNvPr>
          <p:cNvSpPr/>
          <p:nvPr/>
        </p:nvSpPr>
        <p:spPr>
          <a:xfrm>
            <a:off x="4070836" y="2190580"/>
            <a:ext cx="5864469" cy="457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softEdge rad="0"/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B80225-842D-8F34-B863-5624EE7687CF}"/>
              </a:ext>
            </a:extLst>
          </p:cNvPr>
          <p:cNvSpPr txBox="1"/>
          <p:nvPr/>
        </p:nvSpPr>
        <p:spPr>
          <a:xfrm>
            <a:off x="4191921" y="2532315"/>
            <a:ext cx="1481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b="1" dirty="0">
                <a:solidFill>
                  <a:schemeClr val="accent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/>
              </a:rPr>
              <a:t>생존자</a:t>
            </a:r>
            <a:r>
              <a:rPr lang="en-US" altLang="ko-KR" b="1" dirty="0">
                <a:solidFill>
                  <a:schemeClr val="accent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/>
              </a:rPr>
              <a:t>, </a:t>
            </a:r>
            <a:r>
              <a:rPr lang="ko-KR" altLang="en-US" b="1" dirty="0">
                <a:solidFill>
                  <a:schemeClr val="accent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/>
              </a:rPr>
              <a:t>술래</a:t>
            </a:r>
            <a:endParaRPr lang="ko-KR" altLang="en-US" b="1" dirty="0">
              <a:solidFill>
                <a:schemeClr val="accent1">
                  <a:lumMod val="50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8DFD19F-177F-649D-B35C-BC9C111E8065}"/>
              </a:ext>
            </a:extLst>
          </p:cNvPr>
          <p:cNvSpPr/>
          <p:nvPr/>
        </p:nvSpPr>
        <p:spPr>
          <a:xfrm>
            <a:off x="1705705" y="2445557"/>
            <a:ext cx="2365131" cy="5099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softEdge rad="0"/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accent1">
                    <a:lumMod val="50000"/>
                  </a:schemeClr>
                </a:solidFill>
              </a:rPr>
              <a:t>인게임</a:t>
            </a:r>
            <a:r>
              <a:rPr lang="ko-KR" altLang="en-US" dirty="0">
                <a:solidFill>
                  <a:schemeClr val="accent1">
                    <a:lumMod val="50000"/>
                  </a:schemeClr>
                </a:solidFill>
              </a:rPr>
              <a:t> 역할 구분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C57A4FA-BE49-1B88-C33E-4E7D5B14EBD0}"/>
              </a:ext>
            </a:extLst>
          </p:cNvPr>
          <p:cNvSpPr/>
          <p:nvPr/>
        </p:nvSpPr>
        <p:spPr>
          <a:xfrm>
            <a:off x="4070836" y="2909792"/>
            <a:ext cx="5864469" cy="457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softEdge rad="0"/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B09466-9FB5-6D34-D6AC-A640AF2EA121}"/>
              </a:ext>
            </a:extLst>
          </p:cNvPr>
          <p:cNvSpPr txBox="1"/>
          <p:nvPr/>
        </p:nvSpPr>
        <p:spPr>
          <a:xfrm>
            <a:off x="4191921" y="3253911"/>
            <a:ext cx="43460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accent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/>
              </a:rPr>
              <a:t>수리도구 </a:t>
            </a:r>
            <a:r>
              <a:rPr lang="en-US" altLang="ko-KR" b="1" dirty="0">
                <a:solidFill>
                  <a:schemeClr val="accent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/>
              </a:rPr>
              <a:t>4</a:t>
            </a:r>
            <a:r>
              <a:rPr lang="ko-KR" altLang="en-US" b="1" dirty="0">
                <a:solidFill>
                  <a:schemeClr val="accent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/>
              </a:rPr>
              <a:t>종류</a:t>
            </a:r>
            <a:r>
              <a:rPr lang="en-US" altLang="ko-KR" b="1" dirty="0">
                <a:solidFill>
                  <a:schemeClr val="accent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/>
              </a:rPr>
              <a:t>, </a:t>
            </a:r>
            <a:r>
              <a:rPr lang="ko-KR" altLang="en-US" b="1" dirty="0">
                <a:solidFill>
                  <a:schemeClr val="accent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/>
              </a:rPr>
              <a:t>도면 </a:t>
            </a:r>
            <a:r>
              <a:rPr lang="en-US" altLang="ko-KR" b="1" dirty="0">
                <a:solidFill>
                  <a:schemeClr val="accent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/>
              </a:rPr>
              <a:t>4</a:t>
            </a:r>
            <a:r>
              <a:rPr lang="ko-KR" altLang="en-US" b="1" dirty="0">
                <a:solidFill>
                  <a:schemeClr val="accent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/>
              </a:rPr>
              <a:t>종류</a:t>
            </a:r>
            <a:r>
              <a:rPr lang="en-US" altLang="ko-KR" b="1" dirty="0">
                <a:solidFill>
                  <a:schemeClr val="accent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/>
              </a:rPr>
              <a:t>, </a:t>
            </a:r>
            <a:r>
              <a:rPr lang="ko-KR" altLang="en-US" b="1" dirty="0" err="1">
                <a:solidFill>
                  <a:schemeClr val="accent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/>
              </a:rPr>
              <a:t>생명칩</a:t>
            </a:r>
            <a:r>
              <a:rPr lang="en-US" altLang="ko-KR" b="1" dirty="0">
                <a:solidFill>
                  <a:schemeClr val="accent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/>
              </a:rPr>
              <a:t> 1</a:t>
            </a:r>
            <a:r>
              <a:rPr lang="ko-KR" altLang="en-US" b="1" dirty="0">
                <a:solidFill>
                  <a:schemeClr val="accent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/>
              </a:rPr>
              <a:t>개</a:t>
            </a:r>
            <a:endParaRPr lang="ko-KR" altLang="en-US" b="1" dirty="0">
              <a:solidFill>
                <a:schemeClr val="accent1">
                  <a:lumMod val="50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4FD240C-AC9B-44F4-6EDD-572B2E3B34C0}"/>
              </a:ext>
            </a:extLst>
          </p:cNvPr>
          <p:cNvSpPr/>
          <p:nvPr/>
        </p:nvSpPr>
        <p:spPr>
          <a:xfrm>
            <a:off x="1705705" y="3164769"/>
            <a:ext cx="2365131" cy="5099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softEdge rad="0"/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accent1">
                    <a:lumMod val="50000"/>
                  </a:schemeClr>
                </a:solidFill>
              </a:rPr>
              <a:t>아이템 개수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160603D-B06F-4286-8BD3-F92E149BA26B}"/>
              </a:ext>
            </a:extLst>
          </p:cNvPr>
          <p:cNvSpPr/>
          <p:nvPr/>
        </p:nvSpPr>
        <p:spPr>
          <a:xfrm>
            <a:off x="4070836" y="3629004"/>
            <a:ext cx="5864469" cy="457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softEdge rad="0"/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57F7ADA-2B0F-832F-94E7-2D4E95103012}"/>
              </a:ext>
            </a:extLst>
          </p:cNvPr>
          <p:cNvSpPr txBox="1"/>
          <p:nvPr/>
        </p:nvSpPr>
        <p:spPr>
          <a:xfrm>
            <a:off x="4191921" y="4052200"/>
            <a:ext cx="4472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accent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생존자 </a:t>
            </a:r>
            <a:r>
              <a:rPr lang="en-US" altLang="ko-KR" b="1" dirty="0">
                <a:solidFill>
                  <a:schemeClr val="accent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: </a:t>
            </a:r>
            <a:r>
              <a:rPr lang="ko-KR" altLang="en-US" b="1" dirty="0">
                <a:solidFill>
                  <a:schemeClr val="accent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전력장치</a:t>
            </a:r>
            <a:r>
              <a:rPr lang="en-US" altLang="ko-KR" b="1" dirty="0">
                <a:solidFill>
                  <a:schemeClr val="accent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, </a:t>
            </a:r>
            <a:r>
              <a:rPr lang="ko-KR" altLang="en-US" b="1" dirty="0">
                <a:solidFill>
                  <a:schemeClr val="accent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탈출장치</a:t>
            </a:r>
            <a:r>
              <a:rPr lang="en-US" altLang="ko-KR" b="1" dirty="0">
                <a:solidFill>
                  <a:schemeClr val="accent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| </a:t>
            </a:r>
            <a:r>
              <a:rPr lang="ko-KR" altLang="en-US" b="1" dirty="0">
                <a:solidFill>
                  <a:schemeClr val="accent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술래 </a:t>
            </a:r>
            <a:r>
              <a:rPr lang="en-US" altLang="ko-KR" b="1" dirty="0">
                <a:solidFill>
                  <a:schemeClr val="accent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:</a:t>
            </a:r>
            <a:r>
              <a:rPr lang="ko-KR" altLang="en-US" b="1" dirty="0">
                <a:solidFill>
                  <a:schemeClr val="accent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재단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579E9E5-BEDC-7F53-0A6A-5B61D2D8F189}"/>
              </a:ext>
            </a:extLst>
          </p:cNvPr>
          <p:cNvSpPr/>
          <p:nvPr/>
        </p:nvSpPr>
        <p:spPr>
          <a:xfrm>
            <a:off x="1705705" y="3954292"/>
            <a:ext cx="2365131" cy="5099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softEdge rad="0"/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accent1">
                    <a:lumMod val="50000"/>
                  </a:schemeClr>
                </a:solidFill>
              </a:rPr>
              <a:t>메인 장치 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7E5F92F-DA8E-94F1-A68B-9271C4FB32A6}"/>
              </a:ext>
            </a:extLst>
          </p:cNvPr>
          <p:cNvSpPr/>
          <p:nvPr/>
        </p:nvSpPr>
        <p:spPr>
          <a:xfrm>
            <a:off x="4070836" y="4418527"/>
            <a:ext cx="5864469" cy="457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softEdge rad="0"/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02844F-875A-801A-67DF-AB15B83BC185}"/>
              </a:ext>
            </a:extLst>
          </p:cNvPr>
          <p:cNvSpPr txBox="1"/>
          <p:nvPr/>
        </p:nvSpPr>
        <p:spPr>
          <a:xfrm>
            <a:off x="4191921" y="4771412"/>
            <a:ext cx="21579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accent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도어</a:t>
            </a:r>
            <a:r>
              <a:rPr lang="en-US" altLang="ko-KR" b="1" dirty="0">
                <a:solidFill>
                  <a:schemeClr val="accent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, </a:t>
            </a:r>
            <a:r>
              <a:rPr lang="ko-KR" altLang="en-US" b="1" dirty="0">
                <a:solidFill>
                  <a:schemeClr val="accent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비밀통로</a:t>
            </a:r>
            <a:r>
              <a:rPr lang="en-US" altLang="ko-KR" b="1" dirty="0">
                <a:solidFill>
                  <a:schemeClr val="accent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5</a:t>
            </a:r>
            <a:r>
              <a:rPr lang="ko-KR" altLang="en-US" b="1" dirty="0">
                <a:solidFill>
                  <a:schemeClr val="accent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곳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85AEDE5-136B-A605-3730-0FD64D77A036}"/>
              </a:ext>
            </a:extLst>
          </p:cNvPr>
          <p:cNvSpPr/>
          <p:nvPr/>
        </p:nvSpPr>
        <p:spPr>
          <a:xfrm>
            <a:off x="1705705" y="4673504"/>
            <a:ext cx="2365131" cy="5099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softEdge rad="0"/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accent1">
                    <a:lumMod val="50000"/>
                  </a:schemeClr>
                </a:solidFill>
              </a:rPr>
              <a:t>장애물 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F8F25EA-A99A-D5C6-2BFD-6420C79F65D2}"/>
              </a:ext>
            </a:extLst>
          </p:cNvPr>
          <p:cNvSpPr/>
          <p:nvPr/>
        </p:nvSpPr>
        <p:spPr>
          <a:xfrm>
            <a:off x="4070836" y="5137739"/>
            <a:ext cx="5864469" cy="457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softEdge rad="0"/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952728A-FAC0-208B-6BAE-7A9AE5932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36F23-2DE0-4C93-9E4D-3BD093BFA6C9}" type="slidenum">
              <a:rPr lang="ko-KR" altLang="en-US" smtClean="0">
                <a:solidFill>
                  <a:schemeClr val="tx1"/>
                </a:solidFill>
              </a:rPr>
              <a:t>7</a:t>
            </a:fld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4458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A3D2A2B8-7D26-7C7A-5590-53E26C8645DD}"/>
              </a:ext>
            </a:extLst>
          </p:cNvPr>
          <p:cNvSpPr txBox="1"/>
          <p:nvPr/>
        </p:nvSpPr>
        <p:spPr>
          <a:xfrm>
            <a:off x="329766" y="272634"/>
            <a:ext cx="46572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/>
                <a:ea typeface="나눔스퀘어" panose="020B0600000101010101"/>
              </a:rPr>
              <a:t>04 </a:t>
            </a: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게임 소개 </a:t>
            </a:r>
            <a:endParaRPr lang="ko-KR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/>
              <a:ea typeface="나눔스퀘어" panose="020B0600000101010101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0914C1B-77C9-214F-4017-25DE728B1F42}"/>
              </a:ext>
            </a:extLst>
          </p:cNvPr>
          <p:cNvSpPr/>
          <p:nvPr/>
        </p:nvSpPr>
        <p:spPr>
          <a:xfrm>
            <a:off x="284047" y="272634"/>
            <a:ext cx="45719" cy="49638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4110D2-8659-74C8-6C6B-6987AE552330}"/>
              </a:ext>
            </a:extLst>
          </p:cNvPr>
          <p:cNvSpPr txBox="1"/>
          <p:nvPr/>
        </p:nvSpPr>
        <p:spPr>
          <a:xfrm>
            <a:off x="375485" y="611188"/>
            <a:ext cx="46572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/>
                <a:ea typeface="나눔스퀘어" panose="020B0600000101010101"/>
              </a:rPr>
              <a:t>맵 소개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DCD4917-62DB-7C7A-E947-CA0E7CE7ADAA}"/>
              </a:ext>
            </a:extLst>
          </p:cNvPr>
          <p:cNvSpPr/>
          <p:nvPr/>
        </p:nvSpPr>
        <p:spPr>
          <a:xfrm>
            <a:off x="877568" y="2178584"/>
            <a:ext cx="2116183" cy="84985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피아노방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0EFF12C-5F61-8208-C23A-D4682BE81CD5}"/>
              </a:ext>
            </a:extLst>
          </p:cNvPr>
          <p:cNvSpPr/>
          <p:nvPr/>
        </p:nvSpPr>
        <p:spPr>
          <a:xfrm>
            <a:off x="3614986" y="2178584"/>
            <a:ext cx="2464526" cy="8498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방송실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D6A4F42-6FC1-B651-89B4-AF9E4A26414E}"/>
              </a:ext>
            </a:extLst>
          </p:cNvPr>
          <p:cNvSpPr/>
          <p:nvPr/>
        </p:nvSpPr>
        <p:spPr>
          <a:xfrm>
            <a:off x="874381" y="3342707"/>
            <a:ext cx="3832808" cy="14902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복 도 방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9F6EC81-91C8-143F-B7C0-FB54A75CD1AB}"/>
              </a:ext>
            </a:extLst>
          </p:cNvPr>
          <p:cNvSpPr/>
          <p:nvPr/>
        </p:nvSpPr>
        <p:spPr>
          <a:xfrm>
            <a:off x="3614986" y="5265545"/>
            <a:ext cx="2464526" cy="98994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숲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C22AB12-FA2B-B17D-0E50-573858C92915}"/>
              </a:ext>
            </a:extLst>
          </p:cNvPr>
          <p:cNvSpPr/>
          <p:nvPr/>
        </p:nvSpPr>
        <p:spPr>
          <a:xfrm>
            <a:off x="874380" y="5268076"/>
            <a:ext cx="2464526" cy="989947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교실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02E5B20-2A87-EA02-03FE-16E595678B40}"/>
              </a:ext>
            </a:extLst>
          </p:cNvPr>
          <p:cNvSpPr/>
          <p:nvPr/>
        </p:nvSpPr>
        <p:spPr>
          <a:xfrm>
            <a:off x="5066391" y="3178974"/>
            <a:ext cx="1013121" cy="179635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큐브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3DE739D-E1A1-4D6B-9675-1AC6F5711861}"/>
              </a:ext>
            </a:extLst>
          </p:cNvPr>
          <p:cNvSpPr/>
          <p:nvPr/>
        </p:nvSpPr>
        <p:spPr>
          <a:xfrm>
            <a:off x="1935659" y="3028434"/>
            <a:ext cx="69669" cy="31427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92CCBDA-A5F8-7541-FD8C-0FE03BB8C35F}"/>
              </a:ext>
            </a:extLst>
          </p:cNvPr>
          <p:cNvSpPr/>
          <p:nvPr/>
        </p:nvSpPr>
        <p:spPr>
          <a:xfrm>
            <a:off x="2993751" y="2542992"/>
            <a:ext cx="621235" cy="8235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9D78B58-0FC1-B2F8-F988-6298E01FF0B3}"/>
              </a:ext>
            </a:extLst>
          </p:cNvPr>
          <p:cNvSpPr/>
          <p:nvPr/>
        </p:nvSpPr>
        <p:spPr>
          <a:xfrm>
            <a:off x="5565731" y="3028434"/>
            <a:ext cx="69669" cy="15054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798910C-30CB-B732-970D-8057B46D0356}"/>
              </a:ext>
            </a:extLst>
          </p:cNvPr>
          <p:cNvSpPr/>
          <p:nvPr/>
        </p:nvSpPr>
        <p:spPr>
          <a:xfrm>
            <a:off x="1937579" y="4832959"/>
            <a:ext cx="64559" cy="43511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0CC1CC9-9C44-B914-E484-37C0F6152586}"/>
              </a:ext>
            </a:extLst>
          </p:cNvPr>
          <p:cNvSpPr/>
          <p:nvPr/>
        </p:nvSpPr>
        <p:spPr>
          <a:xfrm>
            <a:off x="4121281" y="4837977"/>
            <a:ext cx="64558" cy="42756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B37D7FE-A695-E3C1-2D92-11A359AA6613}"/>
              </a:ext>
            </a:extLst>
          </p:cNvPr>
          <p:cNvSpPr/>
          <p:nvPr/>
        </p:nvSpPr>
        <p:spPr>
          <a:xfrm>
            <a:off x="4707189" y="4106534"/>
            <a:ext cx="359202" cy="8591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D6512C3-4C7D-A5F0-0241-A80533418251}"/>
              </a:ext>
            </a:extLst>
          </p:cNvPr>
          <p:cNvSpPr/>
          <p:nvPr/>
        </p:nvSpPr>
        <p:spPr>
          <a:xfrm>
            <a:off x="874381" y="1453932"/>
            <a:ext cx="580674" cy="732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17CEB9F-86D6-562A-0BF0-72CE190431A2}"/>
              </a:ext>
            </a:extLst>
          </p:cNvPr>
          <p:cNvSpPr txBox="1"/>
          <p:nvPr/>
        </p:nvSpPr>
        <p:spPr>
          <a:xfrm>
            <a:off x="1455055" y="1365461"/>
            <a:ext cx="52385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생존자</a:t>
            </a:r>
            <a:r>
              <a:rPr lang="en-US" altLang="ko-KR" sz="1200" dirty="0"/>
              <a:t>, </a:t>
            </a:r>
            <a:r>
              <a:rPr lang="ko-KR" altLang="en-US" sz="1200" dirty="0"/>
              <a:t>술래가 모두 사용 가능한 문</a:t>
            </a:r>
            <a:endParaRPr lang="en-US" altLang="ko-KR" sz="1200" dirty="0"/>
          </a:p>
        </p:txBody>
      </p:sp>
      <p:cxnSp>
        <p:nvCxnSpPr>
          <p:cNvPr id="34" name="연결선: 꺾임 33">
            <a:extLst>
              <a:ext uri="{FF2B5EF4-FFF2-40B4-BE49-F238E27FC236}">
                <a16:creationId xmlns:a16="http://schemas.microsoft.com/office/drawing/2014/main" id="{7216341B-F30C-BD0E-1438-E925C6985061}"/>
              </a:ext>
            </a:extLst>
          </p:cNvPr>
          <p:cNvCxnSpPr>
            <a:stCxn id="2" idx="1"/>
            <a:endCxn id="23" idx="1"/>
          </p:cNvCxnSpPr>
          <p:nvPr/>
        </p:nvCxnSpPr>
        <p:spPr>
          <a:xfrm rot="10800000" flipV="1">
            <a:off x="874380" y="2603508"/>
            <a:ext cx="3188" cy="3159541"/>
          </a:xfrm>
          <a:prstGeom prst="bentConnector3">
            <a:avLst>
              <a:gd name="adj1" fmla="val 7270640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A67986A2-2200-DB5C-C181-6699A96D8E18}"/>
              </a:ext>
            </a:extLst>
          </p:cNvPr>
          <p:cNvCxnSpPr>
            <a:cxnSpLocks/>
            <a:stCxn id="24" idx="2"/>
          </p:cNvCxnSpPr>
          <p:nvPr/>
        </p:nvCxnSpPr>
        <p:spPr>
          <a:xfrm flipH="1">
            <a:off x="5565731" y="4975324"/>
            <a:ext cx="7221" cy="31427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07653D55-B9CB-2405-C7D6-7CADA5D942D6}"/>
              </a:ext>
            </a:extLst>
          </p:cNvPr>
          <p:cNvCxnSpPr>
            <a:cxnSpLocks/>
          </p:cNvCxnSpPr>
          <p:nvPr/>
        </p:nvCxnSpPr>
        <p:spPr>
          <a:xfrm>
            <a:off x="3338906" y="5930111"/>
            <a:ext cx="27608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62F5C045-EFA3-3237-1E5C-F8537D9B4882}"/>
              </a:ext>
            </a:extLst>
          </p:cNvPr>
          <p:cNvCxnSpPr/>
          <p:nvPr/>
        </p:nvCxnSpPr>
        <p:spPr>
          <a:xfrm>
            <a:off x="4121280" y="3028434"/>
            <a:ext cx="0" cy="31427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F898E422-404D-2A7F-6F65-15C318018C7C}"/>
              </a:ext>
            </a:extLst>
          </p:cNvPr>
          <p:cNvCxnSpPr/>
          <p:nvPr/>
        </p:nvCxnSpPr>
        <p:spPr>
          <a:xfrm>
            <a:off x="874381" y="1872997"/>
            <a:ext cx="58067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B8363164-4382-E055-59C6-9DB6879B24D6}"/>
              </a:ext>
            </a:extLst>
          </p:cNvPr>
          <p:cNvSpPr txBox="1"/>
          <p:nvPr/>
        </p:nvSpPr>
        <p:spPr>
          <a:xfrm>
            <a:off x="1455055" y="1745998"/>
            <a:ext cx="52385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생존자만 사용 가능한 비밀 통로</a:t>
            </a:r>
            <a:endParaRPr lang="en-US" altLang="ko-KR" sz="1200" dirty="0"/>
          </a:p>
        </p:txBody>
      </p:sp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66BA261A-0C3D-45ED-32F2-07C386AC2BEA}"/>
              </a:ext>
            </a:extLst>
          </p:cNvPr>
          <p:cNvCxnSpPr>
            <a:stCxn id="8" idx="3"/>
            <a:endCxn id="10" idx="3"/>
          </p:cNvCxnSpPr>
          <p:nvPr/>
        </p:nvCxnSpPr>
        <p:spPr>
          <a:xfrm>
            <a:off x="6079512" y="2603509"/>
            <a:ext cx="12700" cy="3157010"/>
          </a:xfrm>
          <a:prstGeom prst="bentConnector3">
            <a:avLst>
              <a:gd name="adj1" fmla="val 1800000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5BC2CA84-AED5-2077-F9F3-CC91BFFBEE59}"/>
              </a:ext>
            </a:extLst>
          </p:cNvPr>
          <p:cNvSpPr txBox="1"/>
          <p:nvPr/>
        </p:nvSpPr>
        <p:spPr>
          <a:xfrm>
            <a:off x="6648521" y="1527132"/>
            <a:ext cx="5238518" cy="4262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/>
              <a:t>&lt;</a:t>
            </a:r>
            <a:r>
              <a:rPr lang="ko-KR" altLang="en-US" sz="2000" dirty="0"/>
              <a:t>맵 구조</a:t>
            </a:r>
            <a:r>
              <a:rPr lang="en-US" altLang="ko-KR" sz="2000" dirty="0"/>
              <a:t>&gt;</a:t>
            </a:r>
          </a:p>
          <a:p>
            <a:pPr algn="ctr"/>
            <a:endParaRPr lang="en-US" altLang="ko-KR" sz="2000" dirty="0"/>
          </a:p>
          <a:p>
            <a:pPr marL="171450" indent="-171450">
              <a:buFontTx/>
              <a:buChar char="-"/>
            </a:pPr>
            <a:r>
              <a:rPr lang="ko-KR" altLang="en-US" sz="1050" dirty="0"/>
              <a:t>총 </a:t>
            </a:r>
            <a:r>
              <a:rPr lang="en-US" altLang="ko-KR" sz="1050" dirty="0"/>
              <a:t>6~7</a:t>
            </a:r>
            <a:r>
              <a:rPr lang="ko-KR" altLang="en-US" sz="1050" dirty="0"/>
              <a:t>개의 방으로 구성된 </a:t>
            </a:r>
            <a:r>
              <a:rPr lang="ko-KR" altLang="en-US" sz="1050" dirty="0" err="1"/>
              <a:t>맵을</a:t>
            </a:r>
            <a:r>
              <a:rPr lang="ko-KR" altLang="en-US" sz="1050" dirty="0"/>
              <a:t> 가지고 있다</a:t>
            </a:r>
            <a:r>
              <a:rPr lang="en-US" altLang="ko-KR" sz="1050" dirty="0"/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 sz="1050" b="1" dirty="0"/>
              <a:t>맵 전체 크기는 </a:t>
            </a:r>
            <a:r>
              <a:rPr lang="en-US" altLang="ko-KR" sz="1050" b="1" dirty="0"/>
              <a:t>200x200</a:t>
            </a:r>
          </a:p>
          <a:p>
            <a:pPr marL="171450" indent="-171450">
              <a:buFontTx/>
              <a:buChar char="-"/>
            </a:pPr>
            <a:endParaRPr lang="en-US" altLang="ko-KR" sz="1050" dirty="0"/>
          </a:p>
          <a:p>
            <a:pPr marL="228600" indent="-228600">
              <a:buAutoNum type="arabicPeriod"/>
            </a:pPr>
            <a:r>
              <a:rPr lang="ko-KR" altLang="en-US" sz="1050" b="1" dirty="0"/>
              <a:t>피아노방</a:t>
            </a:r>
            <a:r>
              <a:rPr lang="ko-KR" altLang="en-US" sz="1050" dirty="0"/>
              <a:t> </a:t>
            </a:r>
            <a:r>
              <a:rPr lang="en-US" altLang="ko-KR" sz="1050" b="1" dirty="0"/>
              <a:t>(75x50)</a:t>
            </a:r>
          </a:p>
          <a:p>
            <a:r>
              <a:rPr lang="en-US" altLang="ko-KR" sz="1050" dirty="0"/>
              <a:t>	</a:t>
            </a:r>
            <a:r>
              <a:rPr lang="ko-KR" altLang="en-US" sz="1050" dirty="0"/>
              <a:t>특징 </a:t>
            </a:r>
            <a:r>
              <a:rPr lang="en-US" altLang="ko-KR" sz="1050" dirty="0"/>
              <a:t>: </a:t>
            </a:r>
            <a:r>
              <a:rPr lang="ko-KR" altLang="en-US" sz="1050" dirty="0"/>
              <a:t>방 가운데 피아노를 기점으로 음악실 느낌을 하고 있다</a:t>
            </a:r>
            <a:r>
              <a:rPr lang="en-US" altLang="ko-KR" sz="1050" dirty="0"/>
              <a:t>.</a:t>
            </a:r>
          </a:p>
          <a:p>
            <a:endParaRPr lang="en-US" altLang="ko-KR" sz="1050" dirty="0"/>
          </a:p>
          <a:p>
            <a:pPr marL="228600" indent="-228600">
              <a:buAutoNum type="arabicPeriod" startAt="2"/>
            </a:pPr>
            <a:r>
              <a:rPr lang="ko-KR" altLang="en-US" sz="1050" b="1" dirty="0"/>
              <a:t>숲 </a:t>
            </a:r>
            <a:r>
              <a:rPr lang="en-US" altLang="ko-KR" sz="1050" b="1" dirty="0"/>
              <a:t>(100x50)</a:t>
            </a:r>
          </a:p>
          <a:p>
            <a:r>
              <a:rPr lang="en-US" altLang="ko-KR" sz="1050" dirty="0"/>
              <a:t>	</a:t>
            </a:r>
            <a:r>
              <a:rPr lang="ko-KR" altLang="en-US" sz="1050" dirty="0"/>
              <a:t>특징 </a:t>
            </a:r>
            <a:r>
              <a:rPr lang="en-US" altLang="ko-KR" sz="1050" dirty="0"/>
              <a:t>: </a:t>
            </a:r>
            <a:r>
              <a:rPr lang="ko-KR" altLang="en-US" sz="1050" dirty="0" err="1"/>
              <a:t>숲속에</a:t>
            </a:r>
            <a:r>
              <a:rPr lang="ko-KR" altLang="en-US" sz="1050" dirty="0"/>
              <a:t> 오두막집이 여러 개 있으며 어두운 밤을 배경으로 한다</a:t>
            </a:r>
            <a:r>
              <a:rPr lang="en-US" altLang="ko-KR" sz="1050" dirty="0"/>
              <a:t>.</a:t>
            </a:r>
          </a:p>
          <a:p>
            <a:endParaRPr lang="en-US" altLang="ko-KR" sz="1050" dirty="0"/>
          </a:p>
          <a:p>
            <a:pPr marL="228600" indent="-228600">
              <a:buAutoNum type="arabicPeriod" startAt="3"/>
            </a:pPr>
            <a:r>
              <a:rPr lang="ko-KR" altLang="en-US" sz="1050" b="1" dirty="0" err="1"/>
              <a:t>복도방</a:t>
            </a:r>
            <a:r>
              <a:rPr lang="ko-KR" altLang="en-US" sz="1050" b="1" dirty="0"/>
              <a:t> </a:t>
            </a:r>
            <a:r>
              <a:rPr lang="en-US" altLang="ko-KR" sz="1050" b="1" dirty="0"/>
              <a:t>(150x100)</a:t>
            </a:r>
          </a:p>
          <a:p>
            <a:r>
              <a:rPr lang="en-US" altLang="ko-KR" sz="1050" dirty="0"/>
              <a:t>	</a:t>
            </a:r>
            <a:r>
              <a:rPr lang="ko-KR" altLang="en-US" sz="1050" dirty="0"/>
              <a:t>특징 </a:t>
            </a:r>
            <a:r>
              <a:rPr lang="en-US" altLang="ko-KR" sz="1050" dirty="0"/>
              <a:t>: </a:t>
            </a:r>
            <a:r>
              <a:rPr lang="ko-KR" altLang="en-US" sz="1050" dirty="0"/>
              <a:t>맵 중앙에 위치하며 각방을 연결하는 역할을 한다</a:t>
            </a:r>
            <a:r>
              <a:rPr lang="en-US" altLang="ko-KR" sz="1050" dirty="0"/>
              <a:t>.</a:t>
            </a:r>
          </a:p>
          <a:p>
            <a:endParaRPr lang="en-US" altLang="ko-KR" sz="1050" dirty="0"/>
          </a:p>
          <a:p>
            <a:pPr marL="228600" indent="-228600">
              <a:buAutoNum type="arabicPeriod" startAt="4"/>
            </a:pPr>
            <a:r>
              <a:rPr lang="ko-KR" altLang="en-US" sz="1050" b="1" dirty="0"/>
              <a:t>큐브 </a:t>
            </a:r>
            <a:r>
              <a:rPr lang="en-US" altLang="ko-KR" sz="1050" b="1" dirty="0"/>
              <a:t>(50x100)</a:t>
            </a:r>
          </a:p>
          <a:p>
            <a:r>
              <a:rPr lang="en-US" altLang="ko-KR" sz="1050" dirty="0"/>
              <a:t>	</a:t>
            </a:r>
            <a:r>
              <a:rPr lang="ko-KR" altLang="en-US" sz="1050" dirty="0"/>
              <a:t>특징 </a:t>
            </a:r>
            <a:r>
              <a:rPr lang="en-US" altLang="ko-KR" sz="1050" dirty="0"/>
              <a:t>: </a:t>
            </a:r>
            <a:r>
              <a:rPr lang="ko-KR" altLang="en-US" sz="1050" dirty="0" err="1"/>
              <a:t>큐브형식으로</a:t>
            </a:r>
            <a:r>
              <a:rPr lang="ko-KR" altLang="en-US" sz="1050" dirty="0"/>
              <a:t> 된 방들이 </a:t>
            </a:r>
            <a:r>
              <a:rPr lang="ko-KR" altLang="en-US" sz="1050" dirty="0" err="1"/>
              <a:t>모여있는</a:t>
            </a:r>
            <a:r>
              <a:rPr lang="ko-KR" altLang="en-US" sz="1050" dirty="0"/>
              <a:t> 구조이다</a:t>
            </a:r>
            <a:r>
              <a:rPr lang="en-US" altLang="ko-KR" sz="1050" dirty="0"/>
              <a:t>.</a:t>
            </a:r>
          </a:p>
          <a:p>
            <a:endParaRPr lang="en-US" altLang="ko-KR" sz="1050" dirty="0"/>
          </a:p>
          <a:p>
            <a:r>
              <a:rPr lang="en-US" altLang="ko-KR" sz="1050" dirty="0"/>
              <a:t>5.   </a:t>
            </a:r>
            <a:r>
              <a:rPr lang="ko-KR" altLang="en-US" sz="1050" b="1" dirty="0"/>
              <a:t>교실 </a:t>
            </a:r>
            <a:r>
              <a:rPr lang="en-US" altLang="ko-KR" sz="1050" b="1" dirty="0"/>
              <a:t>(100x50)</a:t>
            </a:r>
          </a:p>
          <a:p>
            <a:r>
              <a:rPr lang="en-US" altLang="ko-KR" sz="1050" dirty="0"/>
              <a:t>	</a:t>
            </a:r>
            <a:r>
              <a:rPr lang="ko-KR" altLang="en-US" sz="1050" dirty="0"/>
              <a:t>특징 </a:t>
            </a:r>
            <a:r>
              <a:rPr lang="en-US" altLang="ko-KR" sz="1050" dirty="0"/>
              <a:t>: </a:t>
            </a:r>
            <a:r>
              <a:rPr lang="ko-KR" altLang="en-US" sz="1050" dirty="0"/>
              <a:t>학교 내 교실 거의 과학실과 유사한 구조를 가지고 있다</a:t>
            </a:r>
            <a:r>
              <a:rPr lang="en-US" altLang="ko-KR" sz="1050" dirty="0"/>
              <a:t>.</a:t>
            </a:r>
          </a:p>
          <a:p>
            <a:endParaRPr lang="en-US" altLang="ko-KR" sz="1050" dirty="0"/>
          </a:p>
          <a:p>
            <a:pPr marL="228600" indent="-228600">
              <a:buAutoNum type="arabicPeriod" startAt="6"/>
            </a:pPr>
            <a:r>
              <a:rPr lang="ko-KR" altLang="en-US" sz="1050" b="1" dirty="0"/>
              <a:t>방송실 </a:t>
            </a:r>
            <a:r>
              <a:rPr lang="en-US" altLang="ko-KR" sz="1050" b="1" dirty="0"/>
              <a:t>(125x50)</a:t>
            </a:r>
          </a:p>
          <a:p>
            <a:r>
              <a:rPr lang="en-US" altLang="ko-KR" sz="1050" dirty="0"/>
              <a:t>	</a:t>
            </a:r>
            <a:r>
              <a:rPr lang="ko-KR" altLang="en-US" sz="1050" dirty="0"/>
              <a:t>특징 </a:t>
            </a:r>
            <a:r>
              <a:rPr lang="en-US" altLang="ko-KR" sz="1050" dirty="0"/>
              <a:t>: </a:t>
            </a:r>
            <a:r>
              <a:rPr lang="ko-KR" altLang="en-US" sz="1050" dirty="0"/>
              <a:t>방송국의 </a:t>
            </a:r>
            <a:r>
              <a:rPr lang="ko-KR" altLang="en-US" sz="1050" dirty="0" err="1"/>
              <a:t>방송실같은</a:t>
            </a:r>
            <a:r>
              <a:rPr lang="ko-KR" altLang="en-US" sz="1050" dirty="0"/>
              <a:t> 느낌을 가지고 있으며 많은 숨을 공간을 </a:t>
            </a:r>
            <a:r>
              <a:rPr lang="en-US" altLang="ko-KR" sz="1050" dirty="0"/>
              <a:t>	         </a:t>
            </a:r>
            <a:r>
              <a:rPr lang="ko-KR" altLang="en-US" sz="1050" dirty="0"/>
              <a:t>제공하고 있다</a:t>
            </a:r>
            <a:r>
              <a:rPr lang="en-US" altLang="ko-KR" sz="1050" dirty="0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AAEF44C-2B0B-45AB-3C02-48BD18C93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36F23-2DE0-4C93-9E4D-3BD093BFA6C9}" type="slidenum">
              <a:rPr lang="ko-KR" altLang="en-US" smtClean="0">
                <a:solidFill>
                  <a:schemeClr val="tx1"/>
                </a:solidFill>
              </a:rPr>
              <a:t>8</a:t>
            </a:fld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8867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7F2ACF85-E88D-6AC0-E06A-FC6C44E59C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53" r="15894" b="-1"/>
          <a:stretch/>
        </p:blipFill>
        <p:spPr bwMode="auto">
          <a:xfrm>
            <a:off x="5313225" y="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A0914C1B-77C9-214F-4017-25DE728B1F42}"/>
              </a:ext>
            </a:extLst>
          </p:cNvPr>
          <p:cNvSpPr/>
          <p:nvPr/>
        </p:nvSpPr>
        <p:spPr>
          <a:xfrm>
            <a:off x="284047" y="272634"/>
            <a:ext cx="45719" cy="49638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35E62E-C2D0-F086-7AC8-8E9CC6DDAB42}"/>
              </a:ext>
            </a:extLst>
          </p:cNvPr>
          <p:cNvSpPr txBox="1"/>
          <p:nvPr/>
        </p:nvSpPr>
        <p:spPr>
          <a:xfrm>
            <a:off x="329766" y="272634"/>
            <a:ext cx="46572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/>
                <a:ea typeface="나눔스퀘어" panose="020B0600000101010101"/>
              </a:rPr>
              <a:t>04 </a:t>
            </a: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게임 소개 </a:t>
            </a:r>
            <a:endParaRPr lang="ko-KR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/>
              <a:ea typeface="나눔스퀘어" panose="020B0600000101010101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7CCCD1-E595-47D7-9130-1AA9F32402CB}"/>
              </a:ext>
            </a:extLst>
          </p:cNvPr>
          <p:cNvSpPr txBox="1"/>
          <p:nvPr/>
        </p:nvSpPr>
        <p:spPr>
          <a:xfrm>
            <a:off x="375485" y="601623"/>
            <a:ext cx="46572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/>
                <a:ea typeface="나눔스퀘어" panose="020B0600000101010101"/>
              </a:rPr>
              <a:t>캐릭터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2BEC72C-8625-5EC3-AEFE-61DDC7CB5689}"/>
              </a:ext>
            </a:extLst>
          </p:cNvPr>
          <p:cNvSpPr/>
          <p:nvPr/>
        </p:nvSpPr>
        <p:spPr>
          <a:xfrm>
            <a:off x="518746" y="2286000"/>
            <a:ext cx="3701562" cy="50116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4110D2-8659-74C8-6C6B-6987AE552330}"/>
              </a:ext>
            </a:extLst>
          </p:cNvPr>
          <p:cNvSpPr txBox="1"/>
          <p:nvPr/>
        </p:nvSpPr>
        <p:spPr>
          <a:xfrm>
            <a:off x="159020" y="919902"/>
            <a:ext cx="5090160" cy="56193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2200" b="1" dirty="0">
                <a:ea typeface="나눔스퀘어" panose="020B0600000101010101"/>
              </a:rPr>
              <a:t>생존자 </a:t>
            </a:r>
            <a:r>
              <a:rPr lang="en-US" altLang="ko-KR" sz="2200" b="1" dirty="0">
                <a:ea typeface="나눔스퀘어" panose="020B0600000101010101"/>
              </a:rPr>
              <a:t>/ </a:t>
            </a:r>
            <a:r>
              <a:rPr lang="ko-KR" altLang="en-US" sz="2200" b="1" dirty="0">
                <a:ea typeface="나눔스퀘어" panose="020B0600000101010101"/>
              </a:rPr>
              <a:t>술래</a:t>
            </a:r>
            <a:endParaRPr lang="en-US" altLang="ko-KR" sz="1000" b="1" dirty="0">
              <a:ea typeface="나눔스퀘어" panose="020B0600000101010101"/>
            </a:endParaRPr>
          </a:p>
          <a:p>
            <a:pPr latinLnBrk="0">
              <a:lnSpc>
                <a:spcPct val="90000"/>
              </a:lnSpc>
              <a:spcAft>
                <a:spcPts val="600"/>
              </a:spcAft>
            </a:pPr>
            <a:endParaRPr lang="en-US" altLang="ko-KR" sz="1200" b="1" dirty="0">
              <a:ea typeface="나눔스퀘어" panose="020B0600000101010101"/>
            </a:endParaRPr>
          </a:p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500" b="1" dirty="0">
                <a:ea typeface="나눔스퀘어" panose="020B0600000101010101"/>
              </a:rPr>
              <a:t>캐릭터 크기 </a:t>
            </a:r>
            <a:r>
              <a:rPr lang="en-US" altLang="ko-KR" sz="1500" b="1" dirty="0">
                <a:ea typeface="나눔스퀘어" panose="020B0600000101010101"/>
              </a:rPr>
              <a:t>(55x55x100 cm)</a:t>
            </a:r>
          </a:p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ko-KR" sz="1500" b="1" dirty="0">
              <a:ea typeface="나눔스퀘어" panose="020B0600000101010101"/>
            </a:endParaRPr>
          </a:p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500" b="1" dirty="0">
                <a:ea typeface="나눔스퀘어" panose="020B0600000101010101"/>
              </a:rPr>
              <a:t>컨트롤 </a:t>
            </a:r>
            <a:r>
              <a:rPr lang="en-US" altLang="ko-KR" sz="1500" b="1" dirty="0">
                <a:ea typeface="나눔스퀘어" panose="020B0600000101010101"/>
              </a:rPr>
              <a:t>(</a:t>
            </a:r>
            <a:r>
              <a:rPr lang="ko-KR" altLang="en-US" sz="1500" b="1" dirty="0">
                <a:ea typeface="나눔스퀘어" panose="020B0600000101010101"/>
              </a:rPr>
              <a:t>키보드 사용</a:t>
            </a:r>
            <a:r>
              <a:rPr lang="en-US" altLang="ko-KR" sz="1500" b="1" dirty="0">
                <a:ea typeface="나눔스퀘어" panose="020B0600000101010101"/>
              </a:rPr>
              <a:t>)</a:t>
            </a:r>
          </a:p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ko-KR" sz="1500" b="1" dirty="0">
              <a:ea typeface="나눔스퀘어" panose="020B0600000101010101"/>
            </a:endParaRPr>
          </a:p>
          <a:p>
            <a:pPr latinLnBrk="0">
              <a:lnSpc>
                <a:spcPct val="90000"/>
              </a:lnSpc>
              <a:spcAft>
                <a:spcPts val="600"/>
              </a:spcAft>
            </a:pPr>
            <a:r>
              <a:rPr lang="ko-KR" altLang="en-US" sz="1600" b="1" dirty="0">
                <a:solidFill>
                  <a:srgbClr val="0070C0"/>
                </a:solidFill>
                <a:ea typeface="나눔스퀘어" panose="020B0600000101010101"/>
              </a:rPr>
              <a:t>생존자</a:t>
            </a:r>
            <a:endParaRPr lang="en-US" altLang="ko-KR" sz="1600" b="1" dirty="0">
              <a:solidFill>
                <a:srgbClr val="0070C0"/>
              </a:solidFill>
              <a:ea typeface="나눔스퀘어" panose="020B0600000101010101"/>
            </a:endParaRPr>
          </a:p>
          <a:p>
            <a:pPr marL="171450" indent="-171450" latinLnBrk="0">
              <a:lnSpc>
                <a:spcPct val="90000"/>
              </a:lnSpc>
              <a:spcAft>
                <a:spcPts val="600"/>
              </a:spcAft>
              <a:buFontTx/>
              <a:buChar char="-"/>
            </a:pPr>
            <a:r>
              <a:rPr lang="ko-KR" altLang="en-US" sz="1500" b="1" dirty="0" err="1">
                <a:ea typeface="나눔스퀘어" panose="020B0600000101010101"/>
              </a:rPr>
              <a:t>맵에</a:t>
            </a:r>
            <a:r>
              <a:rPr lang="ko-KR" altLang="en-US" sz="1500" b="1" dirty="0">
                <a:ea typeface="나눔스퀘어" panose="020B0600000101010101"/>
              </a:rPr>
              <a:t> 숨겨져 있는 수리도구 획득</a:t>
            </a:r>
            <a:endParaRPr lang="en-US" altLang="ko-KR" sz="1500" b="1" dirty="0">
              <a:ea typeface="나눔스퀘어" panose="020B0600000101010101"/>
            </a:endParaRPr>
          </a:p>
          <a:p>
            <a:pPr marL="171450" indent="-171450" latinLnBrk="0">
              <a:lnSpc>
                <a:spcPct val="90000"/>
              </a:lnSpc>
              <a:spcAft>
                <a:spcPts val="600"/>
              </a:spcAft>
              <a:buFontTx/>
              <a:buChar char="-"/>
            </a:pPr>
            <a:r>
              <a:rPr lang="ko-KR" altLang="en-US" sz="1500" b="1" dirty="0">
                <a:ea typeface="나눔스퀘어" panose="020B0600000101010101"/>
              </a:rPr>
              <a:t>수리도구를 통하여 총 </a:t>
            </a:r>
            <a:r>
              <a:rPr lang="en-US" altLang="ko-KR" sz="1500" b="1" dirty="0">
                <a:ea typeface="나눔스퀘어" panose="020B0600000101010101"/>
              </a:rPr>
              <a:t>4</a:t>
            </a:r>
            <a:r>
              <a:rPr lang="ko-KR" altLang="en-US" sz="1500" b="1" dirty="0">
                <a:ea typeface="나눔스퀘어" panose="020B0600000101010101"/>
              </a:rPr>
              <a:t>개의 전력장치 수리</a:t>
            </a:r>
            <a:endParaRPr lang="en-US" altLang="ko-KR" sz="1500" b="1" dirty="0">
              <a:ea typeface="나눔스퀘어" panose="020B0600000101010101"/>
            </a:endParaRPr>
          </a:p>
          <a:p>
            <a:pPr marL="171450" indent="-171450" latinLnBrk="0">
              <a:lnSpc>
                <a:spcPct val="90000"/>
              </a:lnSpc>
              <a:spcAft>
                <a:spcPts val="600"/>
              </a:spcAft>
              <a:buFontTx/>
              <a:buChar char="-"/>
            </a:pPr>
            <a:r>
              <a:rPr lang="ko-KR" altLang="en-US" sz="1500" b="1" dirty="0">
                <a:ea typeface="나눔스퀘어" panose="020B0600000101010101"/>
              </a:rPr>
              <a:t>전력장치 수리 이후 탈출장치 활성화</a:t>
            </a:r>
            <a:r>
              <a:rPr lang="en-US" altLang="ko-KR" sz="1500" b="1" dirty="0">
                <a:ea typeface="나눔스퀘어" panose="020B0600000101010101"/>
              </a:rPr>
              <a:t>, </a:t>
            </a:r>
            <a:r>
              <a:rPr lang="ko-KR" altLang="en-US" sz="1500" b="1" dirty="0">
                <a:ea typeface="나눔스퀘어" panose="020B0600000101010101"/>
              </a:rPr>
              <a:t>탈출</a:t>
            </a:r>
            <a:r>
              <a:rPr lang="en-US" altLang="ko-KR" sz="1500" b="1" dirty="0">
                <a:ea typeface="나눔스퀘어" panose="020B0600000101010101"/>
              </a:rPr>
              <a:t>!</a:t>
            </a:r>
          </a:p>
          <a:p>
            <a:pPr marL="171450" indent="-171450" latinLnBrk="0">
              <a:lnSpc>
                <a:spcPct val="90000"/>
              </a:lnSpc>
              <a:spcAft>
                <a:spcPts val="600"/>
              </a:spcAft>
              <a:buFontTx/>
              <a:buChar char="-"/>
            </a:pPr>
            <a:endParaRPr lang="en-US" altLang="ko-KR" sz="1500" b="1" dirty="0">
              <a:ea typeface="나눔스퀘어" panose="020B0600000101010101"/>
            </a:endParaRPr>
          </a:p>
          <a:p>
            <a:pPr latinLnBrk="0">
              <a:lnSpc>
                <a:spcPct val="90000"/>
              </a:lnSpc>
              <a:spcAft>
                <a:spcPts val="600"/>
              </a:spcAft>
            </a:pPr>
            <a:r>
              <a:rPr lang="ko-KR" altLang="en-US" sz="1600" b="1" dirty="0">
                <a:solidFill>
                  <a:srgbClr val="0070C0"/>
                </a:solidFill>
                <a:ea typeface="나눔스퀘어" panose="020B0600000101010101"/>
              </a:rPr>
              <a:t>생명칩이 없는 생존자</a:t>
            </a:r>
            <a:endParaRPr lang="en-US" altLang="ko-KR" sz="1600" b="1" dirty="0">
              <a:ea typeface="나눔스퀘어" panose="020B0600000101010101"/>
            </a:endParaRPr>
          </a:p>
          <a:p>
            <a:pPr marL="171450" indent="-171450" latinLnBrk="0">
              <a:lnSpc>
                <a:spcPct val="90000"/>
              </a:lnSpc>
              <a:spcAft>
                <a:spcPts val="600"/>
              </a:spcAft>
              <a:buFontTx/>
              <a:buChar char="-"/>
            </a:pPr>
            <a:r>
              <a:rPr lang="ko-KR" altLang="en-US" sz="1500" b="1" dirty="0">
                <a:ea typeface="나눔스퀘어" panose="020B0600000101010101"/>
              </a:rPr>
              <a:t>제한된 수리만 가능</a:t>
            </a:r>
            <a:r>
              <a:rPr lang="en-US" altLang="ko-KR" sz="1500" b="1" dirty="0">
                <a:ea typeface="나눔스퀘어" panose="020B0600000101010101"/>
              </a:rPr>
              <a:t> </a:t>
            </a:r>
            <a:r>
              <a:rPr lang="en-US" altLang="ko-KR" sz="1500" dirty="0">
                <a:ea typeface="나눔스퀘어" panose="020B0600000101010101"/>
              </a:rPr>
              <a:t>(</a:t>
            </a:r>
            <a:r>
              <a:rPr lang="ko-KR" altLang="en-US" sz="1500" dirty="0">
                <a:ea typeface="나눔스퀘어" panose="020B0600000101010101"/>
              </a:rPr>
              <a:t>전력장치 스스로 열기 불가</a:t>
            </a:r>
            <a:r>
              <a:rPr lang="en-US" altLang="ko-KR" sz="1500" dirty="0">
                <a:ea typeface="나눔스퀘어" panose="020B0600000101010101"/>
              </a:rPr>
              <a:t>)</a:t>
            </a:r>
          </a:p>
          <a:p>
            <a:pPr marL="171450" indent="-171450" latinLnBrk="0">
              <a:lnSpc>
                <a:spcPct val="90000"/>
              </a:lnSpc>
              <a:spcAft>
                <a:spcPts val="600"/>
              </a:spcAft>
              <a:buFontTx/>
              <a:buChar char="-"/>
            </a:pPr>
            <a:r>
              <a:rPr lang="ko-KR" altLang="en-US" sz="1500" b="1" dirty="0">
                <a:ea typeface="나눔스퀘어" panose="020B0600000101010101"/>
              </a:rPr>
              <a:t>수리도구를 직접 얻을 수 없음</a:t>
            </a:r>
            <a:endParaRPr lang="en-US" altLang="ko-KR" sz="1500" b="1" dirty="0">
              <a:ea typeface="나눔스퀘어" panose="020B0600000101010101"/>
            </a:endParaRPr>
          </a:p>
          <a:p>
            <a:pPr marL="171450" indent="-171450" latinLnBrk="0">
              <a:lnSpc>
                <a:spcPct val="90000"/>
              </a:lnSpc>
              <a:spcAft>
                <a:spcPts val="600"/>
              </a:spcAft>
              <a:buFontTx/>
              <a:buChar char="-"/>
            </a:pPr>
            <a:r>
              <a:rPr lang="ko-KR" altLang="en-US" sz="1500" b="1" dirty="0">
                <a:ea typeface="나눔스퀘어" panose="020B0600000101010101"/>
              </a:rPr>
              <a:t>제한된 이동만 가능 </a:t>
            </a:r>
            <a:r>
              <a:rPr lang="en-US" altLang="ko-KR" sz="1500" dirty="0">
                <a:ea typeface="나눔스퀘어" panose="020B0600000101010101"/>
              </a:rPr>
              <a:t>(</a:t>
            </a:r>
            <a:r>
              <a:rPr lang="ko-KR" altLang="en-US" sz="1500" dirty="0">
                <a:ea typeface="나눔스퀘어" panose="020B0600000101010101"/>
              </a:rPr>
              <a:t>도어를 스스로 열 수 없음</a:t>
            </a:r>
            <a:r>
              <a:rPr lang="en-US" altLang="ko-KR" sz="1500" dirty="0">
                <a:ea typeface="나눔스퀘어" panose="020B0600000101010101"/>
              </a:rPr>
              <a:t>)</a:t>
            </a:r>
          </a:p>
          <a:p>
            <a:pPr latinLnBrk="0">
              <a:lnSpc>
                <a:spcPct val="90000"/>
              </a:lnSpc>
              <a:spcAft>
                <a:spcPts val="600"/>
              </a:spcAft>
            </a:pPr>
            <a:endParaRPr lang="en-US" altLang="ko-KR" sz="1500" b="1" dirty="0">
              <a:ea typeface="나눔스퀘어" panose="020B0600000101010101"/>
            </a:endParaRPr>
          </a:p>
          <a:p>
            <a:r>
              <a:rPr lang="ko-KR" altLang="en-US" sz="1600" b="1" dirty="0">
                <a:solidFill>
                  <a:srgbClr val="C00000"/>
                </a:solidFill>
                <a:latin typeface="나눔스퀘어 ExtraBold" panose="020B0600000101010101" pitchFamily="50" charset="-127"/>
                <a:ea typeface="나눔스퀘어" panose="020B0600000101010101"/>
              </a:rPr>
              <a:t>술래</a:t>
            </a:r>
            <a:endParaRPr lang="en-US" altLang="ko-KR" sz="1500" b="1" dirty="0">
              <a:solidFill>
                <a:srgbClr val="C00000"/>
              </a:solidFill>
              <a:latin typeface="나눔스퀘어 ExtraBold" panose="020B0600000101010101" pitchFamily="50" charset="-127"/>
              <a:ea typeface="나눔스퀘어" panose="020B0600000101010101"/>
            </a:endParaRPr>
          </a:p>
          <a:p>
            <a:pPr marL="285750" indent="-285750">
              <a:buFontTx/>
              <a:buChar char="-"/>
            </a:pPr>
            <a:r>
              <a:rPr lang="ko-KR" altLang="en-US" sz="1500" b="1" dirty="0">
                <a:latin typeface="나눔스퀘어 ExtraBold" panose="020B0600000101010101" pitchFamily="50" charset="-127"/>
                <a:ea typeface="나눔스퀘어" panose="020B0600000101010101"/>
              </a:rPr>
              <a:t>생존자가 탈출하지 못하게 방해</a:t>
            </a:r>
            <a:r>
              <a:rPr lang="ko-KR" altLang="en-US" sz="1500" dirty="0">
                <a:latin typeface="나눔스퀘어 ExtraBold" panose="020B0600000101010101" pitchFamily="50" charset="-127"/>
                <a:ea typeface="나눔스퀘어" panose="020B0600000101010101"/>
              </a:rPr>
              <a:t>한다</a:t>
            </a:r>
            <a:r>
              <a:rPr lang="en-US" altLang="ko-KR" sz="1500" dirty="0">
                <a:latin typeface="나눔스퀘어 ExtraBold" panose="020B0600000101010101" pitchFamily="50" charset="-127"/>
                <a:ea typeface="나눔스퀘어" panose="020B0600000101010101"/>
              </a:rPr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sz="1500" b="1" dirty="0">
                <a:latin typeface="나눔스퀘어 ExtraBold" panose="020B0600000101010101" pitchFamily="50" charset="-127"/>
                <a:ea typeface="나눔스퀘어" panose="020B0600000101010101"/>
              </a:rPr>
              <a:t>생존자가 탈출하면 패배</a:t>
            </a:r>
            <a:endParaRPr lang="en-US" altLang="ko-KR" sz="1500" b="1" dirty="0">
              <a:latin typeface="나눔스퀘어 ExtraBold" panose="020B0600000101010101" pitchFamily="50" charset="-127"/>
              <a:ea typeface="나눔스퀘어" panose="020B0600000101010101"/>
            </a:endParaRPr>
          </a:p>
          <a:p>
            <a:pPr marL="285750" indent="-285750">
              <a:buFontTx/>
              <a:buChar char="-"/>
            </a:pPr>
            <a:r>
              <a:rPr lang="ko-KR" altLang="en-US" sz="1500" b="1" dirty="0">
                <a:latin typeface="나눔스퀘어 ExtraBold" panose="020B0600000101010101" pitchFamily="50" charset="-127"/>
                <a:ea typeface="나눔스퀘어" panose="020B0600000101010101"/>
              </a:rPr>
              <a:t>게임내 시간 </a:t>
            </a:r>
            <a:r>
              <a:rPr lang="en-US" altLang="ko-KR" sz="1500" b="1" dirty="0">
                <a:latin typeface="나눔스퀘어 ExtraBold" panose="020B0600000101010101" pitchFamily="50" charset="-127"/>
                <a:ea typeface="나눔스퀘어" panose="020B0600000101010101"/>
              </a:rPr>
              <a:t>24</a:t>
            </a:r>
            <a:r>
              <a:rPr lang="ko-KR" altLang="en-US" sz="1500" b="1" dirty="0">
                <a:latin typeface="나눔스퀘어 ExtraBold" panose="020B0600000101010101" pitchFamily="50" charset="-127"/>
                <a:ea typeface="나눔스퀘어" panose="020B0600000101010101"/>
              </a:rPr>
              <a:t>시간이 지나면 술래 이동속도 증가</a:t>
            </a:r>
            <a:endParaRPr lang="en-US" altLang="ko-KR" sz="1500" b="1" dirty="0">
              <a:ea typeface="나눔스퀘어" panose="020B0600000101010101"/>
            </a:endParaRPr>
          </a:p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ko-KR" sz="1200" b="1" dirty="0">
              <a:ea typeface="나눔스퀘어" panose="020B0600000101010101"/>
            </a:endParaRPr>
          </a:p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ko-KR" sz="1200" b="1" dirty="0">
              <a:ea typeface="나눔스퀘어" panose="020B0600000101010101"/>
            </a:endParaRPr>
          </a:p>
          <a:p>
            <a:pPr latinLnBrk="0">
              <a:lnSpc>
                <a:spcPct val="90000"/>
              </a:lnSpc>
              <a:spcAft>
                <a:spcPts val="600"/>
              </a:spcAft>
            </a:pPr>
            <a:endParaRPr lang="en-US" altLang="ko-KR" sz="1200" b="1" dirty="0">
              <a:ea typeface="나눔스퀘어" panose="020B0600000101010101"/>
            </a:endParaRPr>
          </a:p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ko-KR" sz="2200" b="1" dirty="0">
              <a:ea typeface="나눔스퀘어" panose="020B0600000101010101"/>
            </a:endParaRPr>
          </a:p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ko-KR" sz="2200" b="1" dirty="0">
              <a:ea typeface="나눔스퀘어" panose="020B0600000101010101"/>
            </a:endParaRPr>
          </a:p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ko-KR" sz="2200" b="1" dirty="0">
              <a:ea typeface="나눔스퀘어" panose="020B0600000101010101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698B641-BB9C-24A7-A42E-3192A6FC7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36F23-2DE0-4C93-9E4D-3BD093BFA6C9}" type="slidenum">
              <a:rPr lang="ko-KR" altLang="en-US" smtClean="0">
                <a:solidFill>
                  <a:schemeClr val="tx1"/>
                </a:solidFill>
              </a:rPr>
              <a:t>9</a:t>
            </a:fld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5296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0914C1B-77C9-214F-4017-25DE728B1F42}"/>
              </a:ext>
            </a:extLst>
          </p:cNvPr>
          <p:cNvSpPr/>
          <p:nvPr/>
        </p:nvSpPr>
        <p:spPr>
          <a:xfrm>
            <a:off x="284047" y="272634"/>
            <a:ext cx="45719" cy="49638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35E62E-C2D0-F086-7AC8-8E9CC6DDAB42}"/>
              </a:ext>
            </a:extLst>
          </p:cNvPr>
          <p:cNvSpPr txBox="1"/>
          <p:nvPr/>
        </p:nvSpPr>
        <p:spPr>
          <a:xfrm>
            <a:off x="329766" y="272634"/>
            <a:ext cx="46572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/>
                <a:ea typeface="나눔스퀘어" panose="020B0600000101010101"/>
              </a:rPr>
              <a:t>04 </a:t>
            </a: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게임 소개 </a:t>
            </a:r>
            <a:endParaRPr lang="ko-KR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/>
              <a:ea typeface="나눔스퀘어" panose="020B0600000101010101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7CCCD1-E595-47D7-9130-1AA9F32402CB}"/>
              </a:ext>
            </a:extLst>
          </p:cNvPr>
          <p:cNvSpPr txBox="1"/>
          <p:nvPr/>
        </p:nvSpPr>
        <p:spPr>
          <a:xfrm>
            <a:off x="375485" y="611188"/>
            <a:ext cx="46572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/>
                <a:ea typeface="나눔스퀘어" panose="020B0600000101010101"/>
              </a:rPr>
              <a:t>조작법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376AD3C1-29F7-32EA-0D85-C9DDFCEACC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0565" y="1474629"/>
            <a:ext cx="4876800" cy="4661842"/>
          </a:xfrm>
          <a:prstGeom prst="rect">
            <a:avLst/>
          </a:prstGeom>
          <a:noFill/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B7DFF939-E1E6-1BA2-E50F-D331D3C26973}"/>
              </a:ext>
            </a:extLst>
          </p:cNvPr>
          <p:cNvSpPr/>
          <p:nvPr/>
        </p:nvSpPr>
        <p:spPr>
          <a:xfrm>
            <a:off x="7197131" y="3577716"/>
            <a:ext cx="191591" cy="185053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E9815FA-9869-CB51-C6F5-3E815262BC70}"/>
              </a:ext>
            </a:extLst>
          </p:cNvPr>
          <p:cNvSpPr/>
          <p:nvPr/>
        </p:nvSpPr>
        <p:spPr>
          <a:xfrm>
            <a:off x="7013328" y="3799786"/>
            <a:ext cx="191591" cy="185053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6CF8132-D0BD-B3A8-61F3-CA6ACE63AA95}"/>
              </a:ext>
            </a:extLst>
          </p:cNvPr>
          <p:cNvSpPr/>
          <p:nvPr/>
        </p:nvSpPr>
        <p:spPr>
          <a:xfrm>
            <a:off x="7253566" y="3791078"/>
            <a:ext cx="191591" cy="185053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4424150-87E4-6B56-604D-92D594D71F87}"/>
              </a:ext>
            </a:extLst>
          </p:cNvPr>
          <p:cNvSpPr/>
          <p:nvPr/>
        </p:nvSpPr>
        <p:spPr>
          <a:xfrm>
            <a:off x="7497493" y="3799786"/>
            <a:ext cx="191591" cy="185053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6D4BF2F-568D-986B-A573-BC62C82CFFC9}"/>
              </a:ext>
            </a:extLst>
          </p:cNvPr>
          <p:cNvSpPr/>
          <p:nvPr/>
        </p:nvSpPr>
        <p:spPr>
          <a:xfrm>
            <a:off x="1545019" y="2617633"/>
            <a:ext cx="191591" cy="185053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0747C6-BF17-37D6-0548-780DC77FFA7B}"/>
              </a:ext>
            </a:extLst>
          </p:cNvPr>
          <p:cNvSpPr txBox="1"/>
          <p:nvPr/>
        </p:nvSpPr>
        <p:spPr>
          <a:xfrm>
            <a:off x="1845107" y="2556270"/>
            <a:ext cx="18291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W, A, S, D : </a:t>
            </a:r>
            <a:r>
              <a:rPr lang="ko-KR" altLang="en-US" sz="1400" dirty="0"/>
              <a:t>이동</a:t>
            </a:r>
            <a:endParaRPr lang="en-US" altLang="ko-KR" sz="14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A522119-699F-DBD4-97FC-CCA800989A03}"/>
              </a:ext>
            </a:extLst>
          </p:cNvPr>
          <p:cNvSpPr/>
          <p:nvPr/>
        </p:nvSpPr>
        <p:spPr>
          <a:xfrm>
            <a:off x="7602080" y="4267168"/>
            <a:ext cx="1123405" cy="185053"/>
          </a:xfrm>
          <a:prstGeom prst="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DBE009C-0E5D-3156-C296-AC1B02F45512}"/>
              </a:ext>
            </a:extLst>
          </p:cNvPr>
          <p:cNvSpPr/>
          <p:nvPr/>
        </p:nvSpPr>
        <p:spPr>
          <a:xfrm>
            <a:off x="1545019" y="2990464"/>
            <a:ext cx="191591" cy="185053"/>
          </a:xfrm>
          <a:prstGeom prst="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C7C175-1641-6E8E-DC28-CBECB5D4758D}"/>
              </a:ext>
            </a:extLst>
          </p:cNvPr>
          <p:cNvSpPr txBox="1"/>
          <p:nvPr/>
        </p:nvSpPr>
        <p:spPr>
          <a:xfrm>
            <a:off x="1845106" y="2929101"/>
            <a:ext cx="18291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SPACE : </a:t>
            </a:r>
            <a:r>
              <a:rPr lang="ko-KR" altLang="en-US" sz="1400" dirty="0"/>
              <a:t>점프</a:t>
            </a:r>
            <a:endParaRPr lang="en-US" altLang="ko-KR" sz="1400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E5719DC-C5F1-3779-8034-81D318697DF1}"/>
              </a:ext>
            </a:extLst>
          </p:cNvPr>
          <p:cNvSpPr/>
          <p:nvPr/>
        </p:nvSpPr>
        <p:spPr>
          <a:xfrm>
            <a:off x="6583262" y="3574124"/>
            <a:ext cx="336284" cy="208162"/>
          </a:xfrm>
          <a:prstGeom prst="rect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70BC262-71B4-883D-3AEC-DBA268D32512}"/>
              </a:ext>
            </a:extLst>
          </p:cNvPr>
          <p:cNvSpPr/>
          <p:nvPr/>
        </p:nvSpPr>
        <p:spPr>
          <a:xfrm>
            <a:off x="1545019" y="3359159"/>
            <a:ext cx="191591" cy="185053"/>
          </a:xfrm>
          <a:prstGeom prst="rect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EE61539-50BE-A76D-BA95-C238FF67CBED}"/>
              </a:ext>
            </a:extLst>
          </p:cNvPr>
          <p:cNvSpPr txBox="1"/>
          <p:nvPr/>
        </p:nvSpPr>
        <p:spPr>
          <a:xfrm>
            <a:off x="1845106" y="3301932"/>
            <a:ext cx="2837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TAB : </a:t>
            </a:r>
            <a:r>
              <a:rPr lang="ko-KR" altLang="en-US" sz="1400" dirty="0"/>
              <a:t>플레이어 상태 바 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맵보기</a:t>
            </a:r>
            <a:endParaRPr lang="en-US" altLang="ko-KR" sz="1400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23AF73F-180B-5F5C-09EF-B72B701B6C9D}"/>
              </a:ext>
            </a:extLst>
          </p:cNvPr>
          <p:cNvSpPr/>
          <p:nvPr/>
        </p:nvSpPr>
        <p:spPr>
          <a:xfrm>
            <a:off x="7729021" y="3811510"/>
            <a:ext cx="191591" cy="185053"/>
          </a:xfrm>
          <a:prstGeom prst="rect">
            <a:avLst/>
          </a:pr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D657B78-4340-99A7-ACF3-2D237192AAF0}"/>
              </a:ext>
            </a:extLst>
          </p:cNvPr>
          <p:cNvSpPr/>
          <p:nvPr/>
        </p:nvSpPr>
        <p:spPr>
          <a:xfrm>
            <a:off x="1545019" y="3726823"/>
            <a:ext cx="191591" cy="185053"/>
          </a:xfrm>
          <a:prstGeom prst="rect">
            <a:avLst/>
          </a:pr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87A2E10-1548-1E4E-C96F-F25BF9963DC3}"/>
              </a:ext>
            </a:extLst>
          </p:cNvPr>
          <p:cNvSpPr txBox="1"/>
          <p:nvPr/>
        </p:nvSpPr>
        <p:spPr>
          <a:xfrm>
            <a:off x="1845106" y="3674764"/>
            <a:ext cx="2837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F : </a:t>
            </a:r>
            <a:r>
              <a:rPr lang="ko-KR" altLang="en-US" sz="1400" dirty="0"/>
              <a:t>상호작용</a:t>
            </a:r>
            <a:endParaRPr lang="en-US" altLang="ko-KR" sz="1400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FD57B85-9A72-E9CE-7F53-B0ACF1000CF4}"/>
              </a:ext>
            </a:extLst>
          </p:cNvPr>
          <p:cNvSpPr/>
          <p:nvPr/>
        </p:nvSpPr>
        <p:spPr>
          <a:xfrm>
            <a:off x="7916506" y="3576960"/>
            <a:ext cx="191591" cy="185053"/>
          </a:xfrm>
          <a:prstGeom prst="rect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70D705B-492F-64FA-F884-A60E623720C3}"/>
              </a:ext>
            </a:extLst>
          </p:cNvPr>
          <p:cNvSpPr/>
          <p:nvPr/>
        </p:nvSpPr>
        <p:spPr>
          <a:xfrm>
            <a:off x="1545018" y="4094487"/>
            <a:ext cx="191591" cy="185053"/>
          </a:xfrm>
          <a:prstGeom prst="rect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C269A09-4E7E-1D00-3E08-B7F175014AE2}"/>
              </a:ext>
            </a:extLst>
          </p:cNvPr>
          <p:cNvSpPr txBox="1"/>
          <p:nvPr/>
        </p:nvSpPr>
        <p:spPr>
          <a:xfrm>
            <a:off x="1842115" y="4046468"/>
            <a:ext cx="2837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T : </a:t>
            </a:r>
            <a:r>
              <a:rPr lang="ko-KR" altLang="en-US" sz="1400" dirty="0"/>
              <a:t>채팅</a:t>
            </a:r>
            <a:endParaRPr lang="en-US" altLang="ko-KR" sz="1400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B4D1B08-DA39-22F5-DD07-43A45865722A}"/>
              </a:ext>
            </a:extLst>
          </p:cNvPr>
          <p:cNvSpPr/>
          <p:nvPr/>
        </p:nvSpPr>
        <p:spPr>
          <a:xfrm>
            <a:off x="6864617" y="3224259"/>
            <a:ext cx="196781" cy="77673"/>
          </a:xfrm>
          <a:prstGeom prst="rect">
            <a:avLst/>
          </a:prstGeom>
          <a:solidFill>
            <a:srgbClr val="CC99FF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A1437FA-2979-918F-4683-4D3448EBC2D3}"/>
              </a:ext>
            </a:extLst>
          </p:cNvPr>
          <p:cNvSpPr/>
          <p:nvPr/>
        </p:nvSpPr>
        <p:spPr>
          <a:xfrm>
            <a:off x="7078561" y="3235986"/>
            <a:ext cx="196781" cy="77673"/>
          </a:xfrm>
          <a:prstGeom prst="rect">
            <a:avLst/>
          </a:prstGeom>
          <a:solidFill>
            <a:srgbClr val="CC99FF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96D14C9-3306-EE03-B679-E8F3CB91C5F2}"/>
              </a:ext>
            </a:extLst>
          </p:cNvPr>
          <p:cNvSpPr/>
          <p:nvPr/>
        </p:nvSpPr>
        <p:spPr>
          <a:xfrm>
            <a:off x="7333543" y="3227191"/>
            <a:ext cx="196781" cy="77673"/>
          </a:xfrm>
          <a:prstGeom prst="rect">
            <a:avLst/>
          </a:prstGeom>
          <a:solidFill>
            <a:srgbClr val="CC99FF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3002CA4-7F49-991C-DF2B-C7B821B5C426}"/>
              </a:ext>
            </a:extLst>
          </p:cNvPr>
          <p:cNvSpPr/>
          <p:nvPr/>
        </p:nvSpPr>
        <p:spPr>
          <a:xfrm>
            <a:off x="7588518" y="3227193"/>
            <a:ext cx="196781" cy="77673"/>
          </a:xfrm>
          <a:prstGeom prst="rect">
            <a:avLst/>
          </a:prstGeom>
          <a:solidFill>
            <a:srgbClr val="CC99FF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1E521EF-AB29-2093-965A-3D4377E7540B}"/>
              </a:ext>
            </a:extLst>
          </p:cNvPr>
          <p:cNvSpPr/>
          <p:nvPr/>
        </p:nvSpPr>
        <p:spPr>
          <a:xfrm>
            <a:off x="1545017" y="4462151"/>
            <a:ext cx="191591" cy="185053"/>
          </a:xfrm>
          <a:prstGeom prst="rect">
            <a:avLst/>
          </a:prstGeom>
          <a:solidFill>
            <a:srgbClr val="CC99FF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02B67D6-3604-4501-F877-B1F98A7CB88F}"/>
              </a:ext>
            </a:extLst>
          </p:cNvPr>
          <p:cNvSpPr txBox="1"/>
          <p:nvPr/>
        </p:nvSpPr>
        <p:spPr>
          <a:xfrm>
            <a:off x="1842115" y="4418172"/>
            <a:ext cx="2837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F1, F2, F3, F4 : </a:t>
            </a:r>
            <a:r>
              <a:rPr lang="ko-KR" altLang="en-US" sz="1400" dirty="0"/>
              <a:t>술래 스킬</a:t>
            </a:r>
            <a:endParaRPr lang="en-US" altLang="ko-KR" sz="1400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2B81D1-CDD9-2406-8CBA-143A25CDE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36F23-2DE0-4C93-9E4D-3BD093BFA6C9}" type="slidenum">
              <a:rPr lang="ko-KR" altLang="en-US" smtClean="0">
                <a:solidFill>
                  <a:schemeClr val="tx1"/>
                </a:solidFill>
              </a:rPr>
              <a:t>10</a:t>
            </a:fld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4415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A3D2A2B8-7D26-7C7A-5590-53E26C8645DD}"/>
              </a:ext>
            </a:extLst>
          </p:cNvPr>
          <p:cNvSpPr txBox="1"/>
          <p:nvPr/>
        </p:nvSpPr>
        <p:spPr>
          <a:xfrm>
            <a:off x="329766" y="272634"/>
            <a:ext cx="46572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/>
                <a:ea typeface="나눔스퀘어" panose="020B0600000101010101"/>
              </a:rPr>
              <a:t>04 </a:t>
            </a: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게임 소개 </a:t>
            </a:r>
            <a:endParaRPr lang="ko-KR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/>
              <a:ea typeface="나눔스퀘어" panose="020B0600000101010101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0914C1B-77C9-214F-4017-25DE728B1F42}"/>
              </a:ext>
            </a:extLst>
          </p:cNvPr>
          <p:cNvSpPr/>
          <p:nvPr/>
        </p:nvSpPr>
        <p:spPr>
          <a:xfrm>
            <a:off x="284047" y="272634"/>
            <a:ext cx="45719" cy="49638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4110D2-8659-74C8-6C6B-6987AE552330}"/>
              </a:ext>
            </a:extLst>
          </p:cNvPr>
          <p:cNvSpPr txBox="1"/>
          <p:nvPr/>
        </p:nvSpPr>
        <p:spPr>
          <a:xfrm>
            <a:off x="375485" y="611188"/>
            <a:ext cx="46572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/>
                <a:ea typeface="나눔스퀘어" panose="020B0600000101010101"/>
              </a:rPr>
              <a:t>게임 흐름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DE854BC-F390-96E1-CA7F-6F5F15F3B5D0}"/>
              </a:ext>
            </a:extLst>
          </p:cNvPr>
          <p:cNvSpPr/>
          <p:nvPr/>
        </p:nvSpPr>
        <p:spPr>
          <a:xfrm>
            <a:off x="3143621" y="1369168"/>
            <a:ext cx="1259396" cy="7666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게임 시작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041238F-464C-1014-98A4-7D7C3BB333CC}"/>
              </a:ext>
            </a:extLst>
          </p:cNvPr>
          <p:cNvSpPr/>
          <p:nvPr/>
        </p:nvSpPr>
        <p:spPr>
          <a:xfrm>
            <a:off x="4720046" y="1365678"/>
            <a:ext cx="1259396" cy="7666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술래 결정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6768362-F1F8-B5C9-C276-E2E8EDA6EE27}"/>
              </a:ext>
            </a:extLst>
          </p:cNvPr>
          <p:cNvSpPr/>
          <p:nvPr/>
        </p:nvSpPr>
        <p:spPr>
          <a:xfrm>
            <a:off x="5116662" y="3058987"/>
            <a:ext cx="1893454" cy="7666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술래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4FB30AF-65F8-5805-9F33-D5237F2E348B}"/>
              </a:ext>
            </a:extLst>
          </p:cNvPr>
          <p:cNvSpPr/>
          <p:nvPr/>
        </p:nvSpPr>
        <p:spPr>
          <a:xfrm>
            <a:off x="7159551" y="3058987"/>
            <a:ext cx="1893454" cy="7666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생존자</a:t>
            </a:r>
            <a:endParaRPr lang="en-US" altLang="ko-KR" dirty="0"/>
          </a:p>
        </p:txBody>
      </p:sp>
      <p:sp>
        <p:nvSpPr>
          <p:cNvPr id="16" name="다이아몬드 15">
            <a:extLst>
              <a:ext uri="{FF2B5EF4-FFF2-40B4-BE49-F238E27FC236}">
                <a16:creationId xmlns:a16="http://schemas.microsoft.com/office/drawing/2014/main" id="{AAE15983-D70D-DB3A-1902-B52768F3BCF7}"/>
              </a:ext>
            </a:extLst>
          </p:cNvPr>
          <p:cNvSpPr/>
          <p:nvPr/>
        </p:nvSpPr>
        <p:spPr>
          <a:xfrm>
            <a:off x="6128876" y="4430590"/>
            <a:ext cx="1893453" cy="766619"/>
          </a:xfrm>
          <a:prstGeom prst="diamond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승리 조건</a:t>
            </a:r>
          </a:p>
        </p:txBody>
      </p:sp>
      <p:sp>
        <p:nvSpPr>
          <p:cNvPr id="17" name="다이아몬드 16">
            <a:extLst>
              <a:ext uri="{FF2B5EF4-FFF2-40B4-BE49-F238E27FC236}">
                <a16:creationId xmlns:a16="http://schemas.microsoft.com/office/drawing/2014/main" id="{08E50A22-CC56-7262-8FD6-80B3E5BA8CA4}"/>
              </a:ext>
            </a:extLst>
          </p:cNvPr>
          <p:cNvSpPr/>
          <p:nvPr/>
        </p:nvSpPr>
        <p:spPr>
          <a:xfrm>
            <a:off x="6128877" y="1368747"/>
            <a:ext cx="1893453" cy="766619"/>
          </a:xfrm>
          <a:prstGeom prst="diamond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역할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7874642-9E9F-9DE5-6112-EB50DC00A3D2}"/>
              </a:ext>
            </a:extLst>
          </p:cNvPr>
          <p:cNvSpPr/>
          <p:nvPr/>
        </p:nvSpPr>
        <p:spPr>
          <a:xfrm>
            <a:off x="6128875" y="5640558"/>
            <a:ext cx="1893454" cy="7666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생존자 승리</a:t>
            </a: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733D920E-04F5-C391-E19B-B45543C347B8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 flipV="1">
            <a:off x="4403017" y="1748988"/>
            <a:ext cx="317029" cy="349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328B4D5C-0B03-DE8D-A348-F4DABCAAEC53}"/>
              </a:ext>
            </a:extLst>
          </p:cNvPr>
          <p:cNvCxnSpPr>
            <a:cxnSpLocks/>
            <a:stCxn id="7" idx="3"/>
            <a:endCxn id="17" idx="1"/>
          </p:cNvCxnSpPr>
          <p:nvPr/>
        </p:nvCxnSpPr>
        <p:spPr>
          <a:xfrm>
            <a:off x="5979442" y="1748988"/>
            <a:ext cx="149435" cy="30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319B3C4F-3DB7-B0D0-F63D-ABF125EA1733}"/>
              </a:ext>
            </a:extLst>
          </p:cNvPr>
          <p:cNvCxnSpPr>
            <a:stCxn id="17" idx="2"/>
            <a:endCxn id="11" idx="0"/>
          </p:cNvCxnSpPr>
          <p:nvPr/>
        </p:nvCxnSpPr>
        <p:spPr>
          <a:xfrm flipH="1">
            <a:off x="6063389" y="2135366"/>
            <a:ext cx="1012215" cy="92362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65139195-76FD-FD9B-D5A3-483365CB59CE}"/>
              </a:ext>
            </a:extLst>
          </p:cNvPr>
          <p:cNvCxnSpPr>
            <a:stCxn id="17" idx="2"/>
            <a:endCxn id="14" idx="0"/>
          </p:cNvCxnSpPr>
          <p:nvPr/>
        </p:nvCxnSpPr>
        <p:spPr>
          <a:xfrm>
            <a:off x="7075604" y="2135366"/>
            <a:ext cx="1030674" cy="92362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E4D5A400-267F-E292-4192-4F3DE623A52D}"/>
              </a:ext>
            </a:extLst>
          </p:cNvPr>
          <p:cNvCxnSpPr>
            <a:stCxn id="11" idx="2"/>
            <a:endCxn id="16" idx="0"/>
          </p:cNvCxnSpPr>
          <p:nvPr/>
        </p:nvCxnSpPr>
        <p:spPr>
          <a:xfrm>
            <a:off x="6063389" y="3825606"/>
            <a:ext cx="1012214" cy="60498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8738CEC1-3ED0-82C6-74B3-09EB47C768A1}"/>
              </a:ext>
            </a:extLst>
          </p:cNvPr>
          <p:cNvCxnSpPr>
            <a:cxnSpLocks/>
            <a:stCxn id="14" idx="2"/>
            <a:endCxn id="16" idx="0"/>
          </p:cNvCxnSpPr>
          <p:nvPr/>
        </p:nvCxnSpPr>
        <p:spPr>
          <a:xfrm flipH="1">
            <a:off x="7075603" y="3825606"/>
            <a:ext cx="1030675" cy="60498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F41C56E7-AA91-F05D-E1C8-3541F0DBF597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7075603" y="5197209"/>
            <a:ext cx="0" cy="44334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2D9F3DF8-97DB-29D5-0048-2BBFAD55D9C0}"/>
              </a:ext>
            </a:extLst>
          </p:cNvPr>
          <p:cNvSpPr txBox="1"/>
          <p:nvPr/>
        </p:nvSpPr>
        <p:spPr>
          <a:xfrm>
            <a:off x="8145973" y="249154"/>
            <a:ext cx="41387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술래 승리 조건</a:t>
            </a:r>
            <a:endParaRPr lang="en-US" altLang="ko-KR" sz="1200" dirty="0"/>
          </a:p>
          <a:p>
            <a:pPr marL="228600" indent="-228600">
              <a:buAutoNum type="arabicPeriod"/>
            </a:pPr>
            <a:r>
              <a:rPr lang="ko-KR" altLang="en-US" sz="1200" dirty="0"/>
              <a:t>재단에 생명칩을 일정 개수 이상 수집한다</a:t>
            </a:r>
            <a:r>
              <a:rPr lang="en-US" altLang="ko-KR" sz="1200" dirty="0"/>
              <a:t>.</a:t>
            </a:r>
          </a:p>
          <a:p>
            <a:pPr marL="228600" indent="-228600">
              <a:buAutoNum type="arabicPeriod"/>
            </a:pPr>
            <a:r>
              <a:rPr lang="ko-KR" altLang="en-US" sz="1200" dirty="0"/>
              <a:t>생존자들이 제한 시간 내 탈출하지 못하게 막는다</a:t>
            </a:r>
            <a:r>
              <a:rPr lang="en-US" altLang="ko-KR" sz="1200" dirty="0"/>
              <a:t>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F61E373-33F8-6481-01D1-C4A3FCE96790}"/>
              </a:ext>
            </a:extLst>
          </p:cNvPr>
          <p:cNvSpPr txBox="1"/>
          <p:nvPr/>
        </p:nvSpPr>
        <p:spPr>
          <a:xfrm>
            <a:off x="8152248" y="1198203"/>
            <a:ext cx="413249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생존자 승리 조건</a:t>
            </a:r>
            <a:endParaRPr lang="en-US" altLang="ko-KR" sz="1200" dirty="0"/>
          </a:p>
          <a:p>
            <a:pPr marL="228600" indent="-228600">
              <a:buAutoNum type="arabicPeriod"/>
            </a:pPr>
            <a:r>
              <a:rPr lang="ko-KR" altLang="en-US" sz="1200" dirty="0"/>
              <a:t>전력장치를 수리하여 방을 탈출한다</a:t>
            </a:r>
            <a:r>
              <a:rPr lang="en-US" altLang="ko-KR" sz="1200" dirty="0"/>
              <a:t>.</a:t>
            </a:r>
          </a:p>
          <a:p>
            <a:pPr marL="228600" indent="-228600">
              <a:buAutoNum type="arabicPeriod"/>
            </a:pPr>
            <a:r>
              <a:rPr lang="ko-KR" altLang="en-US" sz="1200" dirty="0"/>
              <a:t>제한시간동안 술래에게 생명칩을 정해진 개수 이하로 뺏기면 승리</a:t>
            </a:r>
            <a:endParaRPr lang="en-US" altLang="ko-KR" sz="1200" dirty="0"/>
          </a:p>
          <a:p>
            <a:pPr marL="228600" indent="-228600">
              <a:buAutoNum type="arabicPeriod"/>
            </a:pPr>
            <a:endParaRPr lang="en-US" altLang="ko-KR" sz="12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94E7118-DAAD-2BD2-3D73-BC5EC017E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36F23-2DE0-4C93-9E4D-3BD093BFA6C9}" type="slidenum">
              <a:rPr lang="ko-KR" altLang="en-US" smtClean="0">
                <a:solidFill>
                  <a:schemeClr val="tx1"/>
                </a:solidFill>
              </a:rPr>
              <a:t>11</a:t>
            </a:fld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009458F-5552-20CB-9308-0BADC37D4F06}"/>
              </a:ext>
            </a:extLst>
          </p:cNvPr>
          <p:cNvSpPr/>
          <p:nvPr/>
        </p:nvSpPr>
        <p:spPr>
          <a:xfrm>
            <a:off x="3762058" y="4430590"/>
            <a:ext cx="1893454" cy="7666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술래 승리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0973D81-36B2-C0BC-8C70-5DD79924373A}"/>
              </a:ext>
            </a:extLst>
          </p:cNvPr>
          <p:cNvSpPr/>
          <p:nvPr/>
        </p:nvSpPr>
        <p:spPr>
          <a:xfrm>
            <a:off x="74418" y="1374018"/>
            <a:ext cx="1259396" cy="7666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로비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E3440B5-6CC3-BC06-501D-23007F1378B0}"/>
              </a:ext>
            </a:extLst>
          </p:cNvPr>
          <p:cNvSpPr/>
          <p:nvPr/>
        </p:nvSpPr>
        <p:spPr>
          <a:xfrm>
            <a:off x="1574801" y="1374019"/>
            <a:ext cx="1332020" cy="7666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게임룸</a:t>
            </a:r>
            <a:endParaRPr lang="ko-KR" altLang="en-US" dirty="0"/>
          </a:p>
        </p:txBody>
      </p: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A9E65B7D-47BB-88FB-D36E-EE0500C99B96}"/>
              </a:ext>
            </a:extLst>
          </p:cNvPr>
          <p:cNvCxnSpPr>
            <a:stCxn id="16" idx="1"/>
            <a:endCxn id="28" idx="3"/>
          </p:cNvCxnSpPr>
          <p:nvPr/>
        </p:nvCxnSpPr>
        <p:spPr>
          <a:xfrm flipH="1">
            <a:off x="5655512" y="4813900"/>
            <a:ext cx="47336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연결선: 꺾임 83">
            <a:extLst>
              <a:ext uri="{FF2B5EF4-FFF2-40B4-BE49-F238E27FC236}">
                <a16:creationId xmlns:a16="http://schemas.microsoft.com/office/drawing/2014/main" id="{B067CC26-07FD-B72C-FE51-E96CC964E6C9}"/>
              </a:ext>
            </a:extLst>
          </p:cNvPr>
          <p:cNvCxnSpPr>
            <a:stCxn id="18" idx="1"/>
            <a:endCxn id="35" idx="2"/>
          </p:cNvCxnSpPr>
          <p:nvPr/>
        </p:nvCxnSpPr>
        <p:spPr>
          <a:xfrm rot="10800000">
            <a:off x="2240811" y="2140638"/>
            <a:ext cx="3888064" cy="3883230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연결선: 꺾임 87">
            <a:extLst>
              <a:ext uri="{FF2B5EF4-FFF2-40B4-BE49-F238E27FC236}">
                <a16:creationId xmlns:a16="http://schemas.microsoft.com/office/drawing/2014/main" id="{5BD13831-3B15-CE6C-8AA0-E94F69765AA0}"/>
              </a:ext>
            </a:extLst>
          </p:cNvPr>
          <p:cNvCxnSpPr>
            <a:stCxn id="28" idx="1"/>
            <a:endCxn id="35" idx="2"/>
          </p:cNvCxnSpPr>
          <p:nvPr/>
        </p:nvCxnSpPr>
        <p:spPr>
          <a:xfrm rot="10800000">
            <a:off x="2240812" y="2140638"/>
            <a:ext cx="1521247" cy="2673262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1855A804-B717-1204-433C-B610098BB13B}"/>
              </a:ext>
            </a:extLst>
          </p:cNvPr>
          <p:cNvCxnSpPr>
            <a:stCxn id="34" idx="3"/>
            <a:endCxn id="35" idx="1"/>
          </p:cNvCxnSpPr>
          <p:nvPr/>
        </p:nvCxnSpPr>
        <p:spPr>
          <a:xfrm flipV="1">
            <a:off x="1333814" y="1757327"/>
            <a:ext cx="240987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DBFAB40C-4200-8CA0-070C-A24BAE969F98}"/>
              </a:ext>
            </a:extLst>
          </p:cNvPr>
          <p:cNvCxnSpPr>
            <a:cxnSpLocks/>
            <a:stCxn id="35" idx="3"/>
            <a:endCxn id="6" idx="1"/>
          </p:cNvCxnSpPr>
          <p:nvPr/>
        </p:nvCxnSpPr>
        <p:spPr>
          <a:xfrm flipV="1">
            <a:off x="2906821" y="1752478"/>
            <a:ext cx="236800" cy="485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3291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A3D2A2B8-7D26-7C7A-5590-53E26C8645DD}"/>
              </a:ext>
            </a:extLst>
          </p:cNvPr>
          <p:cNvSpPr txBox="1"/>
          <p:nvPr/>
        </p:nvSpPr>
        <p:spPr>
          <a:xfrm>
            <a:off x="329766" y="272634"/>
            <a:ext cx="61929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/>
                <a:ea typeface="나눔스퀘어" panose="020B0600000101010101"/>
              </a:rPr>
              <a:t>04 </a:t>
            </a: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/>
                <a:ea typeface="나눔스퀘어" panose="020B0600000101010101"/>
              </a:rPr>
              <a:t>게임 컨셉 </a:t>
            </a:r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/>
                <a:ea typeface="나눔스퀘어" panose="020B0600000101010101"/>
              </a:rPr>
              <a:t>: </a:t>
            </a: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/>
                <a:ea typeface="나눔스퀘어" panose="020B0600000101010101"/>
              </a:rPr>
              <a:t>공통으로 사용하는 오브젝트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0914C1B-77C9-214F-4017-25DE728B1F42}"/>
              </a:ext>
            </a:extLst>
          </p:cNvPr>
          <p:cNvSpPr/>
          <p:nvPr/>
        </p:nvSpPr>
        <p:spPr>
          <a:xfrm>
            <a:off x="284047" y="272634"/>
            <a:ext cx="45719" cy="46166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" name="표 36">
            <a:extLst>
              <a:ext uri="{FF2B5EF4-FFF2-40B4-BE49-F238E27FC236}">
                <a16:creationId xmlns:a16="http://schemas.microsoft.com/office/drawing/2014/main" id="{5669A113-807A-5A2F-F9B8-491272D637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7153553"/>
              </p:ext>
            </p:extLst>
          </p:nvPr>
        </p:nvGraphicFramePr>
        <p:xfrm>
          <a:off x="329766" y="2364459"/>
          <a:ext cx="11276080" cy="230986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314330">
                  <a:extLst>
                    <a:ext uri="{9D8B030D-6E8A-4147-A177-3AD203B41FA5}">
                      <a16:colId xmlns:a16="http://schemas.microsoft.com/office/drawing/2014/main" val="2832102245"/>
                    </a:ext>
                  </a:extLst>
                </a:gridCol>
                <a:gridCol w="2262956">
                  <a:extLst>
                    <a:ext uri="{9D8B030D-6E8A-4147-A177-3AD203B41FA5}">
                      <a16:colId xmlns:a16="http://schemas.microsoft.com/office/drawing/2014/main" val="43405759"/>
                    </a:ext>
                  </a:extLst>
                </a:gridCol>
                <a:gridCol w="6698794">
                  <a:extLst>
                    <a:ext uri="{9D8B030D-6E8A-4147-A177-3AD203B41FA5}">
                      <a16:colId xmlns:a16="http://schemas.microsoft.com/office/drawing/2014/main" val="385502117"/>
                    </a:ext>
                  </a:extLst>
                </a:gridCol>
              </a:tblGrid>
              <a:tr h="1154931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4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도어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나눔스퀘어 ExtraBold" panose="020B0600000101010101" pitchFamily="50" charset="-127"/>
                          <a:ea typeface="나눔스퀘어 ExtraBold" panose="020B0600000101010101"/>
                        </a:rPr>
                        <a:t>문을 잠금 모드로 설정 하거나 그냥 둘 수 있다</a:t>
                      </a:r>
                      <a:r>
                        <a:rPr lang="en-US" altLang="ko-KR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나눔스퀘어 ExtraBold" panose="020B0600000101010101" pitchFamily="50" charset="-127"/>
                          <a:ea typeface="나눔스퀘어 ExtraBold" panose="020B0600000101010101"/>
                        </a:rPr>
                        <a:t>.</a:t>
                      </a:r>
                      <a:endParaRPr lang="ko-KR" altLang="en-US" sz="18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7363268"/>
                  </a:ext>
                </a:extLst>
              </a:tr>
              <a:tr h="1154931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4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생명칩</a:t>
                      </a:r>
                      <a:endParaRPr lang="ko-KR" altLang="en-US" sz="24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나눔스퀘어 ExtraBold" panose="020B0600000101010101" pitchFamily="50" charset="-127"/>
                          <a:ea typeface="나눔스퀘어 ExtraBold" panose="020B0600000101010101"/>
                        </a:rPr>
                        <a:t>생존자는 생명칩을 가지고 플레이 하며</a:t>
                      </a:r>
                      <a:r>
                        <a:rPr lang="en-US" altLang="ko-KR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나눔스퀘어 ExtraBold" panose="020B0600000101010101" pitchFamily="50" charset="-127"/>
                          <a:ea typeface="나눔스퀘어 ExtraBold" panose="020B0600000101010101"/>
                        </a:rPr>
                        <a:t>, </a:t>
                      </a:r>
                    </a:p>
                    <a:p>
                      <a:pPr algn="ctr"/>
                      <a:r>
                        <a:rPr lang="ko-KR" altLang="en-US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나눔스퀘어 ExtraBold" panose="020B0600000101010101" pitchFamily="50" charset="-127"/>
                          <a:ea typeface="나눔스퀘어 ExtraBold" panose="020B0600000101010101"/>
                        </a:rPr>
                        <a:t>생명칩이 없는 경우 </a:t>
                      </a:r>
                      <a:r>
                        <a:rPr lang="ko-KR" altLang="en-US" sz="1800" b="1" u="sng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나눔스퀘어 ExtraBold" panose="020B0600000101010101" pitchFamily="50" charset="-127"/>
                          <a:ea typeface="나눔스퀘어 ExtraBold" panose="020B0600000101010101"/>
                        </a:rPr>
                        <a:t>상호작용에 제약이 생긴다</a:t>
                      </a:r>
                      <a:r>
                        <a:rPr lang="en-US" altLang="ko-KR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나눔스퀘어 ExtraBold" panose="020B0600000101010101" pitchFamily="50" charset="-127"/>
                          <a:ea typeface="나눔스퀘어 ExtraBold" panose="020B0600000101010101"/>
                        </a:rPr>
                        <a:t>.</a:t>
                      </a:r>
                      <a:endParaRPr lang="ko-KR" altLang="en-US" sz="18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8290876"/>
                  </a:ext>
                </a:extLst>
              </a:tr>
            </a:tbl>
          </a:graphicData>
        </a:graphic>
      </p:graphicFrame>
      <p:pic>
        <p:nvPicPr>
          <p:cNvPr id="6" name="그림 5" descr="텍스트, 시계이(가) 표시된 사진&#10;&#10;자동 생성된 설명">
            <a:extLst>
              <a:ext uri="{FF2B5EF4-FFF2-40B4-BE49-F238E27FC236}">
                <a16:creationId xmlns:a16="http://schemas.microsoft.com/office/drawing/2014/main" id="{1A36995C-F454-3A13-5800-5AFBE50340C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4424" y="2364459"/>
            <a:ext cx="2277670" cy="1145751"/>
          </a:xfrm>
          <a:prstGeom prst="rect">
            <a:avLst/>
          </a:prstGeom>
          <a:noFill/>
          <a:ln>
            <a:noFill/>
          </a:ln>
          <a:effectLst>
            <a:softEdge rad="38100"/>
          </a:effec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B37C667-2CD6-2C0D-34FB-04C866A24A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3056" y="3535797"/>
            <a:ext cx="2259068" cy="1138677"/>
          </a:xfrm>
          <a:prstGeom prst="rect">
            <a:avLst/>
          </a:prstGeom>
          <a:effectLst>
            <a:softEdge rad="38100"/>
          </a:effectLst>
        </p:spPr>
      </p:pic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6C6B7FBF-F34C-0203-2311-2913312DA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36F23-2DE0-4C93-9E4D-3BD093BFA6C9}" type="slidenum">
              <a:rPr lang="ko-KR" altLang="en-US" smtClean="0">
                <a:solidFill>
                  <a:schemeClr val="tx1"/>
                </a:solidFill>
              </a:rPr>
              <a:t>12</a:t>
            </a:fld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4500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A3D2A2B8-7D26-7C7A-5590-53E26C8645DD}"/>
              </a:ext>
            </a:extLst>
          </p:cNvPr>
          <p:cNvSpPr txBox="1"/>
          <p:nvPr/>
        </p:nvSpPr>
        <p:spPr>
          <a:xfrm>
            <a:off x="329765" y="272634"/>
            <a:ext cx="61602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/>
                <a:ea typeface="나눔스퀘어" panose="020B0600000101010101"/>
              </a:rPr>
              <a:t>04 </a:t>
            </a: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/>
                <a:ea typeface="나눔스퀘어" panose="020B0600000101010101"/>
              </a:rPr>
              <a:t>게임 컨셉 </a:t>
            </a:r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/>
                <a:ea typeface="나눔스퀘어" panose="020B0600000101010101"/>
              </a:rPr>
              <a:t>: </a:t>
            </a: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/>
                <a:ea typeface="나눔스퀘어" panose="020B0600000101010101"/>
              </a:rPr>
              <a:t>생존자가 사용하는 오브젝트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0914C1B-77C9-214F-4017-25DE728B1F42}"/>
              </a:ext>
            </a:extLst>
          </p:cNvPr>
          <p:cNvSpPr/>
          <p:nvPr/>
        </p:nvSpPr>
        <p:spPr>
          <a:xfrm>
            <a:off x="284047" y="272634"/>
            <a:ext cx="45719" cy="49638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6" name="표 36">
            <a:extLst>
              <a:ext uri="{FF2B5EF4-FFF2-40B4-BE49-F238E27FC236}">
                <a16:creationId xmlns:a16="http://schemas.microsoft.com/office/drawing/2014/main" id="{DAEF75AD-3455-DDA4-404A-912D9B70B2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0399073"/>
              </p:ext>
            </p:extLst>
          </p:nvPr>
        </p:nvGraphicFramePr>
        <p:xfrm>
          <a:off x="449421" y="1370454"/>
          <a:ext cx="11293158" cy="461972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317835">
                  <a:extLst>
                    <a:ext uri="{9D8B030D-6E8A-4147-A177-3AD203B41FA5}">
                      <a16:colId xmlns:a16="http://schemas.microsoft.com/office/drawing/2014/main" val="2832102245"/>
                    </a:ext>
                  </a:extLst>
                </a:gridCol>
                <a:gridCol w="2266383">
                  <a:extLst>
                    <a:ext uri="{9D8B030D-6E8A-4147-A177-3AD203B41FA5}">
                      <a16:colId xmlns:a16="http://schemas.microsoft.com/office/drawing/2014/main" val="43405759"/>
                    </a:ext>
                  </a:extLst>
                </a:gridCol>
                <a:gridCol w="6708940">
                  <a:extLst>
                    <a:ext uri="{9D8B030D-6E8A-4147-A177-3AD203B41FA5}">
                      <a16:colId xmlns:a16="http://schemas.microsoft.com/office/drawing/2014/main" val="385502117"/>
                    </a:ext>
                  </a:extLst>
                </a:gridCol>
              </a:tblGrid>
              <a:tr h="11549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>
                          <a:solidFill>
                            <a:srgbClr val="404040"/>
                          </a:solidFill>
                          <a:ea typeface="나눔스퀘어" panose="020B0600000101010101"/>
                        </a:rPr>
                        <a:t>전력장치</a:t>
                      </a:r>
                      <a:endParaRPr lang="en-US" altLang="ko-KR" sz="2400" dirty="0">
                        <a:solidFill>
                          <a:srgbClr val="404040"/>
                        </a:solidFill>
                        <a:ea typeface="나눔스퀘어" panose="020B0600000101010101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나눔스퀘어 ExtraBold" panose="020B0600000101010101" pitchFamily="50" charset="-127"/>
                          <a:ea typeface="나눔스퀘어 ExtraBold" panose="020B0600000101010101"/>
                        </a:rPr>
                        <a:t>탈출장치를 작동시키기 위해 각 방에 숨겨진</a:t>
                      </a:r>
                      <a:endParaRPr lang="en-US" altLang="ko-KR" sz="18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나눔스퀘어 ExtraBold" panose="020B0600000101010101" pitchFamily="50" charset="-127"/>
                        <a:ea typeface="나눔스퀘어 ExtraBold" panose="020B0600000101010101"/>
                      </a:endParaRPr>
                    </a:p>
                    <a:p>
                      <a:pPr algn="ctr"/>
                      <a:r>
                        <a:rPr lang="ko-KR" altLang="en-US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나눔스퀘어 ExtraBold" panose="020B0600000101010101" pitchFamily="50" charset="-127"/>
                          <a:ea typeface="나눔스퀘어 ExtraBold" panose="020B0600000101010101"/>
                        </a:rPr>
                        <a:t>전력장치 총 </a:t>
                      </a:r>
                      <a:r>
                        <a:rPr lang="en-US" altLang="ko-KR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나눔스퀘어 ExtraBold" panose="020B0600000101010101" pitchFamily="50" charset="-127"/>
                          <a:ea typeface="나눔스퀘어 ExtraBold" panose="020B0600000101010101"/>
                        </a:rPr>
                        <a:t>4</a:t>
                      </a:r>
                      <a:r>
                        <a:rPr lang="ko-KR" altLang="en-US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나눔스퀘어 ExtraBold" panose="020B0600000101010101" pitchFamily="50" charset="-127"/>
                          <a:ea typeface="나눔스퀘어 ExtraBold" panose="020B0600000101010101"/>
                        </a:rPr>
                        <a:t>개를 수리 하여야 한다</a:t>
                      </a:r>
                      <a:r>
                        <a:rPr lang="en-US" altLang="ko-KR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나눔스퀘어 ExtraBold" panose="020B0600000101010101" pitchFamily="50" charset="-127"/>
                          <a:ea typeface="나눔스퀘어 ExtraBold" panose="020B0600000101010101"/>
                        </a:rPr>
                        <a:t>.</a:t>
                      </a:r>
                      <a:endParaRPr lang="ko-KR" altLang="en-US" sz="18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7363268"/>
                  </a:ext>
                </a:extLst>
              </a:tr>
              <a:tr h="11549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>
                          <a:solidFill>
                            <a:srgbClr val="404040"/>
                          </a:solidFill>
                          <a:ea typeface="나눔스퀘어" panose="020B0600000101010101"/>
                        </a:rPr>
                        <a:t>탈출장치</a:t>
                      </a:r>
                      <a:endParaRPr lang="en-US" altLang="ko-KR" sz="2400">
                        <a:solidFill>
                          <a:srgbClr val="404040"/>
                        </a:solidFill>
                        <a:ea typeface="나눔스퀘어" panose="020B0600000101010101"/>
                      </a:endParaRPr>
                    </a:p>
                    <a:p>
                      <a:pPr algn="ctr" latinLnBrk="1"/>
                      <a:r>
                        <a:rPr lang="en-US" altLang="ko-KR" sz="2400">
                          <a:solidFill>
                            <a:srgbClr val="404040"/>
                          </a:solidFill>
                          <a:ea typeface="나눔스퀘어" panose="020B0600000101010101"/>
                        </a:rPr>
                        <a:t>(</a:t>
                      </a:r>
                      <a:r>
                        <a:rPr lang="ko-KR" altLang="en-US" sz="2400">
                          <a:solidFill>
                            <a:srgbClr val="404040"/>
                          </a:solidFill>
                          <a:ea typeface="나눔스퀘어" panose="020B0600000101010101"/>
                        </a:rPr>
                        <a:t>스위치</a:t>
                      </a:r>
                      <a:r>
                        <a:rPr lang="en-US" altLang="ko-KR" sz="2400">
                          <a:solidFill>
                            <a:srgbClr val="404040"/>
                          </a:solidFill>
                          <a:ea typeface="나눔스퀘어" panose="020B0600000101010101"/>
                        </a:rPr>
                        <a:t>)</a:t>
                      </a:r>
                      <a:endParaRPr lang="ko-KR" altLang="en-US" sz="2400" dirty="0">
                        <a:solidFill>
                          <a:srgbClr val="404040"/>
                        </a:solidFill>
                        <a:ea typeface="나눔스퀘어" panose="020B0600000101010101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전력장치를 전부 수리 한 후 탈출을 위해</a:t>
                      </a:r>
                      <a:r>
                        <a:rPr lang="en-US" altLang="ko-KR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 </a:t>
                      </a:r>
                      <a:r>
                        <a:rPr lang="ko-KR" altLang="en-US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스위치를 조작 해야함</a:t>
                      </a:r>
                      <a:r>
                        <a:rPr lang="en-US" altLang="ko-KR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.</a:t>
                      </a:r>
                      <a:endParaRPr lang="en-US" altLang="ko-KR" sz="18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  <a:p>
                      <a:pPr algn="ctr"/>
                      <a:r>
                        <a:rPr lang="ko-KR" altLang="en-US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스위치 조작 시 생존자 승리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8290876"/>
                  </a:ext>
                </a:extLst>
              </a:tr>
              <a:tr h="11549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>
                          <a:solidFill>
                            <a:srgbClr val="404040"/>
                          </a:solidFill>
                          <a:ea typeface="나눔스퀘어" panose="020B0600000101010101"/>
                        </a:rPr>
                        <a:t>수리도구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전력장치를 고치기 위한 수리도구 </a:t>
                      </a:r>
                      <a:r>
                        <a:rPr lang="ko-KR" altLang="en-US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이다</a:t>
                      </a:r>
                      <a:r>
                        <a:rPr lang="en-US" altLang="ko-KR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.</a:t>
                      </a:r>
                    </a:p>
                    <a:p>
                      <a:pPr algn="ctr"/>
                      <a:r>
                        <a:rPr lang="ko-KR" altLang="en-US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전력장치 개수에 맞게 </a:t>
                      </a:r>
                      <a:r>
                        <a:rPr lang="ko-KR" altLang="en-US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총 </a:t>
                      </a:r>
                      <a:r>
                        <a:rPr lang="en-US" altLang="ko-KR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4</a:t>
                      </a:r>
                      <a:r>
                        <a:rPr lang="ko-KR" altLang="en-US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종류가 존재 </a:t>
                      </a:r>
                      <a:r>
                        <a:rPr lang="ko-KR" altLang="en-US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한다</a:t>
                      </a:r>
                      <a:r>
                        <a:rPr lang="en-US" altLang="ko-KR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.</a:t>
                      </a:r>
                      <a:endParaRPr lang="ko-KR" altLang="en-US" sz="1800" b="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747813"/>
                  </a:ext>
                </a:extLst>
              </a:tr>
              <a:tr h="11549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>
                          <a:solidFill>
                            <a:srgbClr val="404040"/>
                          </a:solidFill>
                          <a:ea typeface="나눔스퀘어" panose="020B0600000101010101"/>
                        </a:rPr>
                        <a:t>비밀통로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오직 </a:t>
                      </a:r>
                      <a:r>
                        <a:rPr lang="ko-KR" altLang="en-US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생존자만 사용 가능</a:t>
                      </a:r>
                      <a:r>
                        <a:rPr lang="ko-KR" altLang="en-US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한 비밀통로 이다</a:t>
                      </a:r>
                      <a:r>
                        <a:rPr lang="en-US" altLang="ko-KR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.</a:t>
                      </a:r>
                      <a:endParaRPr lang="ko-KR" altLang="en-US" sz="18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3289453"/>
                  </a:ext>
                </a:extLst>
              </a:tr>
            </a:tbl>
          </a:graphicData>
        </a:graphic>
      </p:graphicFrame>
      <p:pic>
        <p:nvPicPr>
          <p:cNvPr id="37" name="Picture 2">
            <a:extLst>
              <a:ext uri="{FF2B5EF4-FFF2-40B4-BE49-F238E27FC236}">
                <a16:creationId xmlns:a16="http://schemas.microsoft.com/office/drawing/2014/main" id="{87C95174-CBCA-8B46-FAE2-8455A66AF2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8401" y="1370454"/>
            <a:ext cx="2295066" cy="1160348"/>
          </a:xfrm>
          <a:prstGeom prst="rect">
            <a:avLst/>
          </a:prstGeom>
          <a:noFill/>
          <a:effectLst>
            <a:softEdge rad="381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8A7F44FA-0003-98BE-2F40-910181D6CB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7480" y="2530802"/>
            <a:ext cx="2295066" cy="1160348"/>
          </a:xfrm>
          <a:prstGeom prst="rect">
            <a:avLst/>
          </a:prstGeom>
          <a:effectLst>
            <a:softEdge rad="38100"/>
          </a:effectLst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8A3F3B2F-CF30-4970-A6D2-026C183563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8401" y="3675510"/>
            <a:ext cx="2295066" cy="1165153"/>
          </a:xfrm>
          <a:prstGeom prst="rect">
            <a:avLst/>
          </a:prstGeom>
          <a:effectLst>
            <a:softEdge rad="38100"/>
          </a:effectLst>
        </p:spPr>
      </p:pic>
      <p:sp>
        <p:nvSpPr>
          <p:cNvPr id="44" name="슬라이드 번호 개체 틀 43">
            <a:extLst>
              <a:ext uri="{FF2B5EF4-FFF2-40B4-BE49-F238E27FC236}">
                <a16:creationId xmlns:a16="http://schemas.microsoft.com/office/drawing/2014/main" id="{5F02A97E-4BB5-769C-683C-F1739E010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36F23-2DE0-4C93-9E4D-3BD093BFA6C9}" type="slidenum">
              <a:rPr lang="ko-KR" altLang="en-US" smtClean="0">
                <a:solidFill>
                  <a:schemeClr val="tx1"/>
                </a:solidFill>
              </a:rPr>
              <a:t>13</a:t>
            </a:fld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6771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A3D2A2B8-7D26-7C7A-5590-53E26C8645DD}"/>
              </a:ext>
            </a:extLst>
          </p:cNvPr>
          <p:cNvSpPr txBox="1"/>
          <p:nvPr/>
        </p:nvSpPr>
        <p:spPr>
          <a:xfrm>
            <a:off x="329766" y="272634"/>
            <a:ext cx="46572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/>
                <a:ea typeface="나눔스퀘어" panose="020B0600000101010101"/>
              </a:rPr>
              <a:t>04 </a:t>
            </a: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/>
                <a:ea typeface="나눔스퀘어" panose="020B0600000101010101"/>
              </a:rPr>
              <a:t>게임 컨셉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0914C1B-77C9-214F-4017-25DE728B1F42}"/>
              </a:ext>
            </a:extLst>
          </p:cNvPr>
          <p:cNvSpPr/>
          <p:nvPr/>
        </p:nvSpPr>
        <p:spPr>
          <a:xfrm>
            <a:off x="284047" y="272634"/>
            <a:ext cx="45719" cy="49638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4110D2-8659-74C8-6C6B-6987AE552330}"/>
              </a:ext>
            </a:extLst>
          </p:cNvPr>
          <p:cNvSpPr txBox="1"/>
          <p:nvPr/>
        </p:nvSpPr>
        <p:spPr>
          <a:xfrm>
            <a:off x="375485" y="611188"/>
            <a:ext cx="46572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/>
                <a:ea typeface="나눔스퀘어" panose="020B0600000101010101"/>
              </a:rPr>
              <a:t>인게임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/>
                <a:ea typeface="나눔스퀘어" panose="020B0600000101010101"/>
              </a:rPr>
              <a:t> 오브젝트 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/>
                <a:ea typeface="나눔스퀘어" panose="020B0600000101010101"/>
              </a:rPr>
              <a:t>|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/>
                <a:ea typeface="나눔스퀘어" panose="020B0600000101010101"/>
              </a:rPr>
              <a:t>술래가 사용하는 오브젝트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/>
                <a:ea typeface="나눔스퀘어" panose="020B0600000101010101"/>
              </a:rPr>
              <a:t>,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/>
                <a:ea typeface="나눔스퀘어" panose="020B0600000101010101"/>
              </a:rPr>
              <a:t>고유 스킬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169CBE5-43F1-E9C4-8B0B-604EDC0E921D}"/>
              </a:ext>
            </a:extLst>
          </p:cNvPr>
          <p:cNvSpPr/>
          <p:nvPr/>
        </p:nvSpPr>
        <p:spPr>
          <a:xfrm>
            <a:off x="387585" y="3092856"/>
            <a:ext cx="1300537" cy="46166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softEdge rad="0"/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accent1">
                    <a:lumMod val="50000"/>
                  </a:schemeClr>
                </a:solidFill>
              </a:rPr>
              <a:t>술래 스킬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43E5635-C4A1-F2A4-CB44-8ADC2F556D90}"/>
              </a:ext>
            </a:extLst>
          </p:cNvPr>
          <p:cNvSpPr/>
          <p:nvPr/>
        </p:nvSpPr>
        <p:spPr>
          <a:xfrm>
            <a:off x="1111139" y="3514079"/>
            <a:ext cx="10705376" cy="457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softEdge rad="0"/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72FCCB-FF7A-BD07-4908-5A69A5144AE4}"/>
              </a:ext>
            </a:extLst>
          </p:cNvPr>
          <p:cNvSpPr txBox="1"/>
          <p:nvPr/>
        </p:nvSpPr>
        <p:spPr>
          <a:xfrm>
            <a:off x="1688122" y="3210617"/>
            <a:ext cx="71433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solidFill>
                  <a:schemeClr val="accent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/>
              </a:rPr>
              <a:t>술래만 사용 가능한 고유 스킬이다</a:t>
            </a:r>
            <a:r>
              <a:rPr lang="en-US" altLang="ko-KR" sz="1400" b="1" dirty="0">
                <a:solidFill>
                  <a:schemeClr val="accent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/>
              </a:rPr>
              <a:t>.  (</a:t>
            </a:r>
            <a:r>
              <a:rPr lang="ko-KR" altLang="en-US" sz="1400" b="1" dirty="0">
                <a:solidFill>
                  <a:schemeClr val="accent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/>
              </a:rPr>
              <a:t>일정 시간이 지날 때 마다 하나씩 사용 가능하다</a:t>
            </a:r>
            <a:r>
              <a:rPr lang="en-US" altLang="ko-KR" sz="1400" b="1" dirty="0">
                <a:solidFill>
                  <a:schemeClr val="accent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/>
              </a:rPr>
              <a:t>.)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D5875D8-BE21-E4A7-4EAE-B2FB03A8B81B}"/>
              </a:ext>
            </a:extLst>
          </p:cNvPr>
          <p:cNvSpPr txBox="1"/>
          <p:nvPr/>
        </p:nvSpPr>
        <p:spPr>
          <a:xfrm>
            <a:off x="387586" y="3664155"/>
            <a:ext cx="1144103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1.  Small-EMP</a:t>
            </a:r>
            <a:endParaRPr lang="en-US" altLang="ko-KR" sz="1600" b="1" dirty="0">
              <a:solidFill>
                <a:schemeClr val="accent1">
                  <a:lumMod val="50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sym typeface="Wingdings" panose="05000000000000000000" pitchFamily="2" charset="2"/>
            </a:endParaRP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ko-KR" altLang="en-US" sz="1600" b="1" dirty="0">
                <a:solidFill>
                  <a:schemeClr val="accent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sym typeface="Wingdings" panose="05000000000000000000" pitchFamily="2" charset="2"/>
              </a:rPr>
              <a:t> 모든 전력장치 배전반을 닫는다</a:t>
            </a: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sym typeface="Wingdings" panose="05000000000000000000" pitchFamily="2" charset="2"/>
              </a:rPr>
              <a:t>. </a:t>
            </a:r>
          </a:p>
          <a:p>
            <a:endParaRPr lang="en-US" altLang="ko-KR" sz="1600" b="1" dirty="0">
              <a:solidFill>
                <a:schemeClr val="accent1">
                  <a:lumMod val="50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sym typeface="Wingdings" panose="05000000000000000000" pitchFamily="2" charset="2"/>
            </a:endParaRPr>
          </a:p>
          <a:p>
            <a:pPr marL="228600" indent="-228600">
              <a:buAutoNum type="arabicPeriod" startAt="2"/>
            </a:pPr>
            <a:r>
              <a:rPr lang="en-US" altLang="ko-KR" sz="1600" b="1" dirty="0" err="1">
                <a:solidFill>
                  <a:schemeClr val="accent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sym typeface="Wingdings" panose="05000000000000000000" pitchFamily="2" charset="2"/>
              </a:rPr>
              <a:t>MiniGame</a:t>
            </a: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sym typeface="Wingdings" panose="05000000000000000000" pitchFamily="2" charset="2"/>
              </a:rPr>
              <a:t>-EMP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ko-KR" altLang="en-US" sz="1600" b="1" dirty="0">
                <a:solidFill>
                  <a:schemeClr val="accent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sym typeface="Wingdings" panose="05000000000000000000" pitchFamily="2" charset="2"/>
              </a:rPr>
              <a:t> 수리도구를 얻기 위한 미니게임 </a:t>
            </a: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sym typeface="Wingdings" panose="05000000000000000000" pitchFamily="2" charset="2"/>
              </a:rPr>
              <a:t>2</a:t>
            </a:r>
            <a:r>
              <a:rPr lang="ko-KR" altLang="en-US" sz="1600" b="1" dirty="0">
                <a:solidFill>
                  <a:schemeClr val="accent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sym typeface="Wingdings" panose="05000000000000000000" pitchFamily="2" charset="2"/>
              </a:rPr>
              <a:t>종류를 랜덤으로 일정시간 비활성화</a:t>
            </a:r>
            <a:endParaRPr lang="en-US" altLang="ko-KR" sz="1600" b="1" dirty="0">
              <a:solidFill>
                <a:schemeClr val="accent1">
                  <a:lumMod val="50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sym typeface="Wingdings" panose="05000000000000000000" pitchFamily="2" charset="2"/>
            </a:endParaRPr>
          </a:p>
          <a:p>
            <a:pPr marL="171450" indent="-171450">
              <a:buFont typeface="Wingdings" panose="05000000000000000000" pitchFamily="2" charset="2"/>
              <a:buChar char="à"/>
            </a:pPr>
            <a:endParaRPr lang="en-US" altLang="ko-KR" sz="1600" b="1" dirty="0">
              <a:solidFill>
                <a:schemeClr val="accent1">
                  <a:lumMod val="50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sym typeface="Wingdings" panose="05000000000000000000" pitchFamily="2" charset="2"/>
            </a:endParaRPr>
          </a:p>
          <a:p>
            <a:pPr marL="228600" indent="-228600">
              <a:buAutoNum type="arabicPeriod" startAt="3"/>
            </a:pP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sym typeface="Wingdings" panose="05000000000000000000" pitchFamily="2" charset="2"/>
              </a:rPr>
              <a:t>Door-EMP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ko-KR" altLang="en-US" sz="1600" b="1" dirty="0">
                <a:solidFill>
                  <a:schemeClr val="accent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sym typeface="Wingdings" panose="05000000000000000000" pitchFamily="2" charset="2"/>
              </a:rPr>
              <a:t> 방문이 일정 시간동안 잠겨 생존자가 다른 방으로 이동하는 것을 제한함</a:t>
            </a: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sym typeface="Wingdings" panose="05000000000000000000" pitchFamily="2" charset="2"/>
              </a:rPr>
              <a:t>.</a:t>
            </a:r>
          </a:p>
          <a:p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sym typeface="Wingdings" panose="05000000000000000000" pitchFamily="2" charset="2"/>
              </a:rPr>
              <a:t> </a:t>
            </a:r>
          </a:p>
          <a:p>
            <a:pPr marL="228600" indent="-228600">
              <a:buAutoNum type="arabicPeriod" startAt="4"/>
            </a:pPr>
            <a:r>
              <a:rPr lang="en-US" altLang="ko-KR" sz="1600" b="1" dirty="0" err="1">
                <a:solidFill>
                  <a:schemeClr val="accent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sym typeface="Wingdings" panose="05000000000000000000" pitchFamily="2" charset="2"/>
              </a:rPr>
              <a:t>SecretPassage</a:t>
            </a: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sym typeface="Wingdings" panose="05000000000000000000" pitchFamily="2" charset="2"/>
              </a:rPr>
              <a:t>-EMP</a:t>
            </a:r>
          </a:p>
          <a:p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sz="1600" b="1" dirty="0" err="1">
                <a:solidFill>
                  <a:schemeClr val="accent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sym typeface="Wingdings" panose="05000000000000000000" pitchFamily="2" charset="2"/>
              </a:rPr>
              <a:t>맵에</a:t>
            </a:r>
            <a:r>
              <a:rPr lang="ko-KR" altLang="en-US" sz="1600" b="1" dirty="0">
                <a:solidFill>
                  <a:schemeClr val="accent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sym typeface="Wingdings" panose="05000000000000000000" pitchFamily="2" charset="2"/>
              </a:rPr>
              <a:t> 존재하는 비밀통로 중 술래가 지정한 비밀통로가 비활성화 된다</a:t>
            </a: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sym typeface="Wingdings" panose="05000000000000000000" pitchFamily="2" charset="2"/>
              </a:rPr>
              <a:t>. </a:t>
            </a:r>
            <a:endParaRPr lang="en-US" altLang="ko-KR" sz="1600" b="1" dirty="0">
              <a:solidFill>
                <a:schemeClr val="accent1">
                  <a:lumMod val="50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aphicFrame>
        <p:nvGraphicFramePr>
          <p:cNvPr id="3" name="표 36">
            <a:extLst>
              <a:ext uri="{FF2B5EF4-FFF2-40B4-BE49-F238E27FC236}">
                <a16:creationId xmlns:a16="http://schemas.microsoft.com/office/drawing/2014/main" id="{DF3CD1FD-64EA-37FC-3D2B-8237F20699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0339390"/>
              </p:ext>
            </p:extLst>
          </p:nvPr>
        </p:nvGraphicFramePr>
        <p:xfrm>
          <a:off x="329766" y="1471937"/>
          <a:ext cx="11276080" cy="115493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314330">
                  <a:extLst>
                    <a:ext uri="{9D8B030D-6E8A-4147-A177-3AD203B41FA5}">
                      <a16:colId xmlns:a16="http://schemas.microsoft.com/office/drawing/2014/main" val="2832102245"/>
                    </a:ext>
                  </a:extLst>
                </a:gridCol>
                <a:gridCol w="2262956">
                  <a:extLst>
                    <a:ext uri="{9D8B030D-6E8A-4147-A177-3AD203B41FA5}">
                      <a16:colId xmlns:a16="http://schemas.microsoft.com/office/drawing/2014/main" val="43405759"/>
                    </a:ext>
                  </a:extLst>
                </a:gridCol>
                <a:gridCol w="6698794">
                  <a:extLst>
                    <a:ext uri="{9D8B030D-6E8A-4147-A177-3AD203B41FA5}">
                      <a16:colId xmlns:a16="http://schemas.microsoft.com/office/drawing/2014/main" val="385502117"/>
                    </a:ext>
                  </a:extLst>
                </a:gridCol>
              </a:tblGrid>
              <a:tr h="1154931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4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제단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나눔스퀘어 ExtraBold" panose="020B0600000101010101" pitchFamily="50" charset="-127"/>
                          <a:ea typeface="나눔스퀘어 ExtraBold" panose="020B0600000101010101"/>
                        </a:rPr>
                        <a:t>생존자에게서 회수한 생명칩을 보관하는 곳</a:t>
                      </a:r>
                      <a:endParaRPr lang="en-US" altLang="ko-KR" sz="18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나눔스퀘어 ExtraBold" panose="020B0600000101010101" pitchFamily="50" charset="-127"/>
                        <a:ea typeface="나눔스퀘어 ExtraBold" panose="020B0600000101010101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7363268"/>
                  </a:ext>
                </a:extLst>
              </a:tr>
            </a:tbl>
          </a:graphicData>
        </a:graphic>
      </p:graphicFrame>
      <p:pic>
        <p:nvPicPr>
          <p:cNvPr id="6" name="Picture 2">
            <a:extLst>
              <a:ext uri="{FF2B5EF4-FFF2-40B4-BE49-F238E27FC236}">
                <a16:creationId xmlns:a16="http://schemas.microsoft.com/office/drawing/2014/main" id="{552AA4A3-9D7C-758B-E1FF-5388C143F4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074" y="1481828"/>
            <a:ext cx="2278034" cy="1121007"/>
          </a:xfrm>
          <a:prstGeom prst="rect">
            <a:avLst/>
          </a:prstGeom>
          <a:noFill/>
          <a:effectLst>
            <a:softEdge rad="381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24907A7A-4975-35D5-AFA9-FE25DAEB7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36F23-2DE0-4C93-9E4D-3BD093BFA6C9}" type="slidenum">
              <a:rPr lang="ko-KR" altLang="en-US" smtClean="0">
                <a:solidFill>
                  <a:schemeClr val="tx1"/>
                </a:solidFill>
              </a:rPr>
              <a:t>14</a:t>
            </a:fld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6289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A3D2A2B8-7D26-7C7A-5590-53E26C8645DD}"/>
              </a:ext>
            </a:extLst>
          </p:cNvPr>
          <p:cNvSpPr txBox="1"/>
          <p:nvPr/>
        </p:nvSpPr>
        <p:spPr>
          <a:xfrm>
            <a:off x="329766" y="272634"/>
            <a:ext cx="4884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/>
                <a:ea typeface="나눔스퀘어" panose="020B0600000101010101"/>
              </a:rPr>
              <a:t>05 </a:t>
            </a: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/>
                <a:ea typeface="나눔스퀘어" panose="020B0600000101010101"/>
              </a:rPr>
              <a:t>기술적 요소 및 중점연구분야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0914C1B-77C9-214F-4017-25DE728B1F42}"/>
              </a:ext>
            </a:extLst>
          </p:cNvPr>
          <p:cNvSpPr/>
          <p:nvPr/>
        </p:nvSpPr>
        <p:spPr>
          <a:xfrm>
            <a:off x="284047" y="272634"/>
            <a:ext cx="45719" cy="49638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508C9AB9-CA2D-CE8E-5225-AACE7CF1FE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4063332"/>
              </p:ext>
            </p:extLst>
          </p:nvPr>
        </p:nvGraphicFramePr>
        <p:xfrm>
          <a:off x="314040" y="1113727"/>
          <a:ext cx="11563920" cy="463054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312784">
                  <a:extLst>
                    <a:ext uri="{9D8B030D-6E8A-4147-A177-3AD203B41FA5}">
                      <a16:colId xmlns:a16="http://schemas.microsoft.com/office/drawing/2014/main" val="3250109735"/>
                    </a:ext>
                  </a:extLst>
                </a:gridCol>
                <a:gridCol w="9251136">
                  <a:extLst>
                    <a:ext uri="{9D8B030D-6E8A-4147-A177-3AD203B41FA5}">
                      <a16:colId xmlns:a16="http://schemas.microsoft.com/office/drawing/2014/main" val="1684455291"/>
                    </a:ext>
                  </a:extLst>
                </a:gridCol>
              </a:tblGrid>
              <a:tr h="66150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기술적 요소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0407955"/>
                  </a:ext>
                </a:extLst>
              </a:tr>
              <a:tr h="1323013">
                <a:tc>
                  <a:txBody>
                    <a:bodyPr/>
                    <a:lstStyle/>
                    <a:p>
                      <a:pPr algn="ctr" latinLnBrk="1"/>
                      <a:endParaRPr lang="en-US" altLang="ko-KR" sz="1000" dirty="0"/>
                    </a:p>
                    <a:p>
                      <a:pPr algn="ctr" latinLnBrk="1"/>
                      <a:endParaRPr lang="en-US" altLang="ko-KR" sz="800" dirty="0"/>
                    </a:p>
                    <a:p>
                      <a:pPr algn="ctr" latinLnBrk="1"/>
                      <a:endParaRPr lang="en-US" altLang="ko-KR" sz="800" dirty="0"/>
                    </a:p>
                    <a:p>
                      <a:pPr algn="ctr" latinLnBrk="1"/>
                      <a:r>
                        <a:rPr lang="ko-KR" altLang="en-US" sz="2800" i="0" dirty="0"/>
                        <a:t>박동규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b="1" dirty="0"/>
                    </a:p>
                    <a:p>
                      <a:pPr algn="ctr" latinLnBrk="1"/>
                      <a:r>
                        <a:rPr lang="en-US" altLang="ko-KR" b="1" dirty="0"/>
                        <a:t>SSAO(</a:t>
                      </a:r>
                      <a:r>
                        <a:rPr lang="en-US" altLang="ko-KR" sz="1800" b="1" dirty="0">
                          <a:effectLst/>
                        </a:rPr>
                        <a:t>Screen Space Ambient Occlusion</a:t>
                      </a:r>
                      <a:r>
                        <a:rPr lang="en-US" altLang="ko-KR" b="1" dirty="0"/>
                        <a:t>)</a:t>
                      </a:r>
                      <a:r>
                        <a:rPr lang="ko-KR" altLang="en-US" dirty="0"/>
                        <a:t>을 통한 사실감 있는 음영 표현</a:t>
                      </a:r>
                      <a:endParaRPr lang="en-US" altLang="ko-KR" dirty="0"/>
                    </a:p>
                    <a:p>
                      <a:pPr algn="ctr"/>
                      <a:r>
                        <a:rPr lang="en-US" altLang="ko-KR" sz="1800" b="1" kern="1200" dirty="0">
                          <a:solidFill>
                            <a:schemeClr val="dk1"/>
                          </a:solidFill>
                          <a:effectLst/>
                        </a:rPr>
                        <a:t>Normal mapping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과 </a:t>
                      </a:r>
                      <a:r>
                        <a:rPr lang="en-US" altLang="ko-KR" sz="1800" b="1" kern="1200" dirty="0">
                          <a:solidFill>
                            <a:schemeClr val="dk1"/>
                          </a:solidFill>
                          <a:effectLst/>
                        </a:rPr>
                        <a:t>Parallax mapping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의 사용으로 객체의 입체감을 표현</a:t>
                      </a:r>
                      <a:endParaRPr lang="en-US" altLang="ko-KR" sz="1800" b="0" kern="1200" dirty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pPr algn="ctr"/>
                      <a:r>
                        <a:rPr lang="ko-KR" altLang="en-US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블러링</a:t>
                      </a:r>
                      <a:r>
                        <a:rPr lang="en-US" altLang="ko-KR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bluring</a:t>
                      </a:r>
                      <a:r>
                        <a:rPr lang="en-US" altLang="ko-KR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을 이용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하여 </a:t>
                      </a:r>
                      <a:r>
                        <a:rPr lang="ko-KR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부드러운 화면전환을 구현</a:t>
                      </a:r>
                      <a:endParaRPr lang="en-US" altLang="ko-KR" sz="18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4050257"/>
                  </a:ext>
                </a:extLst>
              </a:tr>
              <a:tr h="1323013">
                <a:tc>
                  <a:txBody>
                    <a:bodyPr/>
                    <a:lstStyle/>
                    <a:p>
                      <a:pPr algn="ctr" latinLnBrk="1"/>
                      <a:endParaRPr lang="en-US" altLang="ko-KR" sz="2800"/>
                    </a:p>
                    <a:p>
                      <a:pPr algn="ctr" latinLnBrk="1"/>
                      <a:r>
                        <a:rPr lang="ko-KR" altLang="en-US" sz="2800"/>
                        <a:t>황석주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800" b="1" i="0" dirty="0">
                        <a:effectLst/>
                        <a:latin typeface="Whitney"/>
                      </a:endParaRPr>
                    </a:p>
                    <a:p>
                      <a:pPr algn="ctr"/>
                      <a:r>
                        <a:rPr lang="ko-KR" altLang="en-US" sz="1800" b="1" i="0" dirty="0">
                          <a:effectLst/>
                          <a:latin typeface="Whitney"/>
                        </a:rPr>
                        <a:t>애니메이션 </a:t>
                      </a:r>
                      <a:r>
                        <a:rPr lang="ko-KR" altLang="en-US" sz="1800" b="1" i="0" dirty="0" err="1">
                          <a:effectLst/>
                          <a:latin typeface="Whitney"/>
                        </a:rPr>
                        <a:t>블렌딩</a:t>
                      </a:r>
                      <a:r>
                        <a:rPr lang="ko-KR" altLang="en-US" sz="1800" b="0" i="0" dirty="0" err="1">
                          <a:effectLst/>
                          <a:latin typeface="Whitney"/>
                        </a:rPr>
                        <a:t>으로</a:t>
                      </a:r>
                      <a:r>
                        <a:rPr lang="ko-KR" altLang="en-US" sz="1800" b="0" i="0" dirty="0">
                          <a:effectLst/>
                          <a:latin typeface="Whitney"/>
                        </a:rPr>
                        <a:t> 부드러운 애니메이션 구현</a:t>
                      </a:r>
                      <a:endParaRPr lang="en-US" altLang="ko-KR" sz="1800" b="0" i="0" dirty="0">
                        <a:effectLst/>
                        <a:latin typeface="Whitney"/>
                      </a:endParaRPr>
                    </a:p>
                    <a:p>
                      <a:pPr algn="ctr"/>
                      <a:r>
                        <a:rPr lang="en-US" altLang="ko-KR" sz="1800" b="1" i="0" dirty="0">
                          <a:effectLst/>
                          <a:latin typeface="Whitney"/>
                        </a:rPr>
                        <a:t>PVS</a:t>
                      </a:r>
                      <a:r>
                        <a:rPr lang="ko-KR" altLang="en-US" sz="1800" b="0" i="0" dirty="0">
                          <a:effectLst/>
                          <a:latin typeface="Whitney"/>
                        </a:rPr>
                        <a:t>를 만들어 렌더링에 적용</a:t>
                      </a:r>
                      <a:endParaRPr lang="en-US" altLang="ko-KR" sz="1800" b="0" i="0" dirty="0">
                        <a:effectLst/>
                        <a:latin typeface="Whitney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4658100"/>
                  </a:ext>
                </a:extLst>
              </a:tr>
              <a:tr h="1323013">
                <a:tc>
                  <a:txBody>
                    <a:bodyPr/>
                    <a:lstStyle/>
                    <a:p>
                      <a:pPr algn="ctr" latinLnBrk="1"/>
                      <a:endParaRPr lang="en-US" altLang="ko-KR" sz="2800" dirty="0"/>
                    </a:p>
                    <a:p>
                      <a:pPr algn="ctr" latinLnBrk="1"/>
                      <a:r>
                        <a:rPr lang="ko-KR" altLang="en-US" sz="2800" dirty="0"/>
                        <a:t>김우빈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b="1" dirty="0"/>
                    </a:p>
                    <a:p>
                      <a:pPr algn="ctr" latinLnBrk="1"/>
                      <a:r>
                        <a:rPr lang="en-US" altLang="ko-KR" b="1" dirty="0"/>
                        <a:t>IOCP</a:t>
                      </a:r>
                      <a:r>
                        <a:rPr lang="ko-KR" altLang="en-US" dirty="0"/>
                        <a:t>를 이용한 효율적인 멀티 쓰레드 서버 구현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b="1" dirty="0"/>
                        <a:t>데이터베이스를 활용</a:t>
                      </a:r>
                      <a:r>
                        <a:rPr lang="ko-KR" altLang="en-US" dirty="0"/>
                        <a:t>하여 사용자 데이터 관리</a:t>
                      </a:r>
                      <a:endParaRPr lang="en-US" altLang="ko-K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685569"/>
                  </a:ext>
                </a:extLst>
              </a:tr>
            </a:tbl>
          </a:graphicData>
        </a:graphic>
      </p:graphicFrame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CD49C72-5611-3D9A-C042-9B421DCCB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36F23-2DE0-4C93-9E4D-3BD093BFA6C9}" type="slidenum">
              <a:rPr lang="ko-KR" altLang="en-US" smtClean="0">
                <a:solidFill>
                  <a:schemeClr val="tx1"/>
                </a:solidFill>
              </a:rPr>
              <a:t>15</a:t>
            </a:fld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7288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A3D2A2B8-7D26-7C7A-5590-53E26C8645DD}"/>
              </a:ext>
            </a:extLst>
          </p:cNvPr>
          <p:cNvSpPr txBox="1"/>
          <p:nvPr/>
        </p:nvSpPr>
        <p:spPr>
          <a:xfrm>
            <a:off x="329766" y="272634"/>
            <a:ext cx="4884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/>
                <a:ea typeface="나눔스퀘어" panose="020B0600000101010101"/>
              </a:rPr>
              <a:t>06 </a:t>
            </a: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/>
                <a:ea typeface="나눔스퀘어" panose="020B0600000101010101"/>
              </a:rPr>
              <a:t>타 게임과의 차별성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0914C1B-77C9-214F-4017-25DE728B1F42}"/>
              </a:ext>
            </a:extLst>
          </p:cNvPr>
          <p:cNvSpPr/>
          <p:nvPr/>
        </p:nvSpPr>
        <p:spPr>
          <a:xfrm>
            <a:off x="284047" y="272634"/>
            <a:ext cx="45719" cy="49638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4110D2-8659-74C8-6C6B-6987AE552330}"/>
              </a:ext>
            </a:extLst>
          </p:cNvPr>
          <p:cNvSpPr txBox="1"/>
          <p:nvPr/>
        </p:nvSpPr>
        <p:spPr>
          <a:xfrm>
            <a:off x="375485" y="611188"/>
            <a:ext cx="46572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/>
                <a:ea typeface="나눔스퀘어" panose="020B0600000101010101"/>
              </a:rPr>
              <a:t>차별성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/>
                <a:ea typeface="나눔스퀘어" panose="020B0600000101010101"/>
              </a:rPr>
              <a:t>!</a:t>
            </a:r>
            <a:endParaRPr lang="ko-KR" alt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나눔스퀘어 Bold"/>
              <a:ea typeface="나눔스퀘어" panose="020B0600000101010101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61481C2-41EB-8F0A-36CD-FC3A239EBE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046" y="1777146"/>
            <a:ext cx="5715000" cy="3209925"/>
          </a:xfrm>
          <a:prstGeom prst="rect">
            <a:avLst/>
          </a:prstGeom>
          <a:noFill/>
          <a:effectLst>
            <a:softEdge rad="2032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6DA5E8F-F8C7-498A-E203-1DAB700DBBB6}"/>
              </a:ext>
            </a:extLst>
          </p:cNvPr>
          <p:cNvSpPr txBox="1"/>
          <p:nvPr/>
        </p:nvSpPr>
        <p:spPr>
          <a:xfrm>
            <a:off x="6192955" y="1777146"/>
            <a:ext cx="562390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accent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유사 게임 </a:t>
            </a:r>
            <a:r>
              <a:rPr lang="en-US" altLang="ko-KR" b="1" dirty="0">
                <a:solidFill>
                  <a:schemeClr val="accent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: Dead By Daylight</a:t>
            </a:r>
          </a:p>
          <a:p>
            <a:endParaRPr lang="en-US" altLang="ko-KR" b="1" dirty="0">
              <a:solidFill>
                <a:schemeClr val="accent1">
                  <a:lumMod val="50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endParaRPr lang="en-US" altLang="ko-KR" b="1" dirty="0">
              <a:solidFill>
                <a:schemeClr val="accent1">
                  <a:lumMod val="50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ko-KR" altLang="en-US" b="1" dirty="0">
                <a:solidFill>
                  <a:schemeClr val="accent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차별성</a:t>
            </a:r>
            <a:r>
              <a:rPr lang="en-US" altLang="ko-KR" b="1" dirty="0">
                <a:solidFill>
                  <a:schemeClr val="accent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?</a:t>
            </a:r>
          </a:p>
          <a:p>
            <a:endParaRPr lang="en-US" altLang="ko-KR" b="1" dirty="0">
              <a:solidFill>
                <a:schemeClr val="accent1">
                  <a:lumMod val="50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b="1" dirty="0">
                <a:solidFill>
                  <a:schemeClr val="accent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사망한 플레이어가 인게임에 큰 영향을 미침</a:t>
            </a:r>
            <a:r>
              <a:rPr lang="en-US" altLang="ko-KR" dirty="0">
                <a:solidFill>
                  <a:schemeClr val="accent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pPr marL="285750" indent="-285750">
              <a:buFontTx/>
              <a:buChar char="-"/>
            </a:pPr>
            <a:endParaRPr lang="en-US" altLang="ko-KR" dirty="0">
              <a:solidFill>
                <a:schemeClr val="accent1">
                  <a:lumMod val="50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dirty="0">
                <a:solidFill>
                  <a:schemeClr val="accent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개인플레이도 있고 협동 플레이도 있다</a:t>
            </a:r>
            <a:r>
              <a:rPr lang="en-US" altLang="ko-KR" dirty="0">
                <a:solidFill>
                  <a:schemeClr val="accent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!</a:t>
            </a:r>
          </a:p>
          <a:p>
            <a:pPr marL="285750" indent="-285750">
              <a:buFontTx/>
              <a:buChar char="-"/>
            </a:pPr>
            <a:endParaRPr lang="en-US" altLang="ko-KR" dirty="0">
              <a:solidFill>
                <a:schemeClr val="accent1">
                  <a:lumMod val="50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dirty="0">
                <a:solidFill>
                  <a:schemeClr val="accent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각 방마다의 컨셉이 달라 </a:t>
            </a:r>
            <a:r>
              <a:rPr lang="ko-KR" altLang="en-US" b="1" dirty="0">
                <a:solidFill>
                  <a:schemeClr val="accent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플레이 유형이 다양해짐</a:t>
            </a:r>
            <a:r>
              <a:rPr lang="en-US" altLang="ko-KR" b="1" dirty="0">
                <a:solidFill>
                  <a:schemeClr val="accent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AABDF29-C764-5BAC-5BE5-D43D56AB3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36F23-2DE0-4C93-9E4D-3BD093BFA6C9}" type="slidenum">
              <a:rPr lang="ko-KR" altLang="en-US" smtClean="0">
                <a:solidFill>
                  <a:schemeClr val="tx1"/>
                </a:solidFill>
              </a:rPr>
              <a:t>16</a:t>
            </a:fld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2720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A3D2A2B8-7D26-7C7A-5590-53E26C8645DD}"/>
              </a:ext>
            </a:extLst>
          </p:cNvPr>
          <p:cNvSpPr txBox="1"/>
          <p:nvPr/>
        </p:nvSpPr>
        <p:spPr>
          <a:xfrm>
            <a:off x="329766" y="272634"/>
            <a:ext cx="4884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/>
                <a:ea typeface="나눔스퀘어" panose="020B0600000101010101"/>
              </a:rPr>
              <a:t>07 </a:t>
            </a: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/>
                <a:ea typeface="나눔스퀘어" panose="020B0600000101010101"/>
              </a:rPr>
              <a:t>역할 분담 및 일정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0914C1B-77C9-214F-4017-25DE728B1F42}"/>
              </a:ext>
            </a:extLst>
          </p:cNvPr>
          <p:cNvSpPr/>
          <p:nvPr/>
        </p:nvSpPr>
        <p:spPr>
          <a:xfrm>
            <a:off x="284047" y="272634"/>
            <a:ext cx="45719" cy="49638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4110D2-8659-74C8-6C6B-6987AE552330}"/>
              </a:ext>
            </a:extLst>
          </p:cNvPr>
          <p:cNvSpPr txBox="1"/>
          <p:nvPr/>
        </p:nvSpPr>
        <p:spPr>
          <a:xfrm>
            <a:off x="375485" y="611188"/>
            <a:ext cx="46572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/>
                <a:ea typeface="나눔스퀘어" panose="020B0600000101010101"/>
              </a:rPr>
              <a:t>이렇게 진행 할 예정이에요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/>
                <a:ea typeface="나눔스퀘어" panose="020B0600000101010101"/>
              </a:rPr>
              <a:t>.</a:t>
            </a:r>
            <a:endParaRPr lang="ko-KR" alt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나눔스퀘어 Bold"/>
              <a:ea typeface="나눔스퀘어" panose="020B0600000101010101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63C00A0-9DBA-2792-D956-418B724857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2202159"/>
              </p:ext>
            </p:extLst>
          </p:nvPr>
        </p:nvGraphicFramePr>
        <p:xfrm>
          <a:off x="375485" y="1619334"/>
          <a:ext cx="11573264" cy="51431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61722">
                  <a:extLst>
                    <a:ext uri="{9D8B030D-6E8A-4147-A177-3AD203B41FA5}">
                      <a16:colId xmlns:a16="http://schemas.microsoft.com/office/drawing/2014/main" val="1580994012"/>
                    </a:ext>
                  </a:extLst>
                </a:gridCol>
                <a:gridCol w="1143825">
                  <a:extLst>
                    <a:ext uri="{9D8B030D-6E8A-4147-A177-3AD203B41FA5}">
                      <a16:colId xmlns:a16="http://schemas.microsoft.com/office/drawing/2014/main" val="2233194082"/>
                    </a:ext>
                  </a:extLst>
                </a:gridCol>
                <a:gridCol w="1109674">
                  <a:extLst>
                    <a:ext uri="{9D8B030D-6E8A-4147-A177-3AD203B41FA5}">
                      <a16:colId xmlns:a16="http://schemas.microsoft.com/office/drawing/2014/main" val="1123016725"/>
                    </a:ext>
                  </a:extLst>
                </a:gridCol>
                <a:gridCol w="1109674">
                  <a:extLst>
                    <a:ext uri="{9D8B030D-6E8A-4147-A177-3AD203B41FA5}">
                      <a16:colId xmlns:a16="http://schemas.microsoft.com/office/drawing/2014/main" val="1166195521"/>
                    </a:ext>
                  </a:extLst>
                </a:gridCol>
                <a:gridCol w="1109674">
                  <a:extLst>
                    <a:ext uri="{9D8B030D-6E8A-4147-A177-3AD203B41FA5}">
                      <a16:colId xmlns:a16="http://schemas.microsoft.com/office/drawing/2014/main" val="2102560690"/>
                    </a:ext>
                  </a:extLst>
                </a:gridCol>
                <a:gridCol w="1109674">
                  <a:extLst>
                    <a:ext uri="{9D8B030D-6E8A-4147-A177-3AD203B41FA5}">
                      <a16:colId xmlns:a16="http://schemas.microsoft.com/office/drawing/2014/main" val="210192427"/>
                    </a:ext>
                  </a:extLst>
                </a:gridCol>
                <a:gridCol w="1041332">
                  <a:extLst>
                    <a:ext uri="{9D8B030D-6E8A-4147-A177-3AD203B41FA5}">
                      <a16:colId xmlns:a16="http://schemas.microsoft.com/office/drawing/2014/main" val="1924900916"/>
                    </a:ext>
                  </a:extLst>
                </a:gridCol>
                <a:gridCol w="1178015">
                  <a:extLst>
                    <a:ext uri="{9D8B030D-6E8A-4147-A177-3AD203B41FA5}">
                      <a16:colId xmlns:a16="http://schemas.microsoft.com/office/drawing/2014/main" val="2057483309"/>
                    </a:ext>
                  </a:extLst>
                </a:gridCol>
                <a:gridCol w="1109674">
                  <a:extLst>
                    <a:ext uri="{9D8B030D-6E8A-4147-A177-3AD203B41FA5}">
                      <a16:colId xmlns:a16="http://schemas.microsoft.com/office/drawing/2014/main" val="1570423484"/>
                    </a:ext>
                  </a:extLst>
                </a:gridCol>
              </a:tblGrid>
              <a:tr h="48328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항 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r>
                        <a:rPr lang="ko-KR" altLang="en-US" dirty="0"/>
                        <a:t>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r>
                        <a:rPr lang="ko-KR" altLang="en-US" dirty="0"/>
                        <a:t>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r>
                        <a:rPr lang="ko-KR" altLang="en-US" dirty="0"/>
                        <a:t>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</a:t>
                      </a:r>
                      <a:r>
                        <a:rPr lang="ko-KR" altLang="en-US" dirty="0"/>
                        <a:t>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</a:t>
                      </a:r>
                      <a:r>
                        <a:rPr lang="ko-KR" altLang="en-US" dirty="0"/>
                        <a:t>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</a:t>
                      </a:r>
                      <a:r>
                        <a:rPr lang="ko-KR" altLang="en-US" dirty="0"/>
                        <a:t>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0443548"/>
                  </a:ext>
                </a:extLst>
              </a:tr>
              <a:tr h="38671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서버 로직 제작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4933771"/>
                  </a:ext>
                </a:extLst>
              </a:tr>
              <a:tr h="38671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데이터베이스 연동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7792289"/>
                  </a:ext>
                </a:extLst>
              </a:tr>
              <a:tr h="38671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애니메이션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3658138"/>
                  </a:ext>
                </a:extLst>
              </a:tr>
              <a:tr h="40606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캐릭터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지형 띄우기</a:t>
                      </a:r>
                      <a:endParaRPr lang="en-US" altLang="ko-K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499368"/>
                  </a:ext>
                </a:extLst>
              </a:tr>
              <a:tr h="38671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UI, </a:t>
                      </a:r>
                      <a:r>
                        <a:rPr lang="ko-KR" altLang="en-US" sz="1200" dirty="0"/>
                        <a:t>이펙트 적용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5936865"/>
                  </a:ext>
                </a:extLst>
              </a:tr>
              <a:tr h="38671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캐릭터 컨트롤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7200340"/>
                  </a:ext>
                </a:extLst>
              </a:tr>
              <a:tr h="38671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err="1"/>
                        <a:t>동접테스트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4295719"/>
                  </a:ext>
                </a:extLst>
              </a:tr>
              <a:tr h="38671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err="1"/>
                        <a:t>인게임</a:t>
                      </a:r>
                      <a:r>
                        <a:rPr lang="ko-KR" altLang="en-US" sz="1200" dirty="0"/>
                        <a:t> 오브젝트 구현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6975647"/>
                  </a:ext>
                </a:extLst>
              </a:tr>
              <a:tr h="38671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미니게임 적용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rgbClr val="ED7D31"/>
                        </a:solidFill>
                      </a:endParaRP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0522354"/>
                  </a:ext>
                </a:extLst>
              </a:tr>
              <a:tr h="38671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SSAO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1ECEB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1ECEB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3411445"/>
                  </a:ext>
                </a:extLst>
              </a:tr>
              <a:tr h="38671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i="0" dirty="0">
                          <a:effectLst/>
                          <a:latin typeface="Whitney"/>
                        </a:rPr>
                        <a:t>PVS(Potentially visible set)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363547"/>
                  </a:ext>
                </a:extLst>
              </a:tr>
              <a:tr h="38671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버그 테스트 및 수정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C191F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C191F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C19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4982425"/>
                  </a:ext>
                </a:extLst>
              </a:tr>
            </a:tbl>
          </a:graphicData>
        </a:graphic>
      </p:graphicFrame>
      <p:graphicFrame>
        <p:nvGraphicFramePr>
          <p:cNvPr id="5" name="Google Shape;223;p27">
            <a:extLst>
              <a:ext uri="{FF2B5EF4-FFF2-40B4-BE49-F238E27FC236}">
                <a16:creationId xmlns:a16="http://schemas.microsoft.com/office/drawing/2014/main" id="{F6BE7BFB-E6C2-7E6E-DA8D-3567A8C1AB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51882032"/>
              </p:ext>
            </p:extLst>
          </p:nvPr>
        </p:nvGraphicFramePr>
        <p:xfrm>
          <a:off x="10857837" y="95484"/>
          <a:ext cx="1050116" cy="15238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25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0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dirty="0"/>
                        <a:t>박동규</a:t>
                      </a:r>
                      <a:endParaRPr sz="8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/>
                    </a:p>
                  </a:txBody>
                  <a:tcPr marL="91425" marR="91425" marT="91425" marB="91425">
                    <a:solidFill>
                      <a:srgbClr val="1ECE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dirty="0"/>
                        <a:t>김우빈</a:t>
                      </a:r>
                      <a:endParaRPr sz="8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 dirty="0"/>
                    </a:p>
                  </a:txBody>
                  <a:tcPr marL="91425" marR="91425" marT="91425" marB="9142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dirty="0" err="1"/>
                        <a:t>황석주</a:t>
                      </a:r>
                      <a:endParaRPr sz="8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/>
                    </a:p>
                  </a:txBody>
                  <a:tcPr marL="91425" marR="91425" marT="91425" marB="91425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dirty="0" err="1"/>
                        <a:t>클라팀</a:t>
                      </a:r>
                      <a:endParaRPr sz="8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/>
                    </a:p>
                  </a:txBody>
                  <a:tcPr marL="91425" marR="91425" marT="91425" marB="91425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dirty="0"/>
                        <a:t>모두</a:t>
                      </a:r>
                      <a:endParaRPr sz="8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/>
                    </a:p>
                  </a:txBody>
                  <a:tcPr marL="91425" marR="91425" marT="91425" marB="91425">
                    <a:solidFill>
                      <a:srgbClr val="CC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6281195"/>
                  </a:ext>
                </a:extLst>
              </a:tr>
            </a:tbl>
          </a:graphicData>
        </a:graphic>
      </p:graphicFrame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02BBEFD-8B1F-0272-43F3-CA605931E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36F23-2DE0-4C93-9E4D-3BD093BFA6C9}" type="slidenum">
              <a:rPr lang="ko-KR" altLang="en-US" smtClean="0">
                <a:solidFill>
                  <a:schemeClr val="tx1"/>
                </a:solidFill>
              </a:rPr>
              <a:t>17</a:t>
            </a:fld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2223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A3D2A2B8-7D26-7C7A-5590-53E26C8645DD}"/>
              </a:ext>
            </a:extLst>
          </p:cNvPr>
          <p:cNvSpPr txBox="1"/>
          <p:nvPr/>
        </p:nvSpPr>
        <p:spPr>
          <a:xfrm>
            <a:off x="329766" y="272634"/>
            <a:ext cx="4884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/>
                <a:ea typeface="나눔스퀘어" panose="020B0600000101010101"/>
              </a:rPr>
              <a:t>08 </a:t>
            </a:r>
            <a:r>
              <a:rPr lang="en-US" altLang="ko-KR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/>
                <a:ea typeface="나눔스퀘어" panose="020B0600000101010101"/>
              </a:rPr>
              <a:t>QnA</a:t>
            </a:r>
            <a:endParaRPr lang="ko-KR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/>
              <a:ea typeface="나눔스퀘어" panose="020B0600000101010101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0914C1B-77C9-214F-4017-25DE728B1F42}"/>
              </a:ext>
            </a:extLst>
          </p:cNvPr>
          <p:cNvSpPr/>
          <p:nvPr/>
        </p:nvSpPr>
        <p:spPr>
          <a:xfrm>
            <a:off x="284047" y="272634"/>
            <a:ext cx="45719" cy="49638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7C38E8-6988-107D-2FA4-518A70710739}"/>
              </a:ext>
            </a:extLst>
          </p:cNvPr>
          <p:cNvSpPr txBox="1"/>
          <p:nvPr/>
        </p:nvSpPr>
        <p:spPr>
          <a:xfrm>
            <a:off x="580372" y="2855212"/>
            <a:ext cx="108554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b="1" dirty="0">
                <a:latin typeface="+mn-ea"/>
              </a:rPr>
              <a:t>Q n A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208746F-F71B-4CEF-9B32-B8FC20995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36F23-2DE0-4C93-9E4D-3BD093BFA6C9}" type="slidenum">
              <a:rPr lang="ko-KR" altLang="en-US" smtClean="0">
                <a:solidFill>
                  <a:schemeClr val="tx1"/>
                </a:solidFill>
              </a:rPr>
              <a:t>18</a:t>
            </a:fld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9193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0D46A9E-AF5B-4504-97A9-3E7E60AD466F}"/>
              </a:ext>
            </a:extLst>
          </p:cNvPr>
          <p:cNvSpPr txBox="1"/>
          <p:nvPr/>
        </p:nvSpPr>
        <p:spPr>
          <a:xfrm>
            <a:off x="668295" y="2828835"/>
            <a:ext cx="108554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200" b="1" dirty="0">
                <a:latin typeface="+mn-ea"/>
              </a:rPr>
              <a:t>감사합니다</a:t>
            </a:r>
            <a:r>
              <a:rPr lang="en-US" altLang="ko-KR" sz="7200" b="1" dirty="0">
                <a:latin typeface="+mn-ea"/>
              </a:rPr>
              <a:t>.</a:t>
            </a:r>
            <a:endParaRPr lang="en-US" altLang="ko-KR" sz="5400" b="1" dirty="0">
              <a:latin typeface="+mn-ea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F4356CD-DF66-2AB2-DE29-7766D93D6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36F23-2DE0-4C93-9E4D-3BD093BFA6C9}" type="slidenum">
              <a:rPr lang="ko-KR" altLang="en-US" smtClean="0">
                <a:solidFill>
                  <a:schemeClr val="tx1"/>
                </a:solidFill>
              </a:rPr>
              <a:t>19</a:t>
            </a:fld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179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90"/>
    </mc:Choice>
    <mc:Fallback xmlns="">
      <p:transition spd="slow" advTm="1890"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2704</TotalTime>
  <Words>976</Words>
  <Application>Microsoft Office PowerPoint</Application>
  <PresentationFormat>와이드스크린</PresentationFormat>
  <Paragraphs>285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9" baseType="lpstr">
      <vt:lpstr>Whitney</vt:lpstr>
      <vt:lpstr>나눔스퀘어</vt:lpstr>
      <vt:lpstr>나눔스퀘어 Bold</vt:lpstr>
      <vt:lpstr>나눔스퀘어 ExtraBold</vt:lpstr>
      <vt:lpstr>맑은 고딕</vt:lpstr>
      <vt:lpstr>Aharoni</vt:lpstr>
      <vt:lpstr>Arial</vt:lpstr>
      <vt:lpstr>Stencil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요청사항</dc:creator>
  <cp:lastModifiedBy>박경준(2021180009)</cp:lastModifiedBy>
  <cp:revision>220</cp:revision>
  <dcterms:created xsi:type="dcterms:W3CDTF">2018-03-06T08:13:05Z</dcterms:created>
  <dcterms:modified xsi:type="dcterms:W3CDTF">2025-12-16T17:33:54Z</dcterms:modified>
</cp:coreProperties>
</file>