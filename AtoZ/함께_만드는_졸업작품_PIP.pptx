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인트로" id="{D8AE8E8D-C5B9-A979-630B-84C9B79B2291}">
          <p14:sldIdLst>
            <p14:sldId id="256"/>
            <p14:sldId id="257"/>
          </p14:sldIdLst>
        </p14:section>
        <p14:section name="제작 파이프라인" id="{EB6BFE21-58DD-1142-9858-FF9AF529DE98}">
          <p14:sldIdLst>
            <p14:sldId id="258"/>
            <p14:sldId id="259"/>
            <p14:sldId id="260"/>
            <p14:sldId id="261"/>
          </p14:sldIdLst>
        </p14:section>
        <p14:section name="개발 도구" id="{C8E24EF3-8638-7C04-5140-0FED2E7CCBDE}">
          <p14:sldIdLst>
            <p14:sldId id="262"/>
            <p14:sldId id="263"/>
          </p14:sldIdLst>
        </p14:section>
        <p14:section name="코딩 팁" id="{321F7E14-B7A2-5189-0339-30224EA900E1}">
          <p14:sldIdLst>
            <p14:sldId id="264"/>
            <p14:sldId id="265"/>
            <p14:sldId id="266"/>
            <p14:sldId id="267"/>
            <p14:sldId id="268"/>
          </p14:sldIdLst>
        </p14:section>
        <p14:section name="AI 활용" id="{C770BB59-BDC5-20E8-B269-98BF2C071275}">
          <p14:sldIdLst>
            <p14:sldId id="269"/>
            <p14:sldId id="270"/>
            <p14:sldId id="271"/>
            <p14:sldId id="272"/>
          </p14:sldIdLst>
        </p14:section>
        <p14:section name="팀원과의 관계" id="{57D1E1C1-0537-0C66-D28B-68985301198A}">
          <p14:sldIdLst>
            <p14:sldId id="273"/>
            <p14:sldId id="274"/>
            <p14:sldId id="275"/>
            <p14:sldId id="276"/>
          </p14:sldIdLst>
        </p14:section>
        <p14:section name="기타" id="{60440748-55A9-2CF2-561E-3EAE1DB8D50B}">
          <p14:sldIdLst>
            <p14:sldId id="277"/>
            <p14:sldId id="278"/>
          </p14:sldIdLst>
        </p14:section>
        <p14:section name="마무리" id="{0A936322-3C30-8986-22A5-21878622B106}">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99930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졸업작품 S.T.L을 만든 Team PIP입니다. 오늘은 저희가 졸업작품을 만들면서 직접 겪고 배운 것들을 '함께 만드는 졸업작품'이라는 주제로 공유하려고 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S.T.L 제작 파이프라인을 먼저 보여드리고, 개발 도구, 코딩 팁, AI 활용, 팀원과의 관계, 그리고 기타 팁까지 여섯 가지 순서로 이야기하겠습니다.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저희가 S.T.L을 어떤 순서로 만들었는지, 전체 제작 파이프라인부터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 기초 기획에서는 장르, 핵심 콘셉트, 게임 규모를 정했습니다. 규모는 단계별로 잡았는데, 처음에 크게 잡아도 개발하다 보면 결국 줄어들기 때문입니다. 그래서 1스테이지만 완성해도 게임이 똑같이 돌아가는 구조로 설계했고, 필요한 에셋은 이때 미리 구매했습니다. 2단계는 폴리싱 없는 데모입니다. 캐릭터를 육면체로 대신하고 기본 이동과 서버 동기화부터 구현했습니다. 그래픽보다 클라이언트와 서버를 잇는 뼈대가 먼저입니다. 이 시점에 팀원별 개인 연구과제도 확정하고 각자 개발을 시작했습니다.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3단계에서는 콘텐츠와 시스템 같은 세부 사항을 정해서 기획서로 정리했고, 팀이 합의한 기획서를 기준으로 기능을 하나씩 추가했습니다. 고민하는 단계에서는 코딩하지 마세요. 확정되지 않은 기획으로 짠 코드는 결국 다시 짜게 됩니다. 4단계는 규모 확장, 기초 폴리싱입니다. 데모를 실제 게임 형태로 키우면서 클라이언트는 그래픽스 요소를, 서버는 게임 콘텐츠를 추가했습니다.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5단계는 졸업작품 평가의 핵심인 개인 연구과제를 마무리하는 단계입니다. glTF 파서, PBR 렌더링, 서버 물리엔진 연동 같은 각자의 과제를 완성해서 게임에 통합했습니다. 마지막 6단계에서 UI를 붙이고, 하나의 코어 루프를 처음부터 끝까지 플레이할 수 있도록 완성했습니다. 기능 개수보다 루프 하나를 완결하는 게 완성도에 훨씬 중요합니다.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번째로 저희가 실제로 사용한 개발 도구들입니다.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그래픽스 디버거로는 PIX, RenderDoc, Nsight를 썼고, CPU 분석에는 Concurrency Visualizer를 썼습니다. IDE는 Visual Studio, Rider, VS Code를 상황에 맞게 바꿔가며 썼는데, 하나만 고집하지 말고 여러 개 써보는 걸 추천합니다. 협업은 Git/GitHub, Notion(학교 메일 인증 시 무료), Craft, Discord를 활용했습니다.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파트별 코딩 팁입니다.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서버는 Unity 6 구조를 공식 매뉴얼로 파악하는 것부터 시작했습니다. Singleton, Component 같은 게임 디자인 패턴을 익혀두면 좋고, 네트워크 프로그래밍 실습 수업의 미니 졸작에서 배운 방식을 개발 철학으로 삼았습니다. 가장 중요한 건, 서버 디버깅은 코드보다 순서와 설계가 먼저라는 점입니다. 흐름을 그림으로 잘 그려두세요.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클라이언트와 그래픽스는 먼저 게임 규모를 파악하고 프레임워크의 기초를 설계하는 게 개발 속도를 좌우합니다. 그다음 구현할 기능의 공식 문서와 논문, 예를 들어 glTF 2.0 Khronos 공식 스펙이나 SIGGRAPH 논문부터 찾았습니다. 문서가 길면 AI로 요약해서 핵심부터 잡고, 필요한 부분만 원문을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디버깅할 때는 모든 걸 의심하세요. 당연한 건 없습니다. F11을 난타하면서 한 줄씩 따라가 보는 게 결국 제일 빠릅니다. 앞에서 소개한 디버깅 툴을 적극적으로 쓰고, 큰 코드를 만나면 GitDiagram(gitdiagram.com) 같은 도구로 구조부터 파악하세요.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협업에서는 두 가지만 지켜도 충돌이 크게 줄어듭니다. 첫째, 이미 있는 기능을 또 만들지 말고 먼저 찾아보세요. 둘째, 남의 코드는 지우지 말고 주석으로 물어보세요.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AI 활용입니다.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AI한테 '이거 만들어줘', '이거 안 돼'라고 하면 AI도 추측할 수밖에 없습니다. 'OO 기능에서 △△ 증상이 나는데, □□ 부분이 원인인 것 같아'처럼 기능, 증상, 추정 원인을 개발자 용어로 명확하게 전달하세요.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질문은 한 번에 하나씩 하세요. 여러 개를 섞으면 환각 가능성이 올라갑니다. 코드 컨벤션과 프레임워크 구조는 MD 파일로 정리해서 AI가 참고하게 하면 결과물의 일관성이 확 좋아집니다. 그리고 Claude는 1년 구독을 추천합니다. 마침 환율이 1,336원까지 내려왔으니 지금이 결제 타이밍입니다.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AI를 쓰는 건 전혀 부끄러운 일이 아닙니다. 모르는 채로 넘어가는 게 부끄러운 거죠. AI로 빠르게 배우고, 배운 걸 내 것으로 만드세요.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번째는 저희가 가장 강조하고 싶은, 팀원과의 관계입니다.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진짜 동료가 되려면 좋은 정보를 먼저 공유하는 사람이 되고, 뭐든 편하게 얘기할 수 있는 사이를 만드세요. 저희는 회의를 격주에 한 번, 재밌는 곳에서 하면서 추억을 많이 남겼습니다. 또 팀 상황을 같은 시각으로 보고 같은 미래를 그리는 게 중요합니다. 개인 일정은 공유하되 개인 생활은 존중하고, 단기 목표를 세워 함께 달성해 나갔습니다.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긍정적인 사고는 혼자가 아니라 '같이' 해야 합니다. 현실적인 팁으로, 장학금은 기업 연계형 등 최대한 많이 받으세요. 저희 팀의 공식 진리는 '돈 == 행복'입니다.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 방향은 만드는 사람들이 재밌다고 느끼는 쪽으로 잡으세요. 그래야 끝까지 갑니다. 범위는 연구과제와 그 게임에 꼭 필요한 기능으로 정했습니다. 결국 졸작은 연구과제 플러스 알파입니다.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짧게, 건강 이야기입니다.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60분 코딩하면 1번은 꼭 스트레칭하세요. 장비로는 버티컬 마우스와 인체공학 키보드를 추천합니다. 졸작은 장기전이라 몸이 버텨줘야 끝까지 갈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궁금한 점 있으시면 편하게 질문해 주세요.</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C2B4A"/>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554480"/>
            <a:ext cx="8229600" cy="457200"/>
          </a:xfrm>
          <a:prstGeom prst="rect">
            <a:avLst/>
          </a:prstGeom>
          <a:noFill/>
          <a:ln/>
        </p:spPr>
        <p:txBody>
          <a:bodyPr wrap="square" rtlCol="0"/>
          <a:lstStyle>
            <a:lvl1pPr marL="0" indent="0">
              <a:buNone/>
              <a:defRPr lang="en-US" sz="1800" b="1" dirty="0">
                <a:solidFill>
                  <a:schemeClr val="accent1"/>
                </a:solidFill>
              </a:defRPr>
            </a:lvl1pPr>
          </a:lstStyle>
          <a:p>
            <a:pPr marL="0" indent="0">
              <a:buNone/>
            </a:pPr>
            <a:endParaRPr lang="en-US" sz="1800" dirty="0"/>
          </a:p>
        </p:txBody>
      </p:sp>
      <p:sp>
        <p:nvSpPr>
          <p:cNvPr id="3" name="Text 0"/>
          <p:cNvSpPr>
            <a:spLocks noGrp="1"/>
          </p:cNvSpPr>
          <p:nvPr>
            <p:ph type="title" idx="101" hasCustomPrompt="1"/>
          </p:nvPr>
        </p:nvSpPr>
        <p:spPr>
          <a:xfrm>
            <a:off x="548640" y="2103120"/>
            <a:ext cx="10058400" cy="137160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4" name="Text 0"/>
          <p:cNvSpPr>
            <a:spLocks noGrp="1"/>
          </p:cNvSpPr>
          <p:nvPr>
            <p:ph type="body" idx="102" hasCustomPrompt="1"/>
          </p:nvPr>
        </p:nvSpPr>
        <p:spPr>
          <a:xfrm>
            <a:off x="548640" y="3657600"/>
            <a:ext cx="10058400" cy="548640"/>
          </a:xfrm>
          <a:prstGeom prst="rect">
            <a:avLst/>
          </a:prstGeom>
          <a:noFill/>
          <a:ln/>
        </p:spPr>
        <p:txBody>
          <a:bodyPr wrap="square" rtlCol="0"/>
          <a:lstStyle>
            <a:lvl1pPr marL="0" indent="0">
              <a:buNone/>
              <a:defRPr lang="en-US" sz="2200" dirty="0">
                <a:solidFill>
                  <a:schemeClr val="accent3"/>
                </a:solidFill>
              </a:defRPr>
            </a:lvl1pPr>
          </a:lstStyle>
          <a:p>
            <a:pPr marL="0" indent="0">
              <a:buNone/>
            </a:pPr>
            <a:endParaRPr lang="en-US" sz="2200" dirty="0"/>
          </a:p>
        </p:txBody>
      </p:sp>
      <p:sp>
        <p:nvSpPr>
          <p:cNvPr id="5" name="Text 0"/>
          <p:cNvSpPr>
            <a:spLocks noGrp="1"/>
          </p:cNvSpPr>
          <p:nvPr>
            <p:ph type="body" idx="103" hasCustomPrompt="1"/>
          </p:nvPr>
        </p:nvSpPr>
        <p:spPr>
          <a:xfrm>
            <a:off x="548640" y="5394960"/>
            <a:ext cx="10058400" cy="457200"/>
          </a:xfrm>
          <a:prstGeom prst="rect">
            <a:avLst/>
          </a:prstGeom>
          <a:noFill/>
          <a:ln/>
        </p:spPr>
        <p:txBody>
          <a:bodyPr wrap="square" rtlCol="0"/>
          <a:lstStyle>
            <a:lvl1pPr marL="0" indent="0">
              <a:buNone/>
              <a:defRPr lang="en-US" sz="1600" dirty="0">
                <a:solidFill>
                  <a:schemeClr val="bg1"/>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C2B4A"/>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3657600" cy="1188720"/>
          </a:xfrm>
          <a:prstGeom prst="rect">
            <a:avLst/>
          </a:prstGeom>
          <a:noFill/>
          <a:ln/>
        </p:spPr>
        <p:txBody>
          <a:bodyPr wrap="square" rtlCol="0"/>
          <a:lstStyle>
            <a:lvl1pPr marL="0" indent="0">
              <a:buNone/>
              <a:defRPr lang="en-US" sz="8000" b="1" dirty="0">
                <a:solidFill>
                  <a:schemeClr val="accent1"/>
                </a:solidFill>
              </a:defRPr>
            </a:lvl1pPr>
          </a:lstStyle>
          <a:p>
            <a:pPr marL="0" indent="0">
              <a:buNone/>
            </a:pPr>
            <a:endParaRPr lang="en-US" sz="8000" dirty="0"/>
          </a:p>
        </p:txBody>
      </p:sp>
      <p:sp>
        <p:nvSpPr>
          <p:cNvPr id="3" name="Text 0"/>
          <p:cNvSpPr>
            <a:spLocks noGrp="1"/>
          </p:cNvSpPr>
          <p:nvPr>
            <p:ph type="title" idx="101" hasCustomPrompt="1"/>
          </p:nvPr>
        </p:nvSpPr>
        <p:spPr>
          <a:xfrm>
            <a:off x="548640" y="3063240"/>
            <a:ext cx="10058400" cy="9144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548640" y="4069080"/>
            <a:ext cx="10058400" cy="548640"/>
          </a:xfrm>
          <a:prstGeom prst="rect">
            <a:avLst/>
          </a:prstGeom>
          <a:noFill/>
          <a:ln/>
        </p:spPr>
        <p:txBody>
          <a:bodyPr wrap="square" rtlCol="0"/>
          <a:lstStyle>
            <a:lvl1pPr marL="0" indent="0">
              <a:buNone/>
              <a:defRPr lang="en-US" sz="2000" dirty="0">
                <a:solidFill>
                  <a:schemeClr val="accent3"/>
                </a:solidFill>
              </a:defRPr>
            </a:lvl1pPr>
          </a:lstStyle>
          <a:p>
            <a:pPr marL="0" indent="0">
              <a:buNone/>
            </a:pPr>
            <a:endParaRPr lang="en-US" sz="2000" dirty="0"/>
          </a:p>
        </p:txBody>
      </p:sp>
      <p:sp>
        <p:nvSpPr>
          <p:cNvPr id="5" name="Text 0"/>
          <p:cNvSpPr/>
          <p:nvPr/>
        </p:nvSpPr>
        <p:spPr>
          <a:xfrm>
            <a:off x="548640" y="6263640"/>
            <a:ext cx="5486400" cy="274320"/>
          </a:xfrm>
          <a:prstGeom prst="rect">
            <a:avLst/>
          </a:prstGeom>
          <a:noFill/>
          <a:ln/>
        </p:spPr>
        <p:txBody>
          <a:bodyPr wrap="square" lIns="0" tIns="0" rIns="0" bIns="0" rtlCol="0" anchor="ctr"/>
          <a:lstStyle/>
          <a:p>
            <a:pPr marL="0" indent="0">
              <a:buNone/>
            </a:pPr>
            <a:r>
              <a:rPr lang="en-US" sz="1000" dirty="0">
                <a:solidFill>
                  <a:schemeClr val="accent3"/>
                </a:solidFill>
              </a:rPr>
              <a:t>함께 만드는 졸업작품  |  Team PIP</a:t>
            </a:r>
            <a:endParaRPr lang="en-US" sz="1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rtlCol="0"/>
          <a:lstStyle>
            <a:lvl1pPr marL="0" indent="0">
              <a:buNone/>
              <a:defRPr lang="en-US" sz="1300" b="1"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35508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함께 만드는 졸업작품  |  Team PIP</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hyperlink" Target="https://gitdiagram.com/" TargetMode="Externa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554480"/>
            <a:ext cx="8229600" cy="457200"/>
          </a:xfrm>
          <a:prstGeom prst="rect">
            <a:avLst/>
          </a:prstGeom>
          <a:noFill/>
          <a:ln/>
        </p:spPr>
        <p:txBody>
          <a:bodyPr wrap="square" lIns="0" tIns="0" rIns="0" bIns="0" rtlCol="0"/>
          <a:lstStyle/>
          <a:p>
            <a:pPr marL="0" indent="0">
              <a:buNone/>
            </a:pPr>
            <a:r>
              <a:rPr lang="en-US" sz="1800" b="1" dirty="0">
                <a:solidFill>
                  <a:schemeClr val="accent1"/>
                </a:solidFill>
              </a:rPr>
              <a:t>선배가 들려주는 졸업작품 A to Z</a:t>
            </a:r>
            <a:endParaRPr lang="en-US" sz="1800" dirty="0"/>
          </a:p>
        </p:txBody>
      </p:sp>
      <p:sp>
        <p:nvSpPr>
          <p:cNvPr id="3" name="Text 0"/>
          <p:cNvSpPr>
            <a:spLocks noGrp="1"/>
          </p:cNvSpPr>
          <p:nvPr>
            <p:ph type="title" idx="101" hasCustomPrompt="1"/>
          </p:nvPr>
        </p:nvSpPr>
        <p:spPr>
          <a:xfrm>
            <a:off x="548640" y="2103120"/>
            <a:ext cx="10058400" cy="1371600"/>
          </a:xfrm>
          <a:prstGeom prst="rect">
            <a:avLst/>
          </a:prstGeom>
          <a:noFill/>
          <a:ln/>
        </p:spPr>
        <p:txBody>
          <a:bodyPr wrap="square" lIns="0" tIns="0" rIns="0" bIns="0" rtlCol="0" anchor="ctr"/>
          <a:lstStyle/>
          <a:p>
            <a:pPr marL="0" indent="0" algn="l">
              <a:buNone/>
            </a:pPr>
            <a:r>
              <a:rPr lang="en-US" sz="6000" b="1" dirty="0">
                <a:solidFill>
                  <a:schemeClr val="bg1"/>
                </a:solidFill>
              </a:rPr>
              <a:t>함께 만드는 졸업작품</a:t>
            </a:r>
            <a:endParaRPr lang="en-US" sz="6000" dirty="0"/>
          </a:p>
        </p:txBody>
      </p:sp>
      <p:sp>
        <p:nvSpPr>
          <p:cNvPr id="4" name="Text 0"/>
          <p:cNvSpPr>
            <a:spLocks noGrp="1"/>
          </p:cNvSpPr>
          <p:nvPr>
            <p:ph type="body" idx="102" hasCustomPrompt="1"/>
          </p:nvPr>
        </p:nvSpPr>
        <p:spPr>
          <a:xfrm>
            <a:off x="548640" y="3657600"/>
            <a:ext cx="10058400" cy="548640"/>
          </a:xfrm>
          <a:prstGeom prst="rect">
            <a:avLst/>
          </a:prstGeom>
          <a:noFill/>
          <a:ln/>
        </p:spPr>
        <p:txBody>
          <a:bodyPr wrap="square" lIns="0" tIns="0" rIns="0" bIns="0" rtlCol="0"/>
          <a:lstStyle/>
          <a:p>
            <a:pPr marL="0" indent="0">
              <a:buNone/>
            </a:pPr>
            <a:r>
              <a:rPr lang="en-US" sz="2200" dirty="0">
                <a:solidFill>
                  <a:schemeClr val="accent3"/>
                </a:solidFill>
              </a:rPr>
              <a:t>Team PIP (</a:t>
            </a:r>
            <a:r>
              <a:rPr lang="ko-KR" altLang="en-US" sz="2200" dirty="0" err="1">
                <a:solidFill>
                  <a:schemeClr val="accent3"/>
                </a:solidFill>
              </a:rPr>
              <a:t>박경준</a:t>
            </a:r>
            <a:r>
              <a:rPr lang="ko-KR" altLang="en-US" sz="2200" dirty="0">
                <a:solidFill>
                  <a:schemeClr val="accent3"/>
                </a:solidFill>
              </a:rPr>
              <a:t> 임찬진 박대원</a:t>
            </a:r>
            <a:r>
              <a:rPr lang="en-US" sz="2200" dirty="0">
                <a:solidFill>
                  <a:schemeClr val="accent3"/>
                </a:solidFill>
              </a:rPr>
              <a:t>)  ·  졸업작품 「S.T.L」 </a:t>
            </a:r>
            <a:endParaRPr lang="en-US" sz="2200" dirty="0"/>
          </a:p>
        </p:txBody>
      </p:sp>
      <p:sp>
        <p:nvSpPr>
          <p:cNvPr id="5" name="Text 0"/>
          <p:cNvSpPr>
            <a:spLocks noGrp="1"/>
          </p:cNvSpPr>
          <p:nvPr>
            <p:ph type="body" idx="103" hasCustomPrompt="1"/>
          </p:nvPr>
        </p:nvSpPr>
        <p:spPr>
          <a:xfrm>
            <a:off x="548640" y="5394960"/>
            <a:ext cx="10058400" cy="457200"/>
          </a:xfrm>
          <a:prstGeom prst="rect">
            <a:avLst/>
          </a:prstGeom>
          <a:noFill/>
          <a:ln/>
        </p:spPr>
        <p:txBody>
          <a:bodyPr wrap="square" lIns="0" tIns="0" rIns="0" bIns="0" rtlCol="0"/>
          <a:lstStyle/>
          <a:p>
            <a:pPr marL="0" indent="0">
              <a:buNone/>
            </a:pPr>
            <a:r>
              <a:rPr lang="en-US" sz="1600" dirty="0">
                <a:solidFill>
                  <a:schemeClr val="bg1"/>
                </a:solidFill>
              </a:rPr>
              <a:t>2026. 10. 14 (수)  ·  E동 510호</a:t>
            </a:r>
            <a:endParaRPr lang="en-US" sz="1600" dirty="0"/>
          </a:p>
        </p:txBody>
      </p:sp>
      <p:sp>
        <p:nvSpPr>
          <p:cNvPr id="6" name="deco circle large"/>
          <p:cNvSpPr/>
          <p:nvPr/>
        </p:nvSpPr>
        <p:spPr>
          <a:xfrm>
            <a:off x="8778240" y="-1097280"/>
            <a:ext cx="4754880" cy="4754880"/>
          </a:xfrm>
          <a:prstGeom prst="ellipse">
            <a:avLst/>
          </a:prstGeom>
          <a:solidFill>
            <a:schemeClr val="accent2">
              <a:alpha val="30000"/>
            </a:schemeClr>
          </a:solidFill>
          <a:ln/>
        </p:spPr>
        <p:txBody>
          <a:bodyPr/>
          <a:lstStyle/>
          <a:p>
            <a:endParaRPr lang="ko-KR" altLang="en-US"/>
          </a:p>
        </p:txBody>
      </p:sp>
      <p:sp>
        <p:nvSpPr>
          <p:cNvPr id="7" name="deco circle accent"/>
          <p:cNvSpPr/>
          <p:nvPr/>
        </p:nvSpPr>
        <p:spPr>
          <a:xfrm>
            <a:off x="9966960" y="3931920"/>
            <a:ext cx="2011680" cy="2011680"/>
          </a:xfrm>
          <a:prstGeom prst="ellipse">
            <a:avLst/>
          </a:prstGeom>
          <a:solidFill>
            <a:schemeClr val="accent1">
              <a:alpha val="85000"/>
            </a:schemeClr>
          </a:solidFill>
          <a:ln/>
        </p:spPr>
        <p:txBody>
          <a:bodyPr/>
          <a:lstStyle/>
          <a:p>
            <a:endParaRPr lang="ko-KR" altLang="en-US"/>
          </a:p>
        </p:txBody>
      </p:sp>
      <p:pic>
        <p:nvPicPr>
          <p:cNvPr id="8" name="gamepad icon" descr="게임패드"/>
          <p:cNvPicPr>
            <a:picLocks noChangeAspect="1"/>
          </p:cNvPicPr>
          <p:nvPr/>
        </p:nvPicPr>
        <p:blipFill>
          <a:blip r:embed="rId3"/>
          <a:stretch>
            <a:fillRect/>
          </a:stretch>
        </p:blipFill>
        <p:spPr>
          <a:xfrm>
            <a:off x="10469880" y="443484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AGENDA</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오늘 이야기할 여섯 가지</a:t>
            </a:r>
            <a:endParaRPr lang="en-US" sz="3200" dirty="0"/>
          </a:p>
        </p:txBody>
      </p:sp>
      <p:sp>
        <p:nvSpPr>
          <p:cNvPr id="4" name="agenda card 01"/>
          <p:cNvSpPr/>
          <p:nvPr/>
        </p:nvSpPr>
        <p:spPr>
          <a:xfrm>
            <a:off x="548640" y="1783080"/>
            <a:ext cx="3515258" cy="1965960"/>
          </a:xfrm>
          <a:prstGeom prst="roundRect">
            <a:avLst>
              <a:gd name="adj" fmla="val 5581"/>
            </a:avLst>
          </a:prstGeom>
          <a:solidFill>
            <a:schemeClr val="bg2"/>
          </a:solidFill>
          <a:ln/>
        </p:spPr>
        <p:txBody>
          <a:bodyPr/>
          <a:lstStyle/>
          <a:p>
            <a:endParaRPr lang="ko-KR" altLang="en-US"/>
          </a:p>
        </p:txBody>
      </p:sp>
      <p:sp>
        <p:nvSpPr>
          <p:cNvPr id="5" name="agenda icon 01 circle"/>
          <p:cNvSpPr/>
          <p:nvPr/>
        </p:nvSpPr>
        <p:spPr>
          <a:xfrm>
            <a:off x="868680" y="2400300"/>
            <a:ext cx="731520" cy="731520"/>
          </a:xfrm>
          <a:prstGeom prst="ellipse">
            <a:avLst/>
          </a:prstGeom>
          <a:solidFill>
            <a:schemeClr val="tx2"/>
          </a:solidFill>
          <a:ln/>
        </p:spPr>
        <p:txBody>
          <a:bodyPr/>
          <a:lstStyle/>
          <a:p>
            <a:endParaRPr lang="ko-KR" altLang="en-US"/>
          </a:p>
        </p:txBody>
      </p:sp>
      <p:pic>
        <p:nvPicPr>
          <p:cNvPr id="6" name="agenda icon 01" descr="agenda icon 01"/>
          <p:cNvPicPr>
            <a:picLocks noChangeAspect="1"/>
          </p:cNvPicPr>
          <p:nvPr/>
        </p:nvPicPr>
        <p:blipFill>
          <a:blip r:embed="rId3"/>
          <a:stretch>
            <a:fillRect/>
          </a:stretch>
        </p:blipFill>
        <p:spPr>
          <a:xfrm>
            <a:off x="1051560" y="2583180"/>
            <a:ext cx="365760" cy="365760"/>
          </a:xfrm>
          <a:prstGeom prst="rect">
            <a:avLst/>
          </a:prstGeom>
        </p:spPr>
      </p:pic>
      <p:sp>
        <p:nvSpPr>
          <p:cNvPr id="7" name="Text 4"/>
          <p:cNvSpPr txBox="1"/>
          <p:nvPr/>
        </p:nvSpPr>
        <p:spPr>
          <a:xfrm>
            <a:off x="1828800" y="2148840"/>
            <a:ext cx="2052218" cy="411480"/>
          </a:xfrm>
          <a:prstGeom prst="rect">
            <a:avLst/>
          </a:prstGeom>
          <a:noFill/>
          <a:ln/>
        </p:spPr>
        <p:txBody>
          <a:bodyPr wrap="square" lIns="0" tIns="0" rIns="0" bIns="0" rtlCol="0" anchor="t"/>
          <a:lstStyle/>
          <a:p>
            <a:pPr marL="0" indent="0">
              <a:buNone/>
            </a:pPr>
            <a:r>
              <a:rPr lang="en-US" sz="2200" b="1" dirty="0">
                <a:solidFill>
                  <a:schemeClr val="accent1"/>
                </a:solidFill>
              </a:rPr>
              <a:t>01</a:t>
            </a:r>
            <a:endParaRPr lang="en-US" sz="2200" dirty="0"/>
          </a:p>
        </p:txBody>
      </p:sp>
      <p:sp>
        <p:nvSpPr>
          <p:cNvPr id="8" name="Text 5"/>
          <p:cNvSpPr txBox="1"/>
          <p:nvPr/>
        </p:nvSpPr>
        <p:spPr>
          <a:xfrm>
            <a:off x="1828800" y="2606040"/>
            <a:ext cx="2052218" cy="411480"/>
          </a:xfrm>
          <a:prstGeom prst="rect">
            <a:avLst/>
          </a:prstGeom>
          <a:noFill/>
          <a:ln/>
        </p:spPr>
        <p:txBody>
          <a:bodyPr wrap="square" lIns="0" tIns="0" rIns="0" bIns="0" rtlCol="0" anchor="t"/>
          <a:lstStyle/>
          <a:p>
            <a:pPr marL="0" indent="0">
              <a:buNone/>
            </a:pPr>
            <a:r>
              <a:rPr lang="en-US" sz="1900" b="1" dirty="0">
                <a:solidFill>
                  <a:schemeClr val="tx2"/>
                </a:solidFill>
              </a:rPr>
              <a:t>제작 파이프라인</a:t>
            </a:r>
            <a:endParaRPr lang="en-US" sz="1900" dirty="0"/>
          </a:p>
        </p:txBody>
      </p:sp>
      <p:sp>
        <p:nvSpPr>
          <p:cNvPr id="9" name="Text 6"/>
          <p:cNvSpPr txBox="1"/>
          <p:nvPr/>
        </p:nvSpPr>
        <p:spPr>
          <a:xfrm>
            <a:off x="1828800" y="3063240"/>
            <a:ext cx="2052218" cy="365760"/>
          </a:xfrm>
          <a:prstGeom prst="rect">
            <a:avLst/>
          </a:prstGeom>
          <a:noFill/>
          <a:ln/>
        </p:spPr>
        <p:txBody>
          <a:bodyPr wrap="square" lIns="0" tIns="0" rIns="0" bIns="0" rtlCol="0" anchor="t"/>
          <a:lstStyle/>
          <a:p>
            <a:pPr marL="0" indent="0">
              <a:buNone/>
            </a:pPr>
            <a:r>
              <a:rPr lang="en-US" sz="1400" dirty="0">
                <a:solidFill>
                  <a:schemeClr val="accent6"/>
                </a:solidFill>
              </a:rPr>
              <a:t>S.T.L을 만든 6단계</a:t>
            </a:r>
            <a:endParaRPr lang="en-US" sz="1400" dirty="0"/>
          </a:p>
        </p:txBody>
      </p:sp>
      <p:sp>
        <p:nvSpPr>
          <p:cNvPr id="10" name="agenda card 02"/>
          <p:cNvSpPr/>
          <p:nvPr/>
        </p:nvSpPr>
        <p:spPr>
          <a:xfrm>
            <a:off x="4338218" y="1783080"/>
            <a:ext cx="3515258" cy="1965960"/>
          </a:xfrm>
          <a:prstGeom prst="roundRect">
            <a:avLst>
              <a:gd name="adj" fmla="val 5581"/>
            </a:avLst>
          </a:prstGeom>
          <a:solidFill>
            <a:schemeClr val="bg2"/>
          </a:solidFill>
          <a:ln/>
        </p:spPr>
        <p:txBody>
          <a:bodyPr/>
          <a:lstStyle/>
          <a:p>
            <a:endParaRPr lang="ko-KR" altLang="en-US"/>
          </a:p>
        </p:txBody>
      </p:sp>
      <p:sp>
        <p:nvSpPr>
          <p:cNvPr id="11" name="agenda icon 02 circle"/>
          <p:cNvSpPr/>
          <p:nvPr/>
        </p:nvSpPr>
        <p:spPr>
          <a:xfrm>
            <a:off x="4658258" y="2400300"/>
            <a:ext cx="731520" cy="731520"/>
          </a:xfrm>
          <a:prstGeom prst="ellipse">
            <a:avLst/>
          </a:prstGeom>
          <a:solidFill>
            <a:schemeClr val="tx2"/>
          </a:solidFill>
          <a:ln/>
        </p:spPr>
        <p:txBody>
          <a:bodyPr/>
          <a:lstStyle/>
          <a:p>
            <a:endParaRPr lang="ko-KR" altLang="en-US"/>
          </a:p>
        </p:txBody>
      </p:sp>
      <p:pic>
        <p:nvPicPr>
          <p:cNvPr id="12" name="agenda icon 02" descr="agenda icon 02"/>
          <p:cNvPicPr>
            <a:picLocks noChangeAspect="1"/>
          </p:cNvPicPr>
          <p:nvPr/>
        </p:nvPicPr>
        <p:blipFill>
          <a:blip r:embed="rId4"/>
          <a:stretch>
            <a:fillRect/>
          </a:stretch>
        </p:blipFill>
        <p:spPr>
          <a:xfrm>
            <a:off x="4841138" y="2583180"/>
            <a:ext cx="365760" cy="365760"/>
          </a:xfrm>
          <a:prstGeom prst="rect">
            <a:avLst/>
          </a:prstGeom>
        </p:spPr>
      </p:pic>
      <p:sp>
        <p:nvSpPr>
          <p:cNvPr id="13" name="Text 9"/>
          <p:cNvSpPr txBox="1"/>
          <p:nvPr/>
        </p:nvSpPr>
        <p:spPr>
          <a:xfrm>
            <a:off x="5618378" y="2148840"/>
            <a:ext cx="2052218" cy="411480"/>
          </a:xfrm>
          <a:prstGeom prst="rect">
            <a:avLst/>
          </a:prstGeom>
          <a:noFill/>
          <a:ln/>
        </p:spPr>
        <p:txBody>
          <a:bodyPr wrap="square" lIns="0" tIns="0" rIns="0" bIns="0" rtlCol="0" anchor="t"/>
          <a:lstStyle/>
          <a:p>
            <a:pPr marL="0" indent="0">
              <a:buNone/>
            </a:pPr>
            <a:r>
              <a:rPr lang="en-US" sz="2200" b="1" dirty="0">
                <a:solidFill>
                  <a:schemeClr val="accent1"/>
                </a:solidFill>
              </a:rPr>
              <a:t>02</a:t>
            </a:r>
            <a:endParaRPr lang="en-US" sz="2200" dirty="0"/>
          </a:p>
        </p:txBody>
      </p:sp>
      <p:sp>
        <p:nvSpPr>
          <p:cNvPr id="14" name="Text 10"/>
          <p:cNvSpPr txBox="1"/>
          <p:nvPr/>
        </p:nvSpPr>
        <p:spPr>
          <a:xfrm>
            <a:off x="5618378" y="2606040"/>
            <a:ext cx="2052218" cy="411480"/>
          </a:xfrm>
          <a:prstGeom prst="rect">
            <a:avLst/>
          </a:prstGeom>
          <a:noFill/>
          <a:ln/>
        </p:spPr>
        <p:txBody>
          <a:bodyPr wrap="square" lIns="0" tIns="0" rIns="0" bIns="0" rtlCol="0" anchor="t"/>
          <a:lstStyle/>
          <a:p>
            <a:pPr marL="0" indent="0">
              <a:buNone/>
            </a:pPr>
            <a:r>
              <a:rPr lang="en-US" sz="1900" b="1" dirty="0">
                <a:solidFill>
                  <a:schemeClr val="tx2"/>
                </a:solidFill>
              </a:rPr>
              <a:t>개발 도구</a:t>
            </a:r>
            <a:endParaRPr lang="en-US" sz="1900" dirty="0"/>
          </a:p>
        </p:txBody>
      </p:sp>
      <p:sp>
        <p:nvSpPr>
          <p:cNvPr id="15" name="Text 11"/>
          <p:cNvSpPr txBox="1"/>
          <p:nvPr/>
        </p:nvSpPr>
        <p:spPr>
          <a:xfrm>
            <a:off x="5618378" y="3063240"/>
            <a:ext cx="2052218" cy="365760"/>
          </a:xfrm>
          <a:prstGeom prst="rect">
            <a:avLst/>
          </a:prstGeom>
          <a:noFill/>
          <a:ln/>
        </p:spPr>
        <p:txBody>
          <a:bodyPr wrap="square" lIns="0" tIns="0" rIns="0" bIns="0" rtlCol="0" anchor="t"/>
          <a:lstStyle/>
          <a:p>
            <a:pPr marL="0" indent="0">
              <a:buNone/>
            </a:pPr>
            <a:r>
              <a:rPr lang="en-US" sz="1400" dirty="0">
                <a:solidFill>
                  <a:schemeClr val="accent6"/>
                </a:solidFill>
              </a:rPr>
              <a:t>무엇으로 만들었나</a:t>
            </a:r>
            <a:endParaRPr lang="en-US" sz="1400" dirty="0"/>
          </a:p>
        </p:txBody>
      </p:sp>
      <p:sp>
        <p:nvSpPr>
          <p:cNvPr id="16" name="agenda card 03"/>
          <p:cNvSpPr/>
          <p:nvPr/>
        </p:nvSpPr>
        <p:spPr>
          <a:xfrm>
            <a:off x="8127797" y="1783080"/>
            <a:ext cx="3515258" cy="1965960"/>
          </a:xfrm>
          <a:prstGeom prst="roundRect">
            <a:avLst>
              <a:gd name="adj" fmla="val 5581"/>
            </a:avLst>
          </a:prstGeom>
          <a:solidFill>
            <a:schemeClr val="bg2"/>
          </a:solidFill>
          <a:ln/>
        </p:spPr>
        <p:txBody>
          <a:bodyPr/>
          <a:lstStyle/>
          <a:p>
            <a:endParaRPr lang="ko-KR" altLang="en-US"/>
          </a:p>
        </p:txBody>
      </p:sp>
      <p:sp>
        <p:nvSpPr>
          <p:cNvPr id="17" name="agenda icon 03 circle"/>
          <p:cNvSpPr/>
          <p:nvPr/>
        </p:nvSpPr>
        <p:spPr>
          <a:xfrm>
            <a:off x="8447837" y="2400300"/>
            <a:ext cx="731520" cy="731520"/>
          </a:xfrm>
          <a:prstGeom prst="ellipse">
            <a:avLst/>
          </a:prstGeom>
          <a:solidFill>
            <a:schemeClr val="tx2"/>
          </a:solidFill>
          <a:ln/>
        </p:spPr>
        <p:txBody>
          <a:bodyPr/>
          <a:lstStyle/>
          <a:p>
            <a:endParaRPr lang="ko-KR" altLang="en-US"/>
          </a:p>
        </p:txBody>
      </p:sp>
      <p:pic>
        <p:nvPicPr>
          <p:cNvPr id="18" name="agenda icon 03" descr="agenda icon 03"/>
          <p:cNvPicPr>
            <a:picLocks noChangeAspect="1"/>
          </p:cNvPicPr>
          <p:nvPr/>
        </p:nvPicPr>
        <p:blipFill>
          <a:blip r:embed="rId5"/>
          <a:stretch>
            <a:fillRect/>
          </a:stretch>
        </p:blipFill>
        <p:spPr>
          <a:xfrm>
            <a:off x="8630717" y="2583180"/>
            <a:ext cx="365760" cy="365760"/>
          </a:xfrm>
          <a:prstGeom prst="rect">
            <a:avLst/>
          </a:prstGeom>
        </p:spPr>
      </p:pic>
      <p:sp>
        <p:nvSpPr>
          <p:cNvPr id="19" name="Text 14"/>
          <p:cNvSpPr txBox="1"/>
          <p:nvPr/>
        </p:nvSpPr>
        <p:spPr>
          <a:xfrm>
            <a:off x="9407957" y="2148840"/>
            <a:ext cx="2052218" cy="411480"/>
          </a:xfrm>
          <a:prstGeom prst="rect">
            <a:avLst/>
          </a:prstGeom>
          <a:noFill/>
          <a:ln/>
        </p:spPr>
        <p:txBody>
          <a:bodyPr wrap="square" lIns="0" tIns="0" rIns="0" bIns="0" rtlCol="0" anchor="t"/>
          <a:lstStyle/>
          <a:p>
            <a:pPr marL="0" indent="0">
              <a:buNone/>
            </a:pPr>
            <a:r>
              <a:rPr lang="en-US" sz="2200" b="1" dirty="0">
                <a:solidFill>
                  <a:schemeClr val="accent1"/>
                </a:solidFill>
              </a:rPr>
              <a:t>03</a:t>
            </a:r>
            <a:endParaRPr lang="en-US" sz="2200" dirty="0"/>
          </a:p>
        </p:txBody>
      </p:sp>
      <p:sp>
        <p:nvSpPr>
          <p:cNvPr id="20" name="Text 15"/>
          <p:cNvSpPr txBox="1"/>
          <p:nvPr/>
        </p:nvSpPr>
        <p:spPr>
          <a:xfrm>
            <a:off x="9407957" y="2606040"/>
            <a:ext cx="2052218" cy="411480"/>
          </a:xfrm>
          <a:prstGeom prst="rect">
            <a:avLst/>
          </a:prstGeom>
          <a:noFill/>
          <a:ln/>
        </p:spPr>
        <p:txBody>
          <a:bodyPr wrap="square" lIns="0" tIns="0" rIns="0" bIns="0" rtlCol="0" anchor="t"/>
          <a:lstStyle/>
          <a:p>
            <a:pPr marL="0" indent="0">
              <a:buNone/>
            </a:pPr>
            <a:r>
              <a:rPr lang="en-US" sz="1900" b="1" dirty="0">
                <a:solidFill>
                  <a:schemeClr val="tx2"/>
                </a:solidFill>
              </a:rPr>
              <a:t>코딩 팁</a:t>
            </a:r>
            <a:endParaRPr lang="en-US" sz="1900" dirty="0"/>
          </a:p>
        </p:txBody>
      </p:sp>
      <p:sp>
        <p:nvSpPr>
          <p:cNvPr id="21" name="Text 16"/>
          <p:cNvSpPr txBox="1"/>
          <p:nvPr/>
        </p:nvSpPr>
        <p:spPr>
          <a:xfrm>
            <a:off x="9407957" y="3063240"/>
            <a:ext cx="2052218" cy="365760"/>
          </a:xfrm>
          <a:prstGeom prst="rect">
            <a:avLst/>
          </a:prstGeom>
          <a:noFill/>
          <a:ln/>
        </p:spPr>
        <p:txBody>
          <a:bodyPr wrap="square" lIns="0" tIns="0" rIns="0" bIns="0" rtlCol="0" anchor="t"/>
          <a:lstStyle/>
          <a:p>
            <a:pPr marL="0" indent="0">
              <a:buNone/>
            </a:pPr>
            <a:r>
              <a:rPr lang="en-US" sz="1400" dirty="0">
                <a:solidFill>
                  <a:schemeClr val="accent6"/>
                </a:solidFill>
              </a:rPr>
              <a:t>파트별 실전 팁</a:t>
            </a:r>
            <a:endParaRPr lang="en-US" sz="1400" dirty="0"/>
          </a:p>
        </p:txBody>
      </p:sp>
      <p:sp>
        <p:nvSpPr>
          <p:cNvPr id="22" name="agenda card 04"/>
          <p:cNvSpPr/>
          <p:nvPr/>
        </p:nvSpPr>
        <p:spPr>
          <a:xfrm>
            <a:off x="548640" y="4023360"/>
            <a:ext cx="3515258" cy="1965960"/>
          </a:xfrm>
          <a:prstGeom prst="roundRect">
            <a:avLst>
              <a:gd name="adj" fmla="val 5581"/>
            </a:avLst>
          </a:prstGeom>
          <a:solidFill>
            <a:schemeClr val="bg2"/>
          </a:solidFill>
          <a:ln/>
        </p:spPr>
        <p:txBody>
          <a:bodyPr/>
          <a:lstStyle/>
          <a:p>
            <a:endParaRPr lang="ko-KR" altLang="en-US"/>
          </a:p>
        </p:txBody>
      </p:sp>
      <p:sp>
        <p:nvSpPr>
          <p:cNvPr id="23" name="agenda icon 04 circle"/>
          <p:cNvSpPr/>
          <p:nvPr/>
        </p:nvSpPr>
        <p:spPr>
          <a:xfrm>
            <a:off x="868680" y="4640580"/>
            <a:ext cx="731520" cy="731520"/>
          </a:xfrm>
          <a:prstGeom prst="ellipse">
            <a:avLst/>
          </a:prstGeom>
          <a:solidFill>
            <a:schemeClr val="tx2"/>
          </a:solidFill>
          <a:ln/>
        </p:spPr>
        <p:txBody>
          <a:bodyPr/>
          <a:lstStyle/>
          <a:p>
            <a:endParaRPr lang="ko-KR" altLang="en-US"/>
          </a:p>
        </p:txBody>
      </p:sp>
      <p:pic>
        <p:nvPicPr>
          <p:cNvPr id="24" name="agenda icon 04" descr="agenda icon 04"/>
          <p:cNvPicPr>
            <a:picLocks noChangeAspect="1"/>
          </p:cNvPicPr>
          <p:nvPr/>
        </p:nvPicPr>
        <p:blipFill>
          <a:blip r:embed="rId6"/>
          <a:stretch>
            <a:fillRect/>
          </a:stretch>
        </p:blipFill>
        <p:spPr>
          <a:xfrm>
            <a:off x="1051560" y="4823460"/>
            <a:ext cx="365760" cy="365760"/>
          </a:xfrm>
          <a:prstGeom prst="rect">
            <a:avLst/>
          </a:prstGeom>
        </p:spPr>
      </p:pic>
      <p:sp>
        <p:nvSpPr>
          <p:cNvPr id="25" name="Text 19"/>
          <p:cNvSpPr txBox="1"/>
          <p:nvPr/>
        </p:nvSpPr>
        <p:spPr>
          <a:xfrm>
            <a:off x="1828800" y="4389120"/>
            <a:ext cx="2052218" cy="411480"/>
          </a:xfrm>
          <a:prstGeom prst="rect">
            <a:avLst/>
          </a:prstGeom>
          <a:noFill/>
          <a:ln/>
        </p:spPr>
        <p:txBody>
          <a:bodyPr wrap="square" lIns="0" tIns="0" rIns="0" bIns="0" rtlCol="0" anchor="t"/>
          <a:lstStyle/>
          <a:p>
            <a:pPr marL="0" indent="0">
              <a:buNone/>
            </a:pPr>
            <a:r>
              <a:rPr lang="en-US" sz="2200" b="1" dirty="0">
                <a:solidFill>
                  <a:schemeClr val="accent1"/>
                </a:solidFill>
              </a:rPr>
              <a:t>04</a:t>
            </a:r>
            <a:endParaRPr lang="en-US" sz="2200" dirty="0"/>
          </a:p>
        </p:txBody>
      </p:sp>
      <p:sp>
        <p:nvSpPr>
          <p:cNvPr id="26" name="Text 20"/>
          <p:cNvSpPr txBox="1"/>
          <p:nvPr/>
        </p:nvSpPr>
        <p:spPr>
          <a:xfrm>
            <a:off x="1828800" y="4846320"/>
            <a:ext cx="2052218" cy="411480"/>
          </a:xfrm>
          <a:prstGeom prst="rect">
            <a:avLst/>
          </a:prstGeom>
          <a:noFill/>
          <a:ln/>
        </p:spPr>
        <p:txBody>
          <a:bodyPr wrap="square" lIns="0" tIns="0" rIns="0" bIns="0" rtlCol="0" anchor="t"/>
          <a:lstStyle/>
          <a:p>
            <a:pPr marL="0" indent="0">
              <a:buNone/>
            </a:pPr>
            <a:r>
              <a:rPr lang="en-US" sz="1900" b="1" dirty="0">
                <a:solidFill>
                  <a:schemeClr val="tx2"/>
                </a:solidFill>
              </a:rPr>
              <a:t>AI 활용</a:t>
            </a:r>
            <a:endParaRPr lang="en-US" sz="1900" dirty="0"/>
          </a:p>
        </p:txBody>
      </p:sp>
      <p:sp>
        <p:nvSpPr>
          <p:cNvPr id="27" name="Text 21"/>
          <p:cNvSpPr txBox="1"/>
          <p:nvPr/>
        </p:nvSpPr>
        <p:spPr>
          <a:xfrm>
            <a:off x="1828800" y="5303520"/>
            <a:ext cx="2052218" cy="365760"/>
          </a:xfrm>
          <a:prstGeom prst="rect">
            <a:avLst/>
          </a:prstGeom>
          <a:noFill/>
          <a:ln/>
        </p:spPr>
        <p:txBody>
          <a:bodyPr wrap="square" lIns="0" tIns="0" rIns="0" bIns="0" rtlCol="0" anchor="t"/>
          <a:lstStyle/>
          <a:p>
            <a:pPr marL="0" indent="0">
              <a:buNone/>
            </a:pPr>
            <a:r>
              <a:rPr lang="en-US" sz="1400" dirty="0">
                <a:solidFill>
                  <a:schemeClr val="accent6"/>
                </a:solidFill>
              </a:rPr>
              <a:t>AI에게 제대로 묻는 법</a:t>
            </a:r>
            <a:endParaRPr lang="en-US" sz="1400" dirty="0"/>
          </a:p>
        </p:txBody>
      </p:sp>
      <p:sp>
        <p:nvSpPr>
          <p:cNvPr id="28" name="agenda card 05"/>
          <p:cNvSpPr/>
          <p:nvPr/>
        </p:nvSpPr>
        <p:spPr>
          <a:xfrm>
            <a:off x="4338218" y="4023360"/>
            <a:ext cx="3515258" cy="1965960"/>
          </a:xfrm>
          <a:prstGeom prst="roundRect">
            <a:avLst>
              <a:gd name="adj" fmla="val 5581"/>
            </a:avLst>
          </a:prstGeom>
          <a:solidFill>
            <a:schemeClr val="bg2"/>
          </a:solidFill>
          <a:ln/>
        </p:spPr>
        <p:txBody>
          <a:bodyPr/>
          <a:lstStyle/>
          <a:p>
            <a:endParaRPr lang="ko-KR" altLang="en-US"/>
          </a:p>
        </p:txBody>
      </p:sp>
      <p:sp>
        <p:nvSpPr>
          <p:cNvPr id="29" name="agenda icon 05 circle"/>
          <p:cNvSpPr/>
          <p:nvPr/>
        </p:nvSpPr>
        <p:spPr>
          <a:xfrm>
            <a:off x="4658258" y="4640580"/>
            <a:ext cx="731520" cy="731520"/>
          </a:xfrm>
          <a:prstGeom prst="ellipse">
            <a:avLst/>
          </a:prstGeom>
          <a:solidFill>
            <a:schemeClr val="tx2"/>
          </a:solidFill>
          <a:ln/>
        </p:spPr>
        <p:txBody>
          <a:bodyPr/>
          <a:lstStyle/>
          <a:p>
            <a:endParaRPr lang="ko-KR" altLang="en-US"/>
          </a:p>
        </p:txBody>
      </p:sp>
      <p:pic>
        <p:nvPicPr>
          <p:cNvPr id="30" name="agenda icon 05" descr="agenda icon 05"/>
          <p:cNvPicPr>
            <a:picLocks noChangeAspect="1"/>
          </p:cNvPicPr>
          <p:nvPr/>
        </p:nvPicPr>
        <p:blipFill>
          <a:blip r:embed="rId7"/>
          <a:stretch>
            <a:fillRect/>
          </a:stretch>
        </p:blipFill>
        <p:spPr>
          <a:xfrm>
            <a:off x="4841138" y="4823460"/>
            <a:ext cx="365760" cy="365760"/>
          </a:xfrm>
          <a:prstGeom prst="rect">
            <a:avLst/>
          </a:prstGeom>
        </p:spPr>
      </p:pic>
      <p:sp>
        <p:nvSpPr>
          <p:cNvPr id="31" name="Text 24"/>
          <p:cNvSpPr txBox="1"/>
          <p:nvPr/>
        </p:nvSpPr>
        <p:spPr>
          <a:xfrm>
            <a:off x="5618378" y="4389120"/>
            <a:ext cx="2052218" cy="411480"/>
          </a:xfrm>
          <a:prstGeom prst="rect">
            <a:avLst/>
          </a:prstGeom>
          <a:noFill/>
          <a:ln/>
        </p:spPr>
        <p:txBody>
          <a:bodyPr wrap="square" lIns="0" tIns="0" rIns="0" bIns="0" rtlCol="0" anchor="t"/>
          <a:lstStyle/>
          <a:p>
            <a:pPr marL="0" indent="0">
              <a:buNone/>
            </a:pPr>
            <a:r>
              <a:rPr lang="en-US" sz="2200" b="1" dirty="0">
                <a:solidFill>
                  <a:schemeClr val="accent1"/>
                </a:solidFill>
              </a:rPr>
              <a:t>05</a:t>
            </a:r>
            <a:endParaRPr lang="en-US" sz="2200" dirty="0"/>
          </a:p>
        </p:txBody>
      </p:sp>
      <p:sp>
        <p:nvSpPr>
          <p:cNvPr id="32" name="Text 25"/>
          <p:cNvSpPr txBox="1"/>
          <p:nvPr/>
        </p:nvSpPr>
        <p:spPr>
          <a:xfrm>
            <a:off x="5618378" y="4846320"/>
            <a:ext cx="2052218" cy="411480"/>
          </a:xfrm>
          <a:prstGeom prst="rect">
            <a:avLst/>
          </a:prstGeom>
          <a:noFill/>
          <a:ln/>
        </p:spPr>
        <p:txBody>
          <a:bodyPr wrap="square" lIns="0" tIns="0" rIns="0" bIns="0" rtlCol="0" anchor="t"/>
          <a:lstStyle/>
          <a:p>
            <a:pPr marL="0" indent="0">
              <a:buNone/>
            </a:pPr>
            <a:r>
              <a:rPr lang="en-US" sz="1900" b="1" dirty="0">
                <a:solidFill>
                  <a:schemeClr val="tx2"/>
                </a:solidFill>
              </a:rPr>
              <a:t>팀원과의 관계</a:t>
            </a:r>
            <a:endParaRPr lang="en-US" sz="1900" dirty="0"/>
          </a:p>
        </p:txBody>
      </p:sp>
      <p:sp>
        <p:nvSpPr>
          <p:cNvPr id="33" name="Text 26"/>
          <p:cNvSpPr txBox="1"/>
          <p:nvPr/>
        </p:nvSpPr>
        <p:spPr>
          <a:xfrm>
            <a:off x="5618378" y="5303520"/>
            <a:ext cx="2052218" cy="365760"/>
          </a:xfrm>
          <a:prstGeom prst="rect">
            <a:avLst/>
          </a:prstGeom>
          <a:noFill/>
          <a:ln/>
        </p:spPr>
        <p:txBody>
          <a:bodyPr wrap="square" lIns="0" tIns="0" rIns="0" bIns="0" rtlCol="0" anchor="t"/>
          <a:lstStyle/>
          <a:p>
            <a:pPr marL="0" indent="0">
              <a:buNone/>
            </a:pPr>
            <a:r>
              <a:rPr lang="en-US" sz="1400" dirty="0">
                <a:solidFill>
                  <a:schemeClr val="accent6"/>
                </a:solidFill>
              </a:rPr>
              <a:t>진짜 동료가 되는 법</a:t>
            </a:r>
            <a:endParaRPr lang="en-US" sz="1400" dirty="0"/>
          </a:p>
        </p:txBody>
      </p:sp>
      <p:sp>
        <p:nvSpPr>
          <p:cNvPr id="34" name="agenda card 06"/>
          <p:cNvSpPr/>
          <p:nvPr/>
        </p:nvSpPr>
        <p:spPr>
          <a:xfrm>
            <a:off x="8127797" y="4023360"/>
            <a:ext cx="3515258" cy="1965960"/>
          </a:xfrm>
          <a:prstGeom prst="roundRect">
            <a:avLst>
              <a:gd name="adj" fmla="val 5581"/>
            </a:avLst>
          </a:prstGeom>
          <a:solidFill>
            <a:schemeClr val="bg2"/>
          </a:solidFill>
          <a:ln/>
        </p:spPr>
        <p:txBody>
          <a:bodyPr/>
          <a:lstStyle/>
          <a:p>
            <a:endParaRPr lang="ko-KR" altLang="en-US"/>
          </a:p>
        </p:txBody>
      </p:sp>
      <p:sp>
        <p:nvSpPr>
          <p:cNvPr id="35" name="agenda icon 06 circle"/>
          <p:cNvSpPr/>
          <p:nvPr/>
        </p:nvSpPr>
        <p:spPr>
          <a:xfrm>
            <a:off x="8447837" y="4640580"/>
            <a:ext cx="731520" cy="731520"/>
          </a:xfrm>
          <a:prstGeom prst="ellipse">
            <a:avLst/>
          </a:prstGeom>
          <a:solidFill>
            <a:schemeClr val="tx2"/>
          </a:solidFill>
          <a:ln/>
        </p:spPr>
        <p:txBody>
          <a:bodyPr/>
          <a:lstStyle/>
          <a:p>
            <a:endParaRPr lang="ko-KR" altLang="en-US"/>
          </a:p>
        </p:txBody>
      </p:sp>
      <p:pic>
        <p:nvPicPr>
          <p:cNvPr id="36" name="agenda icon 06" descr="agenda icon 06"/>
          <p:cNvPicPr>
            <a:picLocks noChangeAspect="1"/>
          </p:cNvPicPr>
          <p:nvPr/>
        </p:nvPicPr>
        <p:blipFill>
          <a:blip r:embed="rId8"/>
          <a:stretch>
            <a:fillRect/>
          </a:stretch>
        </p:blipFill>
        <p:spPr>
          <a:xfrm>
            <a:off x="8630717" y="4823460"/>
            <a:ext cx="365760" cy="365760"/>
          </a:xfrm>
          <a:prstGeom prst="rect">
            <a:avLst/>
          </a:prstGeom>
        </p:spPr>
      </p:pic>
      <p:sp>
        <p:nvSpPr>
          <p:cNvPr id="37" name="Text 29"/>
          <p:cNvSpPr txBox="1"/>
          <p:nvPr/>
        </p:nvSpPr>
        <p:spPr>
          <a:xfrm>
            <a:off x="9407957" y="4389120"/>
            <a:ext cx="2052218" cy="411480"/>
          </a:xfrm>
          <a:prstGeom prst="rect">
            <a:avLst/>
          </a:prstGeom>
          <a:noFill/>
          <a:ln/>
        </p:spPr>
        <p:txBody>
          <a:bodyPr wrap="square" lIns="0" tIns="0" rIns="0" bIns="0" rtlCol="0" anchor="t"/>
          <a:lstStyle/>
          <a:p>
            <a:pPr marL="0" indent="0">
              <a:buNone/>
            </a:pPr>
            <a:r>
              <a:rPr lang="en-US" sz="2200" b="1" dirty="0">
                <a:solidFill>
                  <a:schemeClr val="accent1"/>
                </a:solidFill>
              </a:rPr>
              <a:t>06</a:t>
            </a:r>
            <a:endParaRPr lang="en-US" sz="2200" dirty="0"/>
          </a:p>
        </p:txBody>
      </p:sp>
      <p:sp>
        <p:nvSpPr>
          <p:cNvPr id="38" name="Text 30"/>
          <p:cNvSpPr txBox="1"/>
          <p:nvPr/>
        </p:nvSpPr>
        <p:spPr>
          <a:xfrm>
            <a:off x="9407957" y="4846320"/>
            <a:ext cx="2052218" cy="411480"/>
          </a:xfrm>
          <a:prstGeom prst="rect">
            <a:avLst/>
          </a:prstGeom>
          <a:noFill/>
          <a:ln/>
        </p:spPr>
        <p:txBody>
          <a:bodyPr wrap="square" lIns="0" tIns="0" rIns="0" bIns="0" rtlCol="0" anchor="t"/>
          <a:lstStyle/>
          <a:p>
            <a:pPr marL="0" indent="0">
              <a:buNone/>
            </a:pPr>
            <a:r>
              <a:rPr lang="en-US" sz="1900" b="1" dirty="0">
                <a:solidFill>
                  <a:schemeClr val="tx2"/>
                </a:solidFill>
              </a:rPr>
              <a:t>기타</a:t>
            </a:r>
            <a:endParaRPr lang="en-US" sz="1900" dirty="0"/>
          </a:p>
        </p:txBody>
      </p:sp>
      <p:sp>
        <p:nvSpPr>
          <p:cNvPr id="39" name="Text 31"/>
          <p:cNvSpPr txBox="1"/>
          <p:nvPr/>
        </p:nvSpPr>
        <p:spPr>
          <a:xfrm>
            <a:off x="9407957" y="5303520"/>
            <a:ext cx="2052218" cy="365760"/>
          </a:xfrm>
          <a:prstGeom prst="rect">
            <a:avLst/>
          </a:prstGeom>
          <a:noFill/>
          <a:ln/>
        </p:spPr>
        <p:txBody>
          <a:bodyPr wrap="square" lIns="0" tIns="0" rIns="0" bIns="0" rtlCol="0" anchor="t"/>
          <a:lstStyle/>
          <a:p>
            <a:pPr marL="0" indent="0">
              <a:buNone/>
            </a:pPr>
            <a:r>
              <a:rPr lang="en-US" sz="1400" dirty="0">
                <a:solidFill>
                  <a:schemeClr val="accent6"/>
                </a:solidFill>
              </a:rPr>
              <a:t>오래 버티는 습관</a:t>
            </a:r>
            <a:endParaRPr lang="en-US" sz="1400" dirty="0"/>
          </a:p>
        </p:txBody>
      </p:sp>
      <p:sp>
        <p:nvSpPr>
          <p:cNvPr id="40"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3657600" cy="1188720"/>
          </a:xfrm>
          <a:prstGeom prst="rect">
            <a:avLst/>
          </a:prstGeom>
          <a:noFill/>
          <a:ln/>
        </p:spPr>
        <p:txBody>
          <a:bodyPr wrap="square" lIns="0" tIns="0" rIns="0" bIns="0" rtlCol="0"/>
          <a:lstStyle/>
          <a:p>
            <a:pPr marL="0" indent="0">
              <a:buNone/>
            </a:pPr>
            <a:r>
              <a:rPr lang="en-US" sz="8000" b="1" dirty="0">
                <a:solidFill>
                  <a:schemeClr val="accent1"/>
                </a:solidFill>
              </a:rPr>
              <a:t>01</a:t>
            </a:r>
            <a:endParaRPr lang="en-US" sz="8000" dirty="0"/>
          </a:p>
        </p:txBody>
      </p:sp>
      <p:sp>
        <p:nvSpPr>
          <p:cNvPr id="3" name="Text 0"/>
          <p:cNvSpPr>
            <a:spLocks noGrp="1"/>
          </p:cNvSpPr>
          <p:nvPr>
            <p:ph type="title" idx="101" hasCustomPrompt="1"/>
          </p:nvPr>
        </p:nvSpPr>
        <p:spPr>
          <a:xfrm>
            <a:off x="548640" y="3063240"/>
            <a:ext cx="10058400" cy="914400"/>
          </a:xfrm>
          <a:prstGeom prst="rect">
            <a:avLst/>
          </a:prstGeom>
          <a:noFill/>
          <a:ln/>
        </p:spPr>
        <p:txBody>
          <a:bodyPr wrap="square" lIns="0" tIns="0" rIns="0" bIns="0" rtlCol="0"/>
          <a:lstStyle/>
          <a:p>
            <a:pPr marL="0" indent="0" algn="l">
              <a:buNone/>
            </a:pPr>
            <a:r>
              <a:rPr lang="en-US" sz="4400" b="1" dirty="0">
                <a:solidFill>
                  <a:schemeClr val="bg1"/>
                </a:solidFill>
              </a:rPr>
              <a:t>S.T.L 제작 파이프라인</a:t>
            </a:r>
            <a:endParaRPr lang="en-US" sz="4400" dirty="0"/>
          </a:p>
        </p:txBody>
      </p:sp>
      <p:sp>
        <p:nvSpPr>
          <p:cNvPr id="4" name="Text 0"/>
          <p:cNvSpPr>
            <a:spLocks noGrp="1"/>
          </p:cNvSpPr>
          <p:nvPr>
            <p:ph type="body" idx="102" hasCustomPrompt="1"/>
          </p:nvPr>
        </p:nvSpPr>
        <p:spPr>
          <a:xfrm>
            <a:off x="548640" y="4069080"/>
            <a:ext cx="10058400" cy="548640"/>
          </a:xfrm>
          <a:prstGeom prst="rect">
            <a:avLst/>
          </a:prstGeom>
          <a:noFill/>
          <a:ln/>
        </p:spPr>
        <p:txBody>
          <a:bodyPr wrap="square" lIns="0" tIns="0" rIns="0" bIns="0" rtlCol="0"/>
          <a:lstStyle/>
          <a:p>
            <a:pPr marL="0" indent="0">
              <a:buNone/>
            </a:pPr>
            <a:r>
              <a:rPr lang="en-US" sz="2000" dirty="0">
                <a:solidFill>
                  <a:schemeClr val="accent3"/>
                </a:solidFill>
              </a:rPr>
              <a:t>기획부터 코어 루프까지, 6단계로 만들었다</a:t>
            </a:r>
            <a:endParaRPr lang="en-US" sz="2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01  S.T.L 제작 파이프라인  ·  1–2단계</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S.T.L 제작 파이프라인</a:t>
            </a:r>
            <a:endParaRPr lang="en-US" sz="3200" dirty="0"/>
          </a:p>
        </p:txBody>
      </p:sp>
      <p:sp>
        <p:nvSpPr>
          <p:cNvPr id="4" name="stepper line"/>
          <p:cNvSpPr/>
          <p:nvPr/>
        </p:nvSpPr>
        <p:spPr>
          <a:xfrm>
            <a:off x="1463040" y="1783080"/>
            <a:ext cx="9265615" cy="0"/>
          </a:xfrm>
          <a:prstGeom prst="line">
            <a:avLst/>
          </a:prstGeom>
          <a:noFill/>
          <a:ln w="19050">
            <a:solidFill>
              <a:schemeClr val="accent3"/>
            </a:solidFill>
            <a:prstDash val="solid"/>
          </a:ln>
        </p:spPr>
        <p:txBody>
          <a:bodyPr/>
          <a:lstStyle/>
          <a:p>
            <a:endParaRPr lang="ko-KR" altLang="en-US"/>
          </a:p>
        </p:txBody>
      </p:sp>
      <p:sp>
        <p:nvSpPr>
          <p:cNvPr id="5" name="step 1"/>
          <p:cNvSpPr/>
          <p:nvPr/>
        </p:nvSpPr>
        <p:spPr>
          <a:xfrm>
            <a:off x="1211580" y="1531620"/>
            <a:ext cx="502920" cy="502920"/>
          </a:xfrm>
          <a:prstGeom prst="ellipse">
            <a:avLst/>
          </a:prstGeom>
          <a:solidFill>
            <a:schemeClr val="accent1"/>
          </a:solidFill>
          <a:ln/>
        </p:spPr>
        <p:txBody>
          <a:bodyPr/>
          <a:lstStyle/>
          <a:p>
            <a:endParaRPr lang="ko-KR" altLang="en-US"/>
          </a:p>
        </p:txBody>
      </p:sp>
      <p:sp>
        <p:nvSpPr>
          <p:cNvPr id="6" name="Text 4"/>
          <p:cNvSpPr txBox="1"/>
          <p:nvPr/>
        </p:nvSpPr>
        <p:spPr>
          <a:xfrm>
            <a:off x="1211580"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548640" y="2148840"/>
            <a:ext cx="1828800" cy="320040"/>
          </a:xfrm>
          <a:prstGeom prst="rect">
            <a:avLst/>
          </a:prstGeom>
          <a:noFill/>
          <a:ln/>
        </p:spPr>
        <p:txBody>
          <a:bodyPr wrap="square" lIns="0" tIns="0" rIns="0" bIns="0" rtlCol="0" anchor="t"/>
          <a:lstStyle/>
          <a:p>
            <a:pPr marL="0" indent="0" algn="ctr">
              <a:buNone/>
            </a:pPr>
            <a:r>
              <a:rPr lang="en-US" sz="1400" b="1" dirty="0">
                <a:solidFill>
                  <a:schemeClr val="tx2"/>
                </a:solidFill>
              </a:rPr>
              <a:t>기초 기획</a:t>
            </a:r>
            <a:endParaRPr lang="en-US" sz="1400" dirty="0"/>
          </a:p>
        </p:txBody>
      </p:sp>
      <p:sp>
        <p:nvSpPr>
          <p:cNvPr id="8" name="step 2"/>
          <p:cNvSpPr/>
          <p:nvPr/>
        </p:nvSpPr>
        <p:spPr>
          <a:xfrm>
            <a:off x="3064703" y="1531620"/>
            <a:ext cx="502920" cy="502920"/>
          </a:xfrm>
          <a:prstGeom prst="ellipse">
            <a:avLst/>
          </a:prstGeom>
          <a:solidFill>
            <a:schemeClr val="accent1"/>
          </a:solidFill>
          <a:ln/>
        </p:spPr>
        <p:txBody>
          <a:bodyPr/>
          <a:lstStyle/>
          <a:p>
            <a:endParaRPr lang="ko-KR" altLang="en-US"/>
          </a:p>
        </p:txBody>
      </p:sp>
      <p:sp>
        <p:nvSpPr>
          <p:cNvPr id="9" name="Text 7"/>
          <p:cNvSpPr txBox="1"/>
          <p:nvPr/>
        </p:nvSpPr>
        <p:spPr>
          <a:xfrm>
            <a:off x="3064703"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0" name="Text 8"/>
          <p:cNvSpPr txBox="1"/>
          <p:nvPr/>
        </p:nvSpPr>
        <p:spPr>
          <a:xfrm>
            <a:off x="2401763" y="2148840"/>
            <a:ext cx="1828800" cy="320040"/>
          </a:xfrm>
          <a:prstGeom prst="rect">
            <a:avLst/>
          </a:prstGeom>
          <a:noFill/>
          <a:ln/>
        </p:spPr>
        <p:txBody>
          <a:bodyPr wrap="square" lIns="0" tIns="0" rIns="0" bIns="0" rtlCol="0" anchor="t"/>
          <a:lstStyle/>
          <a:p>
            <a:pPr marL="0" indent="0" algn="ctr">
              <a:buNone/>
            </a:pPr>
            <a:r>
              <a:rPr lang="en-US" sz="1400" b="1" dirty="0">
                <a:solidFill>
                  <a:schemeClr val="tx2"/>
                </a:solidFill>
              </a:rPr>
              <a:t>폴리싱 없는 데모</a:t>
            </a:r>
            <a:endParaRPr lang="en-US" sz="1400" dirty="0"/>
          </a:p>
        </p:txBody>
      </p:sp>
      <p:sp>
        <p:nvSpPr>
          <p:cNvPr id="11" name="step 3"/>
          <p:cNvSpPr/>
          <p:nvPr/>
        </p:nvSpPr>
        <p:spPr>
          <a:xfrm>
            <a:off x="4917826" y="1531620"/>
            <a:ext cx="502920" cy="502920"/>
          </a:xfrm>
          <a:prstGeom prst="ellipse">
            <a:avLst/>
          </a:prstGeom>
          <a:solidFill>
            <a:schemeClr val="bg1"/>
          </a:solidFill>
          <a:ln w="19050">
            <a:solidFill>
              <a:schemeClr val="accent3"/>
            </a:solidFill>
            <a:prstDash val="solid"/>
          </a:ln>
        </p:spPr>
        <p:txBody>
          <a:bodyPr/>
          <a:lstStyle/>
          <a:p>
            <a:endParaRPr lang="ko-KR" altLang="en-US"/>
          </a:p>
        </p:txBody>
      </p:sp>
      <p:sp>
        <p:nvSpPr>
          <p:cNvPr id="12" name="Text 10"/>
          <p:cNvSpPr txBox="1"/>
          <p:nvPr/>
        </p:nvSpPr>
        <p:spPr>
          <a:xfrm>
            <a:off x="4917826" y="1531620"/>
            <a:ext cx="502920" cy="502920"/>
          </a:xfrm>
          <a:prstGeom prst="rect">
            <a:avLst/>
          </a:prstGeom>
          <a:noFill/>
          <a:ln/>
        </p:spPr>
        <p:txBody>
          <a:bodyPr wrap="square" lIns="0" tIns="0" rIns="0" bIns="0" rtlCol="0" anchor="ctr"/>
          <a:lstStyle/>
          <a:p>
            <a:pPr marL="0" indent="0" algn="ctr">
              <a:buNone/>
            </a:pPr>
            <a:r>
              <a:rPr lang="en-US" sz="1500" b="1" dirty="0">
                <a:solidFill>
                  <a:schemeClr val="accent6"/>
                </a:solidFill>
              </a:rPr>
              <a:t>3</a:t>
            </a:r>
            <a:endParaRPr lang="en-US" sz="1500" dirty="0"/>
          </a:p>
        </p:txBody>
      </p:sp>
      <p:sp>
        <p:nvSpPr>
          <p:cNvPr id="13" name="Text 11"/>
          <p:cNvSpPr txBox="1"/>
          <p:nvPr/>
        </p:nvSpPr>
        <p:spPr>
          <a:xfrm>
            <a:off x="4254886"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기획 고도화</a:t>
            </a:r>
            <a:endParaRPr lang="en-US" sz="1400" dirty="0"/>
          </a:p>
        </p:txBody>
      </p:sp>
      <p:sp>
        <p:nvSpPr>
          <p:cNvPr id="14" name="step 4"/>
          <p:cNvSpPr/>
          <p:nvPr/>
        </p:nvSpPr>
        <p:spPr>
          <a:xfrm>
            <a:off x="6770949" y="1531620"/>
            <a:ext cx="502920" cy="502920"/>
          </a:xfrm>
          <a:prstGeom prst="ellipse">
            <a:avLst/>
          </a:prstGeom>
          <a:solidFill>
            <a:schemeClr val="bg1"/>
          </a:solidFill>
          <a:ln w="19050">
            <a:solidFill>
              <a:schemeClr val="accent3"/>
            </a:solidFill>
            <a:prstDash val="solid"/>
          </a:ln>
        </p:spPr>
        <p:txBody>
          <a:bodyPr/>
          <a:lstStyle/>
          <a:p>
            <a:endParaRPr lang="ko-KR" altLang="en-US"/>
          </a:p>
        </p:txBody>
      </p:sp>
      <p:sp>
        <p:nvSpPr>
          <p:cNvPr id="15" name="Text 13"/>
          <p:cNvSpPr txBox="1"/>
          <p:nvPr/>
        </p:nvSpPr>
        <p:spPr>
          <a:xfrm>
            <a:off x="6770949" y="1531620"/>
            <a:ext cx="502920" cy="502920"/>
          </a:xfrm>
          <a:prstGeom prst="rect">
            <a:avLst/>
          </a:prstGeom>
          <a:noFill/>
          <a:ln/>
        </p:spPr>
        <p:txBody>
          <a:bodyPr wrap="square" lIns="0" tIns="0" rIns="0" bIns="0" rtlCol="0" anchor="ctr"/>
          <a:lstStyle/>
          <a:p>
            <a:pPr marL="0" indent="0" algn="ctr">
              <a:buNone/>
            </a:pPr>
            <a:r>
              <a:rPr lang="en-US" sz="1500" b="1" dirty="0">
                <a:solidFill>
                  <a:schemeClr val="accent6"/>
                </a:solidFill>
              </a:rPr>
              <a:t>4</a:t>
            </a:r>
            <a:endParaRPr lang="en-US" sz="1500" dirty="0"/>
          </a:p>
        </p:txBody>
      </p:sp>
      <p:sp>
        <p:nvSpPr>
          <p:cNvPr id="16" name="Text 14"/>
          <p:cNvSpPr txBox="1"/>
          <p:nvPr/>
        </p:nvSpPr>
        <p:spPr>
          <a:xfrm>
            <a:off x="6108009"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규모 확장</a:t>
            </a:r>
            <a:endParaRPr lang="en-US" sz="1400" dirty="0"/>
          </a:p>
        </p:txBody>
      </p:sp>
      <p:sp>
        <p:nvSpPr>
          <p:cNvPr id="17" name="step 5"/>
          <p:cNvSpPr/>
          <p:nvPr/>
        </p:nvSpPr>
        <p:spPr>
          <a:xfrm>
            <a:off x="8624072" y="1531620"/>
            <a:ext cx="502920" cy="502920"/>
          </a:xfrm>
          <a:prstGeom prst="ellipse">
            <a:avLst/>
          </a:prstGeom>
          <a:solidFill>
            <a:schemeClr val="bg1"/>
          </a:solidFill>
          <a:ln w="19050">
            <a:solidFill>
              <a:schemeClr val="accent3"/>
            </a:solidFill>
            <a:prstDash val="solid"/>
          </a:ln>
        </p:spPr>
        <p:txBody>
          <a:bodyPr/>
          <a:lstStyle/>
          <a:p>
            <a:endParaRPr lang="ko-KR" altLang="en-US"/>
          </a:p>
        </p:txBody>
      </p:sp>
      <p:sp>
        <p:nvSpPr>
          <p:cNvPr id="18" name="Text 16"/>
          <p:cNvSpPr txBox="1"/>
          <p:nvPr/>
        </p:nvSpPr>
        <p:spPr>
          <a:xfrm>
            <a:off x="8624072" y="1531620"/>
            <a:ext cx="502920" cy="502920"/>
          </a:xfrm>
          <a:prstGeom prst="rect">
            <a:avLst/>
          </a:prstGeom>
          <a:noFill/>
          <a:ln/>
        </p:spPr>
        <p:txBody>
          <a:bodyPr wrap="square" lIns="0" tIns="0" rIns="0" bIns="0" rtlCol="0" anchor="ctr"/>
          <a:lstStyle/>
          <a:p>
            <a:pPr marL="0" indent="0" algn="ctr">
              <a:buNone/>
            </a:pPr>
            <a:r>
              <a:rPr lang="en-US" sz="1500" b="1" dirty="0">
                <a:solidFill>
                  <a:schemeClr val="accent6"/>
                </a:solidFill>
              </a:rPr>
              <a:t>5</a:t>
            </a:r>
            <a:endParaRPr lang="en-US" sz="1500" dirty="0"/>
          </a:p>
        </p:txBody>
      </p:sp>
      <p:sp>
        <p:nvSpPr>
          <p:cNvPr id="19" name="Text 17"/>
          <p:cNvSpPr txBox="1"/>
          <p:nvPr/>
        </p:nvSpPr>
        <p:spPr>
          <a:xfrm>
            <a:off x="7961132"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연구과제 완료</a:t>
            </a:r>
            <a:endParaRPr lang="en-US" sz="1400" dirty="0"/>
          </a:p>
        </p:txBody>
      </p:sp>
      <p:sp>
        <p:nvSpPr>
          <p:cNvPr id="20" name="step 6"/>
          <p:cNvSpPr/>
          <p:nvPr/>
        </p:nvSpPr>
        <p:spPr>
          <a:xfrm>
            <a:off x="10477195" y="1531620"/>
            <a:ext cx="502920" cy="502920"/>
          </a:xfrm>
          <a:prstGeom prst="ellipse">
            <a:avLst/>
          </a:prstGeom>
          <a:solidFill>
            <a:schemeClr val="bg1"/>
          </a:solidFill>
          <a:ln w="19050">
            <a:solidFill>
              <a:schemeClr val="accent3"/>
            </a:solidFill>
            <a:prstDash val="solid"/>
          </a:ln>
        </p:spPr>
        <p:txBody>
          <a:bodyPr/>
          <a:lstStyle/>
          <a:p>
            <a:endParaRPr lang="ko-KR" altLang="en-US"/>
          </a:p>
        </p:txBody>
      </p:sp>
      <p:sp>
        <p:nvSpPr>
          <p:cNvPr id="21" name="Text 19"/>
          <p:cNvSpPr txBox="1"/>
          <p:nvPr/>
        </p:nvSpPr>
        <p:spPr>
          <a:xfrm>
            <a:off x="10477195" y="1531620"/>
            <a:ext cx="502920" cy="502920"/>
          </a:xfrm>
          <a:prstGeom prst="rect">
            <a:avLst/>
          </a:prstGeom>
          <a:noFill/>
          <a:ln/>
        </p:spPr>
        <p:txBody>
          <a:bodyPr wrap="square" lIns="0" tIns="0" rIns="0" bIns="0" rtlCol="0" anchor="ctr"/>
          <a:lstStyle/>
          <a:p>
            <a:pPr marL="0" indent="0" algn="ctr">
              <a:buNone/>
            </a:pPr>
            <a:r>
              <a:rPr lang="en-US" sz="1500" b="1" dirty="0">
                <a:solidFill>
                  <a:schemeClr val="accent6"/>
                </a:solidFill>
              </a:rPr>
              <a:t>6</a:t>
            </a:r>
            <a:endParaRPr lang="en-US" sz="1500" dirty="0"/>
          </a:p>
        </p:txBody>
      </p:sp>
      <p:sp>
        <p:nvSpPr>
          <p:cNvPr id="22" name="Text 20"/>
          <p:cNvSpPr txBox="1"/>
          <p:nvPr/>
        </p:nvSpPr>
        <p:spPr>
          <a:xfrm>
            <a:off x="9814255"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UI · 코어 루프</a:t>
            </a:r>
            <a:endParaRPr lang="en-US" sz="1400" dirty="0"/>
          </a:p>
        </p:txBody>
      </p:sp>
      <p:sp>
        <p:nvSpPr>
          <p:cNvPr id="23" name="pipeline card 01"/>
          <p:cNvSpPr/>
          <p:nvPr/>
        </p:nvSpPr>
        <p:spPr>
          <a:xfrm>
            <a:off x="548640" y="2743200"/>
            <a:ext cx="5410048" cy="3383280"/>
          </a:xfrm>
          <a:prstGeom prst="roundRect">
            <a:avLst>
              <a:gd name="adj" fmla="val 3243"/>
            </a:avLst>
          </a:prstGeom>
          <a:solidFill>
            <a:schemeClr val="bg2"/>
          </a:solidFill>
          <a:ln/>
        </p:spPr>
        <p:txBody>
          <a:bodyPr/>
          <a:lstStyle/>
          <a:p>
            <a:endParaRPr lang="ko-KR" altLang="en-US"/>
          </a:p>
        </p:txBody>
      </p:sp>
      <p:sp>
        <p:nvSpPr>
          <p:cNvPr id="24" name="Text 22"/>
          <p:cNvSpPr txBox="1"/>
          <p:nvPr/>
        </p:nvSpPr>
        <p:spPr>
          <a:xfrm>
            <a:off x="960120" y="3063240"/>
            <a:ext cx="822960" cy="548640"/>
          </a:xfrm>
          <a:prstGeom prst="rect">
            <a:avLst/>
          </a:prstGeom>
          <a:noFill/>
          <a:ln/>
        </p:spPr>
        <p:txBody>
          <a:bodyPr wrap="square" lIns="0" tIns="0" rIns="0" bIns="0" rtlCol="0" anchor="ctr"/>
          <a:lstStyle/>
          <a:p>
            <a:pPr marL="0" indent="0">
              <a:buNone/>
            </a:pPr>
            <a:r>
              <a:rPr lang="en-US" sz="3000" b="1" dirty="0">
                <a:solidFill>
                  <a:schemeClr val="accent1"/>
                </a:solidFill>
              </a:rPr>
              <a:t>01</a:t>
            </a:r>
            <a:endParaRPr lang="en-US" sz="3000" dirty="0"/>
          </a:p>
        </p:txBody>
      </p:sp>
      <p:sp>
        <p:nvSpPr>
          <p:cNvPr id="25" name="Text 23"/>
          <p:cNvSpPr txBox="1"/>
          <p:nvPr/>
        </p:nvSpPr>
        <p:spPr>
          <a:xfrm>
            <a:off x="1783080" y="3063240"/>
            <a:ext cx="3855568" cy="548640"/>
          </a:xfrm>
          <a:prstGeom prst="rect">
            <a:avLst/>
          </a:prstGeom>
          <a:noFill/>
          <a:ln/>
        </p:spPr>
        <p:txBody>
          <a:bodyPr wrap="square" lIns="0" tIns="0" rIns="0" bIns="0" rtlCol="0" anchor="ctr"/>
          <a:lstStyle/>
          <a:p>
            <a:pPr marL="0" indent="0">
              <a:buNone/>
            </a:pPr>
            <a:r>
              <a:rPr lang="en-US" sz="2100" b="1" dirty="0">
                <a:solidFill>
                  <a:schemeClr val="tx2"/>
                </a:solidFill>
              </a:rPr>
              <a:t>기초 기획</a:t>
            </a:r>
            <a:endParaRPr lang="en-US" sz="2100" dirty="0"/>
          </a:p>
        </p:txBody>
      </p:sp>
      <p:sp>
        <p:nvSpPr>
          <p:cNvPr id="26" name="Text 24"/>
          <p:cNvSpPr txBox="1"/>
          <p:nvPr/>
        </p:nvSpPr>
        <p:spPr>
          <a:xfrm>
            <a:off x="960120" y="3794760"/>
            <a:ext cx="4587088" cy="210312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장르, 핵심 콘셉트, 게임 규모를 결정</a:t>
            </a:r>
            <a:endParaRPr lang="en-US" sz="1500" dirty="0"/>
          </a:p>
          <a:p>
            <a:pPr marL="190500" indent="-190500">
              <a:spcAft>
                <a:spcPts val="600"/>
              </a:spcAft>
              <a:buSzPct val="100000"/>
              <a:buChar char="•"/>
            </a:pPr>
            <a:r>
              <a:rPr lang="en-US" sz="1500" dirty="0">
                <a:solidFill>
                  <a:schemeClr val="tx1"/>
                </a:solidFill>
              </a:rPr>
              <a:t>규모는 단계별로 설정. 처음에 크게 잡아도 개발 과정에서 결국 축소된다</a:t>
            </a:r>
            <a:endParaRPr lang="en-US" sz="1500" dirty="0"/>
          </a:p>
          <a:p>
            <a:pPr marL="190500" indent="-190500">
              <a:spcAft>
                <a:spcPts val="600"/>
              </a:spcAft>
              <a:buSzPct val="100000"/>
              <a:buChar char="•"/>
            </a:pPr>
            <a:r>
              <a:rPr lang="en-US" sz="1500" dirty="0">
                <a:solidFill>
                  <a:schemeClr val="tx1"/>
                </a:solidFill>
              </a:rPr>
              <a:t>1스테이지만 완성해도 게임이 동일하게 돌아가는 구조로 설계</a:t>
            </a:r>
            <a:endParaRPr lang="en-US" sz="1500" dirty="0"/>
          </a:p>
          <a:p>
            <a:pPr marL="190500" indent="-190500">
              <a:spcAft>
                <a:spcPts val="600"/>
              </a:spcAft>
              <a:buSzPct val="100000"/>
              <a:buChar char="•"/>
            </a:pPr>
            <a:r>
              <a:rPr lang="en-US" sz="1500" dirty="0">
                <a:solidFill>
                  <a:schemeClr val="tx1"/>
                </a:solidFill>
              </a:rPr>
              <a:t>필요한 에셋은 이 시점에 미리 구매</a:t>
            </a:r>
            <a:endParaRPr lang="en-US" sz="1500" dirty="0"/>
          </a:p>
        </p:txBody>
      </p:sp>
      <p:sp>
        <p:nvSpPr>
          <p:cNvPr id="27" name="pipeline card 02"/>
          <p:cNvSpPr/>
          <p:nvPr/>
        </p:nvSpPr>
        <p:spPr>
          <a:xfrm>
            <a:off x="6233008" y="2743200"/>
            <a:ext cx="5410048" cy="3383280"/>
          </a:xfrm>
          <a:prstGeom prst="roundRect">
            <a:avLst>
              <a:gd name="adj" fmla="val 3243"/>
            </a:avLst>
          </a:prstGeom>
          <a:solidFill>
            <a:schemeClr val="bg2"/>
          </a:solidFill>
          <a:ln/>
        </p:spPr>
        <p:txBody>
          <a:bodyPr/>
          <a:lstStyle/>
          <a:p>
            <a:endParaRPr lang="ko-KR" altLang="en-US"/>
          </a:p>
        </p:txBody>
      </p:sp>
      <p:sp>
        <p:nvSpPr>
          <p:cNvPr id="28" name="Text 26"/>
          <p:cNvSpPr txBox="1"/>
          <p:nvPr/>
        </p:nvSpPr>
        <p:spPr>
          <a:xfrm>
            <a:off x="6644488" y="3063240"/>
            <a:ext cx="822960" cy="548640"/>
          </a:xfrm>
          <a:prstGeom prst="rect">
            <a:avLst/>
          </a:prstGeom>
          <a:noFill/>
          <a:ln/>
        </p:spPr>
        <p:txBody>
          <a:bodyPr wrap="square" lIns="0" tIns="0" rIns="0" bIns="0" rtlCol="0" anchor="ctr"/>
          <a:lstStyle/>
          <a:p>
            <a:pPr marL="0" indent="0">
              <a:buNone/>
            </a:pPr>
            <a:r>
              <a:rPr lang="en-US" sz="3000" b="1" dirty="0">
                <a:solidFill>
                  <a:schemeClr val="accent1"/>
                </a:solidFill>
              </a:rPr>
              <a:t>02</a:t>
            </a:r>
            <a:endParaRPr lang="en-US" sz="3000" dirty="0"/>
          </a:p>
        </p:txBody>
      </p:sp>
      <p:sp>
        <p:nvSpPr>
          <p:cNvPr id="29" name="Text 27"/>
          <p:cNvSpPr txBox="1"/>
          <p:nvPr/>
        </p:nvSpPr>
        <p:spPr>
          <a:xfrm>
            <a:off x="7467448" y="3063240"/>
            <a:ext cx="3855568" cy="548640"/>
          </a:xfrm>
          <a:prstGeom prst="rect">
            <a:avLst/>
          </a:prstGeom>
          <a:noFill/>
          <a:ln/>
        </p:spPr>
        <p:txBody>
          <a:bodyPr wrap="square" lIns="0" tIns="0" rIns="0" bIns="0" rtlCol="0" anchor="ctr"/>
          <a:lstStyle/>
          <a:p>
            <a:pPr marL="0" indent="0">
              <a:buNone/>
            </a:pPr>
            <a:r>
              <a:rPr lang="en-US" sz="2100" b="1" dirty="0">
                <a:solidFill>
                  <a:schemeClr val="tx2"/>
                </a:solidFill>
              </a:rPr>
              <a:t>폴리싱 없는 데모</a:t>
            </a:r>
            <a:endParaRPr lang="en-US" sz="2100" dirty="0"/>
          </a:p>
        </p:txBody>
      </p:sp>
      <p:sp>
        <p:nvSpPr>
          <p:cNvPr id="30" name="Text 28"/>
          <p:cNvSpPr txBox="1"/>
          <p:nvPr/>
        </p:nvSpPr>
        <p:spPr>
          <a:xfrm>
            <a:off x="6644488" y="3794760"/>
            <a:ext cx="4587088" cy="210312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캐릭터를 육면체로 대체하고 기본 이동과 서버 동기화를 먼저 구현</a:t>
            </a:r>
            <a:endParaRPr lang="en-US" sz="1500" dirty="0"/>
          </a:p>
          <a:p>
            <a:pPr marL="190500" indent="-190500">
              <a:spcAft>
                <a:spcPts val="600"/>
              </a:spcAft>
              <a:buSzPct val="100000"/>
              <a:buChar char="•"/>
            </a:pPr>
            <a:r>
              <a:rPr lang="en-US" sz="1500" dirty="0">
                <a:solidFill>
                  <a:schemeClr val="tx1"/>
                </a:solidFill>
              </a:rPr>
              <a:t>그래픽보다 클라이언트–서버를 연결하는 뼈대 구축이 우선</a:t>
            </a:r>
            <a:endParaRPr lang="en-US" sz="1500" dirty="0"/>
          </a:p>
          <a:p>
            <a:pPr marL="190500" indent="-190500">
              <a:spcAft>
                <a:spcPts val="600"/>
              </a:spcAft>
              <a:buSzPct val="100000"/>
              <a:buChar char="•"/>
            </a:pPr>
            <a:r>
              <a:rPr lang="en-US" sz="1500" dirty="0">
                <a:solidFill>
                  <a:schemeClr val="tx1"/>
                </a:solidFill>
              </a:rPr>
              <a:t>팀원별 개인 연구과제를 확정하고 각자 그 방향으로 개발 시작</a:t>
            </a:r>
            <a:endParaRPr lang="en-US" sz="1500" dirty="0"/>
          </a:p>
        </p:txBody>
      </p:sp>
      <p:sp>
        <p:nvSpPr>
          <p:cNvPr id="31"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01  S.T.L 제작 파이프라인  ·  3–4단계</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S.T.L 제작 파이프라인</a:t>
            </a:r>
            <a:endParaRPr lang="en-US" sz="3200" dirty="0"/>
          </a:p>
        </p:txBody>
      </p:sp>
      <p:sp>
        <p:nvSpPr>
          <p:cNvPr id="4" name="stepper line"/>
          <p:cNvSpPr/>
          <p:nvPr/>
        </p:nvSpPr>
        <p:spPr>
          <a:xfrm>
            <a:off x="1463040" y="1783080"/>
            <a:ext cx="9265615" cy="0"/>
          </a:xfrm>
          <a:prstGeom prst="line">
            <a:avLst/>
          </a:prstGeom>
          <a:noFill/>
          <a:ln w="19050">
            <a:solidFill>
              <a:schemeClr val="accent3"/>
            </a:solidFill>
            <a:prstDash val="solid"/>
          </a:ln>
        </p:spPr>
        <p:txBody>
          <a:bodyPr/>
          <a:lstStyle/>
          <a:p>
            <a:endParaRPr lang="ko-KR" altLang="en-US"/>
          </a:p>
        </p:txBody>
      </p:sp>
      <p:sp>
        <p:nvSpPr>
          <p:cNvPr id="5" name="step 1"/>
          <p:cNvSpPr/>
          <p:nvPr/>
        </p:nvSpPr>
        <p:spPr>
          <a:xfrm>
            <a:off x="1211580" y="1531620"/>
            <a:ext cx="502920" cy="502920"/>
          </a:xfrm>
          <a:prstGeom prst="ellipse">
            <a:avLst/>
          </a:prstGeom>
          <a:solidFill>
            <a:schemeClr val="tx2"/>
          </a:solidFill>
          <a:ln/>
        </p:spPr>
        <p:txBody>
          <a:bodyPr/>
          <a:lstStyle/>
          <a:p>
            <a:endParaRPr lang="ko-KR" altLang="en-US"/>
          </a:p>
        </p:txBody>
      </p:sp>
      <p:sp>
        <p:nvSpPr>
          <p:cNvPr id="6" name="Text 4"/>
          <p:cNvSpPr txBox="1"/>
          <p:nvPr/>
        </p:nvSpPr>
        <p:spPr>
          <a:xfrm>
            <a:off x="1211580"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548640"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기초 기획</a:t>
            </a:r>
            <a:endParaRPr lang="en-US" sz="1400" dirty="0"/>
          </a:p>
        </p:txBody>
      </p:sp>
      <p:sp>
        <p:nvSpPr>
          <p:cNvPr id="8" name="step 2"/>
          <p:cNvSpPr/>
          <p:nvPr/>
        </p:nvSpPr>
        <p:spPr>
          <a:xfrm>
            <a:off x="3064703" y="1531620"/>
            <a:ext cx="502920" cy="502920"/>
          </a:xfrm>
          <a:prstGeom prst="ellipse">
            <a:avLst/>
          </a:prstGeom>
          <a:solidFill>
            <a:schemeClr val="tx2"/>
          </a:solidFill>
          <a:ln/>
        </p:spPr>
        <p:txBody>
          <a:bodyPr/>
          <a:lstStyle/>
          <a:p>
            <a:endParaRPr lang="ko-KR" altLang="en-US"/>
          </a:p>
        </p:txBody>
      </p:sp>
      <p:sp>
        <p:nvSpPr>
          <p:cNvPr id="9" name="Text 7"/>
          <p:cNvSpPr txBox="1"/>
          <p:nvPr/>
        </p:nvSpPr>
        <p:spPr>
          <a:xfrm>
            <a:off x="3064703"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0" name="Text 8"/>
          <p:cNvSpPr txBox="1"/>
          <p:nvPr/>
        </p:nvSpPr>
        <p:spPr>
          <a:xfrm>
            <a:off x="2401763"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폴리싱 없는 데모</a:t>
            </a:r>
            <a:endParaRPr lang="en-US" sz="1400" dirty="0"/>
          </a:p>
        </p:txBody>
      </p:sp>
      <p:sp>
        <p:nvSpPr>
          <p:cNvPr id="11" name="step 3"/>
          <p:cNvSpPr/>
          <p:nvPr/>
        </p:nvSpPr>
        <p:spPr>
          <a:xfrm>
            <a:off x="4917826" y="1531620"/>
            <a:ext cx="502920" cy="502920"/>
          </a:xfrm>
          <a:prstGeom prst="ellipse">
            <a:avLst/>
          </a:prstGeom>
          <a:solidFill>
            <a:schemeClr val="accent1"/>
          </a:solidFill>
          <a:ln/>
        </p:spPr>
        <p:txBody>
          <a:bodyPr/>
          <a:lstStyle/>
          <a:p>
            <a:endParaRPr lang="ko-KR" altLang="en-US"/>
          </a:p>
        </p:txBody>
      </p:sp>
      <p:sp>
        <p:nvSpPr>
          <p:cNvPr id="12" name="Text 10"/>
          <p:cNvSpPr txBox="1"/>
          <p:nvPr/>
        </p:nvSpPr>
        <p:spPr>
          <a:xfrm>
            <a:off x="4917826"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3" name="Text 11"/>
          <p:cNvSpPr txBox="1"/>
          <p:nvPr/>
        </p:nvSpPr>
        <p:spPr>
          <a:xfrm>
            <a:off x="4254886" y="2148840"/>
            <a:ext cx="1828800" cy="320040"/>
          </a:xfrm>
          <a:prstGeom prst="rect">
            <a:avLst/>
          </a:prstGeom>
          <a:noFill/>
          <a:ln/>
        </p:spPr>
        <p:txBody>
          <a:bodyPr wrap="square" lIns="0" tIns="0" rIns="0" bIns="0" rtlCol="0" anchor="t"/>
          <a:lstStyle/>
          <a:p>
            <a:pPr marL="0" indent="0" algn="ctr">
              <a:buNone/>
            </a:pPr>
            <a:r>
              <a:rPr lang="en-US" sz="1400" b="1" dirty="0">
                <a:solidFill>
                  <a:schemeClr val="tx2"/>
                </a:solidFill>
              </a:rPr>
              <a:t>기획 고도화</a:t>
            </a:r>
            <a:endParaRPr lang="en-US" sz="1400" dirty="0"/>
          </a:p>
        </p:txBody>
      </p:sp>
      <p:sp>
        <p:nvSpPr>
          <p:cNvPr id="14" name="step 4"/>
          <p:cNvSpPr/>
          <p:nvPr/>
        </p:nvSpPr>
        <p:spPr>
          <a:xfrm>
            <a:off x="6770949" y="1531620"/>
            <a:ext cx="502920" cy="502920"/>
          </a:xfrm>
          <a:prstGeom prst="ellipse">
            <a:avLst/>
          </a:prstGeom>
          <a:solidFill>
            <a:schemeClr val="accent1"/>
          </a:solidFill>
          <a:ln/>
        </p:spPr>
        <p:txBody>
          <a:bodyPr/>
          <a:lstStyle/>
          <a:p>
            <a:endParaRPr lang="ko-KR" altLang="en-US"/>
          </a:p>
        </p:txBody>
      </p:sp>
      <p:sp>
        <p:nvSpPr>
          <p:cNvPr id="15" name="Text 13"/>
          <p:cNvSpPr txBox="1"/>
          <p:nvPr/>
        </p:nvSpPr>
        <p:spPr>
          <a:xfrm>
            <a:off x="6770949"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6" name="Text 14"/>
          <p:cNvSpPr txBox="1"/>
          <p:nvPr/>
        </p:nvSpPr>
        <p:spPr>
          <a:xfrm>
            <a:off x="6108009" y="2148840"/>
            <a:ext cx="1828800" cy="320040"/>
          </a:xfrm>
          <a:prstGeom prst="rect">
            <a:avLst/>
          </a:prstGeom>
          <a:noFill/>
          <a:ln/>
        </p:spPr>
        <p:txBody>
          <a:bodyPr wrap="square" lIns="0" tIns="0" rIns="0" bIns="0" rtlCol="0" anchor="t"/>
          <a:lstStyle/>
          <a:p>
            <a:pPr marL="0" indent="0" algn="ctr">
              <a:buNone/>
            </a:pPr>
            <a:r>
              <a:rPr lang="en-US" sz="1400" b="1" dirty="0">
                <a:solidFill>
                  <a:schemeClr val="tx2"/>
                </a:solidFill>
              </a:rPr>
              <a:t>규모 확장</a:t>
            </a:r>
            <a:endParaRPr lang="en-US" sz="1400" dirty="0"/>
          </a:p>
        </p:txBody>
      </p:sp>
      <p:sp>
        <p:nvSpPr>
          <p:cNvPr id="17" name="step 5"/>
          <p:cNvSpPr/>
          <p:nvPr/>
        </p:nvSpPr>
        <p:spPr>
          <a:xfrm>
            <a:off x="8624072" y="1531620"/>
            <a:ext cx="502920" cy="502920"/>
          </a:xfrm>
          <a:prstGeom prst="ellipse">
            <a:avLst/>
          </a:prstGeom>
          <a:solidFill>
            <a:schemeClr val="bg1"/>
          </a:solidFill>
          <a:ln w="19050">
            <a:solidFill>
              <a:schemeClr val="accent3"/>
            </a:solidFill>
            <a:prstDash val="solid"/>
          </a:ln>
        </p:spPr>
        <p:txBody>
          <a:bodyPr/>
          <a:lstStyle/>
          <a:p>
            <a:endParaRPr lang="ko-KR" altLang="en-US"/>
          </a:p>
        </p:txBody>
      </p:sp>
      <p:sp>
        <p:nvSpPr>
          <p:cNvPr id="18" name="Text 16"/>
          <p:cNvSpPr txBox="1"/>
          <p:nvPr/>
        </p:nvSpPr>
        <p:spPr>
          <a:xfrm>
            <a:off x="8624072" y="1531620"/>
            <a:ext cx="502920" cy="502920"/>
          </a:xfrm>
          <a:prstGeom prst="rect">
            <a:avLst/>
          </a:prstGeom>
          <a:noFill/>
          <a:ln/>
        </p:spPr>
        <p:txBody>
          <a:bodyPr wrap="square" lIns="0" tIns="0" rIns="0" bIns="0" rtlCol="0" anchor="ctr"/>
          <a:lstStyle/>
          <a:p>
            <a:pPr marL="0" indent="0" algn="ctr">
              <a:buNone/>
            </a:pPr>
            <a:r>
              <a:rPr lang="en-US" sz="1500" b="1" dirty="0">
                <a:solidFill>
                  <a:schemeClr val="accent6"/>
                </a:solidFill>
              </a:rPr>
              <a:t>5</a:t>
            </a:r>
            <a:endParaRPr lang="en-US" sz="1500" dirty="0"/>
          </a:p>
        </p:txBody>
      </p:sp>
      <p:sp>
        <p:nvSpPr>
          <p:cNvPr id="19" name="Text 17"/>
          <p:cNvSpPr txBox="1"/>
          <p:nvPr/>
        </p:nvSpPr>
        <p:spPr>
          <a:xfrm>
            <a:off x="7961132"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연구과제 완료</a:t>
            </a:r>
            <a:endParaRPr lang="en-US" sz="1400" dirty="0"/>
          </a:p>
        </p:txBody>
      </p:sp>
      <p:sp>
        <p:nvSpPr>
          <p:cNvPr id="20" name="step 6"/>
          <p:cNvSpPr/>
          <p:nvPr/>
        </p:nvSpPr>
        <p:spPr>
          <a:xfrm>
            <a:off x="10477195" y="1531620"/>
            <a:ext cx="502920" cy="502920"/>
          </a:xfrm>
          <a:prstGeom prst="ellipse">
            <a:avLst/>
          </a:prstGeom>
          <a:solidFill>
            <a:schemeClr val="bg1"/>
          </a:solidFill>
          <a:ln w="19050">
            <a:solidFill>
              <a:schemeClr val="accent3"/>
            </a:solidFill>
            <a:prstDash val="solid"/>
          </a:ln>
        </p:spPr>
        <p:txBody>
          <a:bodyPr/>
          <a:lstStyle/>
          <a:p>
            <a:endParaRPr lang="ko-KR" altLang="en-US"/>
          </a:p>
        </p:txBody>
      </p:sp>
      <p:sp>
        <p:nvSpPr>
          <p:cNvPr id="21" name="Text 19"/>
          <p:cNvSpPr txBox="1"/>
          <p:nvPr/>
        </p:nvSpPr>
        <p:spPr>
          <a:xfrm>
            <a:off x="10477195" y="1531620"/>
            <a:ext cx="502920" cy="502920"/>
          </a:xfrm>
          <a:prstGeom prst="rect">
            <a:avLst/>
          </a:prstGeom>
          <a:noFill/>
          <a:ln/>
        </p:spPr>
        <p:txBody>
          <a:bodyPr wrap="square" lIns="0" tIns="0" rIns="0" bIns="0" rtlCol="0" anchor="ctr"/>
          <a:lstStyle/>
          <a:p>
            <a:pPr marL="0" indent="0" algn="ctr">
              <a:buNone/>
            </a:pPr>
            <a:r>
              <a:rPr lang="en-US" sz="1500" b="1" dirty="0">
                <a:solidFill>
                  <a:schemeClr val="accent6"/>
                </a:solidFill>
              </a:rPr>
              <a:t>6</a:t>
            </a:r>
            <a:endParaRPr lang="en-US" sz="1500" dirty="0"/>
          </a:p>
        </p:txBody>
      </p:sp>
      <p:sp>
        <p:nvSpPr>
          <p:cNvPr id="22" name="Text 20"/>
          <p:cNvSpPr txBox="1"/>
          <p:nvPr/>
        </p:nvSpPr>
        <p:spPr>
          <a:xfrm>
            <a:off x="9814255"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UI · 코어 루프</a:t>
            </a:r>
            <a:endParaRPr lang="en-US" sz="1400" dirty="0"/>
          </a:p>
        </p:txBody>
      </p:sp>
      <p:sp>
        <p:nvSpPr>
          <p:cNvPr id="23" name="pipeline card 03"/>
          <p:cNvSpPr/>
          <p:nvPr/>
        </p:nvSpPr>
        <p:spPr>
          <a:xfrm>
            <a:off x="548640" y="2743200"/>
            <a:ext cx="5410048" cy="3383280"/>
          </a:xfrm>
          <a:prstGeom prst="roundRect">
            <a:avLst>
              <a:gd name="adj" fmla="val 3243"/>
            </a:avLst>
          </a:prstGeom>
          <a:solidFill>
            <a:schemeClr val="bg2"/>
          </a:solidFill>
          <a:ln/>
        </p:spPr>
        <p:txBody>
          <a:bodyPr/>
          <a:lstStyle/>
          <a:p>
            <a:endParaRPr lang="ko-KR" altLang="en-US"/>
          </a:p>
        </p:txBody>
      </p:sp>
      <p:sp>
        <p:nvSpPr>
          <p:cNvPr id="24" name="Text 22"/>
          <p:cNvSpPr txBox="1"/>
          <p:nvPr/>
        </p:nvSpPr>
        <p:spPr>
          <a:xfrm>
            <a:off x="960120" y="3063240"/>
            <a:ext cx="822960" cy="548640"/>
          </a:xfrm>
          <a:prstGeom prst="rect">
            <a:avLst/>
          </a:prstGeom>
          <a:noFill/>
          <a:ln/>
        </p:spPr>
        <p:txBody>
          <a:bodyPr wrap="square" lIns="0" tIns="0" rIns="0" bIns="0" rtlCol="0" anchor="ctr"/>
          <a:lstStyle/>
          <a:p>
            <a:pPr marL="0" indent="0">
              <a:buNone/>
            </a:pPr>
            <a:r>
              <a:rPr lang="en-US" sz="3000" b="1" dirty="0">
                <a:solidFill>
                  <a:schemeClr val="accent1"/>
                </a:solidFill>
              </a:rPr>
              <a:t>03</a:t>
            </a:r>
            <a:endParaRPr lang="en-US" sz="3000" dirty="0"/>
          </a:p>
        </p:txBody>
      </p:sp>
      <p:sp>
        <p:nvSpPr>
          <p:cNvPr id="25" name="Text 23"/>
          <p:cNvSpPr txBox="1"/>
          <p:nvPr/>
        </p:nvSpPr>
        <p:spPr>
          <a:xfrm>
            <a:off x="1783080" y="3063240"/>
            <a:ext cx="3855568" cy="548640"/>
          </a:xfrm>
          <a:prstGeom prst="rect">
            <a:avLst/>
          </a:prstGeom>
          <a:noFill/>
          <a:ln/>
        </p:spPr>
        <p:txBody>
          <a:bodyPr wrap="square" lIns="0" tIns="0" rIns="0" bIns="0" rtlCol="0" anchor="ctr"/>
          <a:lstStyle/>
          <a:p>
            <a:pPr marL="0" indent="0">
              <a:buNone/>
            </a:pPr>
            <a:r>
              <a:rPr lang="en-US" sz="2100" b="1" dirty="0">
                <a:solidFill>
                  <a:schemeClr val="tx2"/>
                </a:solidFill>
              </a:rPr>
              <a:t>기획 고도화 및 세부 사항 결정</a:t>
            </a:r>
            <a:endParaRPr lang="en-US" sz="2100" dirty="0"/>
          </a:p>
        </p:txBody>
      </p:sp>
      <p:sp>
        <p:nvSpPr>
          <p:cNvPr id="26" name="Text 24"/>
          <p:cNvSpPr txBox="1"/>
          <p:nvPr/>
        </p:nvSpPr>
        <p:spPr>
          <a:xfrm>
            <a:off x="960120" y="3794760"/>
            <a:ext cx="4587088" cy="114300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콘텐츠, 시스템 등 세부 사항을 정하고 기획서로 정리</a:t>
            </a:r>
            <a:endParaRPr lang="en-US" sz="1500" dirty="0"/>
          </a:p>
          <a:p>
            <a:pPr marL="190500" indent="-190500">
              <a:spcAft>
                <a:spcPts val="600"/>
              </a:spcAft>
              <a:buSzPct val="100000"/>
              <a:buChar char="•"/>
            </a:pPr>
            <a:r>
              <a:rPr lang="en-US" sz="1500" dirty="0">
                <a:solidFill>
                  <a:schemeClr val="tx1"/>
                </a:solidFill>
              </a:rPr>
              <a:t>팀이 합의한 기획서를 기준으로 기능을 하나씩 추가</a:t>
            </a:r>
            <a:endParaRPr lang="en-US" sz="1500" dirty="0"/>
          </a:p>
        </p:txBody>
      </p:sp>
      <p:sp>
        <p:nvSpPr>
          <p:cNvPr id="27" name="tip 03"/>
          <p:cNvSpPr/>
          <p:nvPr/>
        </p:nvSpPr>
        <p:spPr>
          <a:xfrm>
            <a:off x="960120" y="5074920"/>
            <a:ext cx="4587088" cy="777240"/>
          </a:xfrm>
          <a:prstGeom prst="roundRect">
            <a:avLst>
              <a:gd name="adj" fmla="val 14118"/>
            </a:avLst>
          </a:prstGeom>
          <a:solidFill>
            <a:schemeClr val="accent1">
              <a:alpha val="15000"/>
            </a:schemeClr>
          </a:solidFill>
          <a:ln/>
        </p:spPr>
        <p:txBody>
          <a:bodyPr/>
          <a:lstStyle/>
          <a:p>
            <a:endParaRPr lang="ko-KR" altLang="en-US"/>
          </a:p>
        </p:txBody>
      </p:sp>
      <p:sp>
        <p:nvSpPr>
          <p:cNvPr id="28" name="Text 26"/>
          <p:cNvSpPr txBox="1"/>
          <p:nvPr/>
        </p:nvSpPr>
        <p:spPr>
          <a:xfrm>
            <a:off x="1143000" y="5074920"/>
            <a:ext cx="4221328" cy="777240"/>
          </a:xfrm>
          <a:prstGeom prst="rect">
            <a:avLst/>
          </a:prstGeom>
          <a:noFill/>
          <a:ln/>
        </p:spPr>
        <p:txBody>
          <a:bodyPr wrap="square" lIns="0" tIns="0" rIns="0" bIns="0" rtlCol="0" anchor="ctr"/>
          <a:lstStyle/>
          <a:p>
            <a:pPr marL="0" indent="0">
              <a:buNone/>
            </a:pPr>
            <a:r>
              <a:rPr lang="en-US" sz="1400" b="1" dirty="0">
                <a:solidFill>
                  <a:schemeClr val="accent1"/>
                </a:solidFill>
              </a:rPr>
              <a:t>TIP  </a:t>
            </a:r>
            <a:r>
              <a:rPr lang="en-US" sz="1400" dirty="0">
                <a:solidFill>
                  <a:schemeClr val="tx1"/>
                </a:solidFill>
              </a:rPr>
              <a:t>고민하는 단계에서는 코딩하지 않는다. 미확정 기획의 코드는 결국 다시 작성하게 된다</a:t>
            </a:r>
            <a:endParaRPr lang="en-US" sz="1400" dirty="0"/>
          </a:p>
        </p:txBody>
      </p:sp>
      <p:sp>
        <p:nvSpPr>
          <p:cNvPr id="29" name="pipeline card 04"/>
          <p:cNvSpPr/>
          <p:nvPr/>
        </p:nvSpPr>
        <p:spPr>
          <a:xfrm>
            <a:off x="6233008" y="2743200"/>
            <a:ext cx="5410048" cy="3383280"/>
          </a:xfrm>
          <a:prstGeom prst="roundRect">
            <a:avLst>
              <a:gd name="adj" fmla="val 3243"/>
            </a:avLst>
          </a:prstGeom>
          <a:solidFill>
            <a:schemeClr val="bg2"/>
          </a:solidFill>
          <a:ln/>
        </p:spPr>
        <p:txBody>
          <a:bodyPr/>
          <a:lstStyle/>
          <a:p>
            <a:endParaRPr lang="ko-KR" altLang="en-US"/>
          </a:p>
        </p:txBody>
      </p:sp>
      <p:sp>
        <p:nvSpPr>
          <p:cNvPr id="30" name="Text 28"/>
          <p:cNvSpPr txBox="1"/>
          <p:nvPr/>
        </p:nvSpPr>
        <p:spPr>
          <a:xfrm>
            <a:off x="6644488" y="3063240"/>
            <a:ext cx="822960" cy="548640"/>
          </a:xfrm>
          <a:prstGeom prst="rect">
            <a:avLst/>
          </a:prstGeom>
          <a:noFill/>
          <a:ln/>
        </p:spPr>
        <p:txBody>
          <a:bodyPr wrap="square" lIns="0" tIns="0" rIns="0" bIns="0" rtlCol="0" anchor="ctr"/>
          <a:lstStyle/>
          <a:p>
            <a:pPr marL="0" indent="0">
              <a:buNone/>
            </a:pPr>
            <a:r>
              <a:rPr lang="en-US" sz="3000" b="1" dirty="0">
                <a:solidFill>
                  <a:schemeClr val="accent1"/>
                </a:solidFill>
              </a:rPr>
              <a:t>04</a:t>
            </a:r>
            <a:endParaRPr lang="en-US" sz="3000" dirty="0"/>
          </a:p>
        </p:txBody>
      </p:sp>
      <p:sp>
        <p:nvSpPr>
          <p:cNvPr id="31" name="Text 29"/>
          <p:cNvSpPr txBox="1"/>
          <p:nvPr/>
        </p:nvSpPr>
        <p:spPr>
          <a:xfrm>
            <a:off x="7467448" y="3063240"/>
            <a:ext cx="3855568" cy="548640"/>
          </a:xfrm>
          <a:prstGeom prst="rect">
            <a:avLst/>
          </a:prstGeom>
          <a:noFill/>
          <a:ln/>
        </p:spPr>
        <p:txBody>
          <a:bodyPr wrap="square" lIns="0" tIns="0" rIns="0" bIns="0" rtlCol="0" anchor="ctr"/>
          <a:lstStyle/>
          <a:p>
            <a:pPr marL="0" indent="0">
              <a:buNone/>
            </a:pPr>
            <a:r>
              <a:rPr lang="en-US" sz="2100" b="1" dirty="0">
                <a:solidFill>
                  <a:schemeClr val="tx2"/>
                </a:solidFill>
              </a:rPr>
              <a:t>규모 확장 (기초 폴리싱)</a:t>
            </a:r>
            <a:endParaRPr lang="en-US" sz="2100" dirty="0"/>
          </a:p>
        </p:txBody>
      </p:sp>
      <p:sp>
        <p:nvSpPr>
          <p:cNvPr id="32" name="Text 30"/>
          <p:cNvSpPr txBox="1"/>
          <p:nvPr/>
        </p:nvSpPr>
        <p:spPr>
          <a:xfrm>
            <a:off x="6644488" y="3794760"/>
            <a:ext cx="4587088" cy="210312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데모를 실제 게임 형태로 확장</a:t>
            </a:r>
            <a:endParaRPr lang="en-US" sz="1500" dirty="0"/>
          </a:p>
          <a:p>
            <a:pPr marL="190500" indent="-190500">
              <a:spcAft>
                <a:spcPts val="600"/>
              </a:spcAft>
              <a:buSzPct val="100000"/>
              <a:buChar char="•"/>
            </a:pPr>
            <a:r>
              <a:rPr lang="en-US" sz="1500" dirty="0">
                <a:solidFill>
                  <a:schemeClr val="tx1"/>
                </a:solidFill>
              </a:rPr>
              <a:t>클라이언트: 그래픽스 요소 추가</a:t>
            </a:r>
            <a:endParaRPr lang="en-US" sz="1500" dirty="0"/>
          </a:p>
          <a:p>
            <a:pPr marL="190500" indent="-190500">
              <a:spcAft>
                <a:spcPts val="600"/>
              </a:spcAft>
              <a:buSzPct val="100000"/>
              <a:buChar char="•"/>
            </a:pPr>
            <a:r>
              <a:rPr lang="en-US" sz="1500" dirty="0">
                <a:solidFill>
                  <a:schemeClr val="tx1"/>
                </a:solidFill>
              </a:rPr>
              <a:t>서버: 게임 콘텐츠 추가</a:t>
            </a:r>
            <a:endParaRPr lang="en-US" sz="1500" dirty="0"/>
          </a:p>
        </p:txBody>
      </p:sp>
      <p:sp>
        <p:nvSpPr>
          <p:cNvPr id="3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01  S.T.L 제작 파이프라인  ·  5–6단계</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S.T.L 제작 파이프라인</a:t>
            </a:r>
            <a:endParaRPr lang="en-US" sz="3200" dirty="0"/>
          </a:p>
        </p:txBody>
      </p:sp>
      <p:sp>
        <p:nvSpPr>
          <p:cNvPr id="4" name="stepper line"/>
          <p:cNvSpPr/>
          <p:nvPr/>
        </p:nvSpPr>
        <p:spPr>
          <a:xfrm>
            <a:off x="1463040" y="1783080"/>
            <a:ext cx="9265615" cy="0"/>
          </a:xfrm>
          <a:prstGeom prst="line">
            <a:avLst/>
          </a:prstGeom>
          <a:noFill/>
          <a:ln w="19050">
            <a:solidFill>
              <a:schemeClr val="accent3"/>
            </a:solidFill>
            <a:prstDash val="solid"/>
          </a:ln>
        </p:spPr>
        <p:txBody>
          <a:bodyPr/>
          <a:lstStyle/>
          <a:p>
            <a:endParaRPr lang="ko-KR" altLang="en-US"/>
          </a:p>
        </p:txBody>
      </p:sp>
      <p:sp>
        <p:nvSpPr>
          <p:cNvPr id="5" name="step 1"/>
          <p:cNvSpPr/>
          <p:nvPr/>
        </p:nvSpPr>
        <p:spPr>
          <a:xfrm>
            <a:off x="1211580" y="1531620"/>
            <a:ext cx="502920" cy="502920"/>
          </a:xfrm>
          <a:prstGeom prst="ellipse">
            <a:avLst/>
          </a:prstGeom>
          <a:solidFill>
            <a:schemeClr val="tx2"/>
          </a:solidFill>
          <a:ln/>
        </p:spPr>
        <p:txBody>
          <a:bodyPr/>
          <a:lstStyle/>
          <a:p>
            <a:endParaRPr lang="ko-KR" altLang="en-US"/>
          </a:p>
        </p:txBody>
      </p:sp>
      <p:sp>
        <p:nvSpPr>
          <p:cNvPr id="6" name="Text 4"/>
          <p:cNvSpPr txBox="1"/>
          <p:nvPr/>
        </p:nvSpPr>
        <p:spPr>
          <a:xfrm>
            <a:off x="1211580"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548640"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기초 기획</a:t>
            </a:r>
            <a:endParaRPr lang="en-US" sz="1400" dirty="0"/>
          </a:p>
        </p:txBody>
      </p:sp>
      <p:sp>
        <p:nvSpPr>
          <p:cNvPr id="8" name="step 2"/>
          <p:cNvSpPr/>
          <p:nvPr/>
        </p:nvSpPr>
        <p:spPr>
          <a:xfrm>
            <a:off x="3064703" y="1531620"/>
            <a:ext cx="502920" cy="502920"/>
          </a:xfrm>
          <a:prstGeom prst="ellipse">
            <a:avLst/>
          </a:prstGeom>
          <a:solidFill>
            <a:schemeClr val="tx2"/>
          </a:solidFill>
          <a:ln/>
        </p:spPr>
        <p:txBody>
          <a:bodyPr/>
          <a:lstStyle/>
          <a:p>
            <a:endParaRPr lang="ko-KR" altLang="en-US"/>
          </a:p>
        </p:txBody>
      </p:sp>
      <p:sp>
        <p:nvSpPr>
          <p:cNvPr id="9" name="Text 7"/>
          <p:cNvSpPr txBox="1"/>
          <p:nvPr/>
        </p:nvSpPr>
        <p:spPr>
          <a:xfrm>
            <a:off x="3064703"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0" name="Text 8"/>
          <p:cNvSpPr txBox="1"/>
          <p:nvPr/>
        </p:nvSpPr>
        <p:spPr>
          <a:xfrm>
            <a:off x="2401763"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폴리싱 없는 데모</a:t>
            </a:r>
            <a:endParaRPr lang="en-US" sz="1400" dirty="0"/>
          </a:p>
        </p:txBody>
      </p:sp>
      <p:sp>
        <p:nvSpPr>
          <p:cNvPr id="11" name="step 3"/>
          <p:cNvSpPr/>
          <p:nvPr/>
        </p:nvSpPr>
        <p:spPr>
          <a:xfrm>
            <a:off x="4917826" y="1531620"/>
            <a:ext cx="502920" cy="502920"/>
          </a:xfrm>
          <a:prstGeom prst="ellipse">
            <a:avLst/>
          </a:prstGeom>
          <a:solidFill>
            <a:schemeClr val="tx2"/>
          </a:solidFill>
          <a:ln/>
        </p:spPr>
        <p:txBody>
          <a:bodyPr/>
          <a:lstStyle/>
          <a:p>
            <a:endParaRPr lang="ko-KR" altLang="en-US"/>
          </a:p>
        </p:txBody>
      </p:sp>
      <p:sp>
        <p:nvSpPr>
          <p:cNvPr id="12" name="Text 10"/>
          <p:cNvSpPr txBox="1"/>
          <p:nvPr/>
        </p:nvSpPr>
        <p:spPr>
          <a:xfrm>
            <a:off x="4917826"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3" name="Text 11"/>
          <p:cNvSpPr txBox="1"/>
          <p:nvPr/>
        </p:nvSpPr>
        <p:spPr>
          <a:xfrm>
            <a:off x="4254886"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기획 고도화</a:t>
            </a:r>
            <a:endParaRPr lang="en-US" sz="1400" dirty="0"/>
          </a:p>
        </p:txBody>
      </p:sp>
      <p:sp>
        <p:nvSpPr>
          <p:cNvPr id="14" name="step 4"/>
          <p:cNvSpPr/>
          <p:nvPr/>
        </p:nvSpPr>
        <p:spPr>
          <a:xfrm>
            <a:off x="6770949" y="1531620"/>
            <a:ext cx="502920" cy="502920"/>
          </a:xfrm>
          <a:prstGeom prst="ellipse">
            <a:avLst/>
          </a:prstGeom>
          <a:solidFill>
            <a:schemeClr val="tx2"/>
          </a:solidFill>
          <a:ln/>
        </p:spPr>
        <p:txBody>
          <a:bodyPr/>
          <a:lstStyle/>
          <a:p>
            <a:endParaRPr lang="ko-KR" altLang="en-US"/>
          </a:p>
        </p:txBody>
      </p:sp>
      <p:sp>
        <p:nvSpPr>
          <p:cNvPr id="15" name="Text 13"/>
          <p:cNvSpPr txBox="1"/>
          <p:nvPr/>
        </p:nvSpPr>
        <p:spPr>
          <a:xfrm>
            <a:off x="6770949"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6" name="Text 14"/>
          <p:cNvSpPr txBox="1"/>
          <p:nvPr/>
        </p:nvSpPr>
        <p:spPr>
          <a:xfrm>
            <a:off x="6108009" y="2148840"/>
            <a:ext cx="1828800" cy="320040"/>
          </a:xfrm>
          <a:prstGeom prst="rect">
            <a:avLst/>
          </a:prstGeom>
          <a:noFill/>
          <a:ln/>
        </p:spPr>
        <p:txBody>
          <a:bodyPr wrap="square" lIns="0" tIns="0" rIns="0" bIns="0" rtlCol="0" anchor="t"/>
          <a:lstStyle/>
          <a:p>
            <a:pPr marL="0" indent="0" algn="ctr">
              <a:buNone/>
            </a:pPr>
            <a:r>
              <a:rPr lang="en-US" sz="1400" dirty="0">
                <a:solidFill>
                  <a:schemeClr val="accent6"/>
                </a:solidFill>
              </a:rPr>
              <a:t>규모 확장</a:t>
            </a:r>
            <a:endParaRPr lang="en-US" sz="1400" dirty="0"/>
          </a:p>
        </p:txBody>
      </p:sp>
      <p:sp>
        <p:nvSpPr>
          <p:cNvPr id="17" name="step 5"/>
          <p:cNvSpPr/>
          <p:nvPr/>
        </p:nvSpPr>
        <p:spPr>
          <a:xfrm>
            <a:off x="8624072" y="1531620"/>
            <a:ext cx="502920" cy="502920"/>
          </a:xfrm>
          <a:prstGeom prst="ellipse">
            <a:avLst/>
          </a:prstGeom>
          <a:solidFill>
            <a:schemeClr val="accent1"/>
          </a:solidFill>
          <a:ln/>
        </p:spPr>
        <p:txBody>
          <a:bodyPr/>
          <a:lstStyle/>
          <a:p>
            <a:endParaRPr lang="ko-KR" altLang="en-US"/>
          </a:p>
        </p:txBody>
      </p:sp>
      <p:sp>
        <p:nvSpPr>
          <p:cNvPr id="18" name="Text 16"/>
          <p:cNvSpPr txBox="1"/>
          <p:nvPr/>
        </p:nvSpPr>
        <p:spPr>
          <a:xfrm>
            <a:off x="8624072"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19" name="Text 17"/>
          <p:cNvSpPr txBox="1"/>
          <p:nvPr/>
        </p:nvSpPr>
        <p:spPr>
          <a:xfrm>
            <a:off x="7961132" y="2148840"/>
            <a:ext cx="1828800" cy="320040"/>
          </a:xfrm>
          <a:prstGeom prst="rect">
            <a:avLst/>
          </a:prstGeom>
          <a:noFill/>
          <a:ln/>
        </p:spPr>
        <p:txBody>
          <a:bodyPr wrap="square" lIns="0" tIns="0" rIns="0" bIns="0" rtlCol="0" anchor="t"/>
          <a:lstStyle/>
          <a:p>
            <a:pPr marL="0" indent="0" algn="ctr">
              <a:buNone/>
            </a:pPr>
            <a:r>
              <a:rPr lang="en-US" sz="1400" b="1" dirty="0">
                <a:solidFill>
                  <a:schemeClr val="tx2"/>
                </a:solidFill>
              </a:rPr>
              <a:t>연구과제 완료</a:t>
            </a:r>
            <a:endParaRPr lang="en-US" sz="1400" dirty="0"/>
          </a:p>
        </p:txBody>
      </p:sp>
      <p:sp>
        <p:nvSpPr>
          <p:cNvPr id="20" name="step 6"/>
          <p:cNvSpPr/>
          <p:nvPr/>
        </p:nvSpPr>
        <p:spPr>
          <a:xfrm>
            <a:off x="10477195" y="1531620"/>
            <a:ext cx="502920" cy="502920"/>
          </a:xfrm>
          <a:prstGeom prst="ellipse">
            <a:avLst/>
          </a:prstGeom>
          <a:solidFill>
            <a:schemeClr val="accent1"/>
          </a:solidFill>
          <a:ln/>
        </p:spPr>
        <p:txBody>
          <a:bodyPr/>
          <a:lstStyle/>
          <a:p>
            <a:endParaRPr lang="ko-KR" altLang="en-US"/>
          </a:p>
        </p:txBody>
      </p:sp>
      <p:sp>
        <p:nvSpPr>
          <p:cNvPr id="21" name="Text 19"/>
          <p:cNvSpPr txBox="1"/>
          <p:nvPr/>
        </p:nvSpPr>
        <p:spPr>
          <a:xfrm>
            <a:off x="10477195" y="15316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22" name="Text 20"/>
          <p:cNvSpPr txBox="1"/>
          <p:nvPr/>
        </p:nvSpPr>
        <p:spPr>
          <a:xfrm>
            <a:off x="9814255" y="2148840"/>
            <a:ext cx="1828800" cy="320040"/>
          </a:xfrm>
          <a:prstGeom prst="rect">
            <a:avLst/>
          </a:prstGeom>
          <a:noFill/>
          <a:ln/>
        </p:spPr>
        <p:txBody>
          <a:bodyPr wrap="square" lIns="0" tIns="0" rIns="0" bIns="0" rtlCol="0" anchor="t"/>
          <a:lstStyle/>
          <a:p>
            <a:pPr marL="0" indent="0" algn="ctr">
              <a:buNone/>
            </a:pPr>
            <a:r>
              <a:rPr lang="en-US" sz="1400" b="1" dirty="0">
                <a:solidFill>
                  <a:schemeClr val="tx2"/>
                </a:solidFill>
              </a:rPr>
              <a:t>UI · 코어 루프</a:t>
            </a:r>
            <a:endParaRPr lang="en-US" sz="1400" dirty="0"/>
          </a:p>
        </p:txBody>
      </p:sp>
      <p:sp>
        <p:nvSpPr>
          <p:cNvPr id="23" name="pipeline card 05"/>
          <p:cNvSpPr/>
          <p:nvPr/>
        </p:nvSpPr>
        <p:spPr>
          <a:xfrm>
            <a:off x="548640" y="2743200"/>
            <a:ext cx="5410048" cy="3383280"/>
          </a:xfrm>
          <a:prstGeom prst="roundRect">
            <a:avLst>
              <a:gd name="adj" fmla="val 3243"/>
            </a:avLst>
          </a:prstGeom>
          <a:solidFill>
            <a:schemeClr val="bg2"/>
          </a:solidFill>
          <a:ln/>
        </p:spPr>
        <p:txBody>
          <a:bodyPr/>
          <a:lstStyle/>
          <a:p>
            <a:endParaRPr lang="ko-KR" altLang="en-US"/>
          </a:p>
        </p:txBody>
      </p:sp>
      <p:sp>
        <p:nvSpPr>
          <p:cNvPr id="24" name="Text 22"/>
          <p:cNvSpPr txBox="1"/>
          <p:nvPr/>
        </p:nvSpPr>
        <p:spPr>
          <a:xfrm>
            <a:off x="960120" y="3063240"/>
            <a:ext cx="822960" cy="548640"/>
          </a:xfrm>
          <a:prstGeom prst="rect">
            <a:avLst/>
          </a:prstGeom>
          <a:noFill/>
          <a:ln/>
        </p:spPr>
        <p:txBody>
          <a:bodyPr wrap="square" lIns="0" tIns="0" rIns="0" bIns="0" rtlCol="0" anchor="ctr"/>
          <a:lstStyle/>
          <a:p>
            <a:pPr marL="0" indent="0">
              <a:buNone/>
            </a:pPr>
            <a:r>
              <a:rPr lang="en-US" sz="3000" b="1" dirty="0">
                <a:solidFill>
                  <a:schemeClr val="accent1"/>
                </a:solidFill>
              </a:rPr>
              <a:t>05</a:t>
            </a:r>
            <a:endParaRPr lang="en-US" sz="3000" dirty="0"/>
          </a:p>
        </p:txBody>
      </p:sp>
      <p:sp>
        <p:nvSpPr>
          <p:cNvPr id="25" name="Text 23"/>
          <p:cNvSpPr txBox="1"/>
          <p:nvPr/>
        </p:nvSpPr>
        <p:spPr>
          <a:xfrm>
            <a:off x="1783080" y="3063240"/>
            <a:ext cx="3855568" cy="548640"/>
          </a:xfrm>
          <a:prstGeom prst="rect">
            <a:avLst/>
          </a:prstGeom>
          <a:noFill/>
          <a:ln/>
        </p:spPr>
        <p:txBody>
          <a:bodyPr wrap="square" lIns="0" tIns="0" rIns="0" bIns="0" rtlCol="0" anchor="ctr"/>
          <a:lstStyle/>
          <a:p>
            <a:pPr marL="0" indent="0">
              <a:buNone/>
            </a:pPr>
            <a:r>
              <a:rPr lang="en-US" sz="2100" b="1" dirty="0">
                <a:solidFill>
                  <a:schemeClr val="tx2"/>
                </a:solidFill>
              </a:rPr>
              <a:t>개인 연구과제 완료</a:t>
            </a:r>
            <a:endParaRPr lang="en-US" sz="2100" dirty="0"/>
          </a:p>
        </p:txBody>
      </p:sp>
      <p:sp>
        <p:nvSpPr>
          <p:cNvPr id="26" name="Text 24"/>
          <p:cNvSpPr txBox="1"/>
          <p:nvPr/>
        </p:nvSpPr>
        <p:spPr>
          <a:xfrm>
            <a:off x="960120" y="3794760"/>
            <a:ext cx="4587088" cy="210312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졸업작품 평가의 핵심인 개인 연구과제를 마무리</a:t>
            </a:r>
            <a:endParaRPr lang="en-US" sz="1500" dirty="0"/>
          </a:p>
          <a:p>
            <a:pPr marL="190500" indent="-190500">
              <a:spcAft>
                <a:spcPts val="600"/>
              </a:spcAft>
              <a:buSzPct val="100000"/>
              <a:buChar char="•"/>
            </a:pPr>
            <a:r>
              <a:rPr lang="en-US" sz="1500" dirty="0">
                <a:solidFill>
                  <a:schemeClr val="tx1"/>
                </a:solidFill>
              </a:rPr>
              <a:t>glTF 파서, PBR 렌더링, 서버 물리엔진 연동 등 각자의 과제를 완성하고 게임에 통합</a:t>
            </a:r>
            <a:endParaRPr lang="en-US" sz="1500" dirty="0"/>
          </a:p>
        </p:txBody>
      </p:sp>
      <p:sp>
        <p:nvSpPr>
          <p:cNvPr id="27" name="pipeline card 06"/>
          <p:cNvSpPr/>
          <p:nvPr/>
        </p:nvSpPr>
        <p:spPr>
          <a:xfrm>
            <a:off x="6233008" y="2743200"/>
            <a:ext cx="5410048" cy="3383280"/>
          </a:xfrm>
          <a:prstGeom prst="roundRect">
            <a:avLst>
              <a:gd name="adj" fmla="val 3243"/>
            </a:avLst>
          </a:prstGeom>
          <a:solidFill>
            <a:schemeClr val="bg2"/>
          </a:solidFill>
          <a:ln/>
        </p:spPr>
        <p:txBody>
          <a:bodyPr/>
          <a:lstStyle/>
          <a:p>
            <a:endParaRPr lang="ko-KR" altLang="en-US"/>
          </a:p>
        </p:txBody>
      </p:sp>
      <p:sp>
        <p:nvSpPr>
          <p:cNvPr id="28" name="Text 26"/>
          <p:cNvSpPr txBox="1"/>
          <p:nvPr/>
        </p:nvSpPr>
        <p:spPr>
          <a:xfrm>
            <a:off x="6644488" y="3063240"/>
            <a:ext cx="822960" cy="548640"/>
          </a:xfrm>
          <a:prstGeom prst="rect">
            <a:avLst/>
          </a:prstGeom>
          <a:noFill/>
          <a:ln/>
        </p:spPr>
        <p:txBody>
          <a:bodyPr wrap="square" lIns="0" tIns="0" rIns="0" bIns="0" rtlCol="0" anchor="ctr"/>
          <a:lstStyle/>
          <a:p>
            <a:pPr marL="0" indent="0">
              <a:buNone/>
            </a:pPr>
            <a:r>
              <a:rPr lang="en-US" sz="3000" b="1" dirty="0">
                <a:solidFill>
                  <a:schemeClr val="accent1"/>
                </a:solidFill>
              </a:rPr>
              <a:t>06</a:t>
            </a:r>
            <a:endParaRPr lang="en-US" sz="3000" dirty="0"/>
          </a:p>
        </p:txBody>
      </p:sp>
      <p:sp>
        <p:nvSpPr>
          <p:cNvPr id="29" name="Text 27"/>
          <p:cNvSpPr txBox="1"/>
          <p:nvPr/>
        </p:nvSpPr>
        <p:spPr>
          <a:xfrm>
            <a:off x="7467448" y="3063240"/>
            <a:ext cx="3855568" cy="548640"/>
          </a:xfrm>
          <a:prstGeom prst="rect">
            <a:avLst/>
          </a:prstGeom>
          <a:noFill/>
          <a:ln/>
        </p:spPr>
        <p:txBody>
          <a:bodyPr wrap="square" lIns="0" tIns="0" rIns="0" bIns="0" rtlCol="0" anchor="ctr"/>
          <a:lstStyle/>
          <a:p>
            <a:pPr marL="0" indent="0">
              <a:buNone/>
            </a:pPr>
            <a:r>
              <a:rPr lang="en-US" sz="2100" b="1" dirty="0">
                <a:solidFill>
                  <a:schemeClr val="tx2"/>
                </a:solidFill>
              </a:rPr>
              <a:t>UI 추가 및 코어 루프 완성</a:t>
            </a:r>
            <a:endParaRPr lang="en-US" sz="2100" dirty="0"/>
          </a:p>
        </p:txBody>
      </p:sp>
      <p:sp>
        <p:nvSpPr>
          <p:cNvPr id="30" name="Text 28"/>
          <p:cNvSpPr txBox="1"/>
          <p:nvPr/>
        </p:nvSpPr>
        <p:spPr>
          <a:xfrm>
            <a:off x="6644488" y="3794760"/>
            <a:ext cx="4587088" cy="114300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UI 추가</a:t>
            </a:r>
            <a:endParaRPr lang="en-US" sz="1500" dirty="0"/>
          </a:p>
          <a:p>
            <a:pPr marL="190500" indent="-190500">
              <a:spcAft>
                <a:spcPts val="600"/>
              </a:spcAft>
              <a:buSzPct val="100000"/>
              <a:buChar char="•"/>
            </a:pPr>
            <a:r>
              <a:rPr lang="en-US" sz="1500" dirty="0">
                <a:solidFill>
                  <a:schemeClr val="tx1"/>
                </a:solidFill>
              </a:rPr>
              <a:t>하나의 코어 루프를 처음부터 끝까지 플레이할 수 있도록 완성</a:t>
            </a:r>
            <a:endParaRPr lang="en-US" sz="1500" dirty="0"/>
          </a:p>
        </p:txBody>
      </p:sp>
      <p:sp>
        <p:nvSpPr>
          <p:cNvPr id="31" name="tip 06"/>
          <p:cNvSpPr/>
          <p:nvPr/>
        </p:nvSpPr>
        <p:spPr>
          <a:xfrm>
            <a:off x="6644488" y="5074920"/>
            <a:ext cx="4587088" cy="777240"/>
          </a:xfrm>
          <a:prstGeom prst="roundRect">
            <a:avLst>
              <a:gd name="adj" fmla="val 14118"/>
            </a:avLst>
          </a:prstGeom>
          <a:solidFill>
            <a:schemeClr val="accent1">
              <a:alpha val="15000"/>
            </a:schemeClr>
          </a:solidFill>
          <a:ln/>
        </p:spPr>
        <p:txBody>
          <a:bodyPr/>
          <a:lstStyle/>
          <a:p>
            <a:endParaRPr lang="ko-KR" altLang="en-US"/>
          </a:p>
        </p:txBody>
      </p:sp>
      <p:sp>
        <p:nvSpPr>
          <p:cNvPr id="32" name="Text 30"/>
          <p:cNvSpPr txBox="1"/>
          <p:nvPr/>
        </p:nvSpPr>
        <p:spPr>
          <a:xfrm>
            <a:off x="6827368" y="5074920"/>
            <a:ext cx="4221328" cy="777240"/>
          </a:xfrm>
          <a:prstGeom prst="rect">
            <a:avLst/>
          </a:prstGeom>
          <a:noFill/>
          <a:ln/>
        </p:spPr>
        <p:txBody>
          <a:bodyPr wrap="square" lIns="0" tIns="0" rIns="0" bIns="0" rtlCol="0" anchor="ctr"/>
          <a:lstStyle/>
          <a:p>
            <a:pPr marL="0" indent="0">
              <a:buNone/>
            </a:pPr>
            <a:r>
              <a:rPr lang="en-US" sz="1400" b="1" dirty="0">
                <a:solidFill>
                  <a:schemeClr val="accent1"/>
                </a:solidFill>
              </a:rPr>
              <a:t>TIP  </a:t>
            </a:r>
            <a:r>
              <a:rPr lang="en-US" sz="1400" dirty="0">
                <a:solidFill>
                  <a:schemeClr val="tx1"/>
                </a:solidFill>
              </a:rPr>
              <a:t>기능 개수보다 루프 하나를 완결하는 것이 완성도에 더 중요하다</a:t>
            </a:r>
            <a:endParaRPr lang="en-US" sz="1400" dirty="0"/>
          </a:p>
        </p:txBody>
      </p:sp>
      <p:sp>
        <p:nvSpPr>
          <p:cNvPr id="3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3657600" cy="1188720"/>
          </a:xfrm>
          <a:prstGeom prst="rect">
            <a:avLst/>
          </a:prstGeom>
          <a:noFill/>
          <a:ln/>
        </p:spPr>
        <p:txBody>
          <a:bodyPr wrap="square" lIns="0" tIns="0" rIns="0" bIns="0" rtlCol="0"/>
          <a:lstStyle/>
          <a:p>
            <a:pPr marL="0" indent="0">
              <a:buNone/>
            </a:pPr>
            <a:r>
              <a:rPr lang="en-US" sz="8000" b="1" dirty="0">
                <a:solidFill>
                  <a:schemeClr val="accent1"/>
                </a:solidFill>
              </a:rPr>
              <a:t>02</a:t>
            </a:r>
            <a:endParaRPr lang="en-US" sz="8000" dirty="0"/>
          </a:p>
        </p:txBody>
      </p:sp>
      <p:sp>
        <p:nvSpPr>
          <p:cNvPr id="3" name="Text 0"/>
          <p:cNvSpPr>
            <a:spLocks noGrp="1"/>
          </p:cNvSpPr>
          <p:nvPr>
            <p:ph type="title" idx="101" hasCustomPrompt="1"/>
          </p:nvPr>
        </p:nvSpPr>
        <p:spPr>
          <a:xfrm>
            <a:off x="548640" y="3063240"/>
            <a:ext cx="10058400" cy="914400"/>
          </a:xfrm>
          <a:prstGeom prst="rect">
            <a:avLst/>
          </a:prstGeom>
          <a:noFill/>
          <a:ln/>
        </p:spPr>
        <p:txBody>
          <a:bodyPr wrap="square" lIns="0" tIns="0" rIns="0" bIns="0" rtlCol="0"/>
          <a:lstStyle/>
          <a:p>
            <a:pPr marL="0" indent="0" algn="l">
              <a:buNone/>
            </a:pPr>
            <a:r>
              <a:rPr lang="en-US" sz="4400" b="1" dirty="0">
                <a:solidFill>
                  <a:schemeClr val="bg1"/>
                </a:solidFill>
              </a:rPr>
              <a:t>개발 도구</a:t>
            </a:r>
            <a:endParaRPr lang="en-US" sz="4400" dirty="0"/>
          </a:p>
        </p:txBody>
      </p:sp>
      <p:sp>
        <p:nvSpPr>
          <p:cNvPr id="4" name="Text 0"/>
          <p:cNvSpPr>
            <a:spLocks noGrp="1"/>
          </p:cNvSpPr>
          <p:nvPr>
            <p:ph type="body" idx="102" hasCustomPrompt="1"/>
          </p:nvPr>
        </p:nvSpPr>
        <p:spPr>
          <a:xfrm>
            <a:off x="548640" y="4069080"/>
            <a:ext cx="10058400" cy="548640"/>
          </a:xfrm>
          <a:prstGeom prst="rect">
            <a:avLst/>
          </a:prstGeom>
          <a:noFill/>
          <a:ln/>
        </p:spPr>
        <p:txBody>
          <a:bodyPr wrap="square" lIns="0" tIns="0" rIns="0" bIns="0" rtlCol="0"/>
          <a:lstStyle/>
          <a:p>
            <a:pPr marL="0" indent="0">
              <a:buNone/>
            </a:pPr>
            <a:r>
              <a:rPr lang="en-US" sz="2000" dirty="0">
                <a:solidFill>
                  <a:schemeClr val="accent3"/>
                </a:solidFill>
              </a:rPr>
              <a:t>S.T.L을 만들 때 실제로 쓴 도구들</a:t>
            </a:r>
            <a:endParaRPr lang="en-US" sz="2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02  개발 도구</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도구를 알면 개발 속도가 달라진다</a:t>
            </a:r>
            <a:endParaRPr lang="en-US" sz="3200" dirty="0"/>
          </a:p>
        </p:txBody>
      </p:sp>
      <p:sp>
        <p:nvSpPr>
          <p:cNvPr id="4" name="tool card 그래픽스 디버거"/>
          <p:cNvSpPr/>
          <p:nvPr/>
        </p:nvSpPr>
        <p:spPr>
          <a:xfrm>
            <a:off x="548640" y="1691640"/>
            <a:ext cx="5410048" cy="2194560"/>
          </a:xfrm>
          <a:prstGeom prst="roundRect">
            <a:avLst>
              <a:gd name="adj" fmla="val 5000"/>
            </a:avLst>
          </a:prstGeom>
          <a:solidFill>
            <a:schemeClr val="bg2"/>
          </a:solidFill>
          <a:ln/>
        </p:spPr>
        <p:txBody>
          <a:bodyPr/>
          <a:lstStyle/>
          <a:p>
            <a:endParaRPr lang="ko-KR" altLang="en-US"/>
          </a:p>
        </p:txBody>
      </p:sp>
      <p:sp>
        <p:nvSpPr>
          <p:cNvPr id="5" name="tool icon 그래픽스 디버거 circle"/>
          <p:cNvSpPr/>
          <p:nvPr/>
        </p:nvSpPr>
        <p:spPr>
          <a:xfrm>
            <a:off x="868680" y="2011680"/>
            <a:ext cx="685800" cy="685800"/>
          </a:xfrm>
          <a:prstGeom prst="ellipse">
            <a:avLst/>
          </a:prstGeom>
          <a:solidFill>
            <a:schemeClr val="accent1"/>
          </a:solidFill>
          <a:ln/>
        </p:spPr>
        <p:txBody>
          <a:bodyPr/>
          <a:lstStyle/>
          <a:p>
            <a:endParaRPr lang="ko-KR" altLang="en-US"/>
          </a:p>
        </p:txBody>
      </p:sp>
      <p:pic>
        <p:nvPicPr>
          <p:cNvPr id="6" name="tool icon 그래픽스 디버거" descr="tool icon 그래픽스 디버거"/>
          <p:cNvPicPr>
            <a:picLocks noChangeAspect="1"/>
          </p:cNvPicPr>
          <p:nvPr/>
        </p:nvPicPr>
        <p:blipFill>
          <a:blip r:embed="rId3"/>
          <a:stretch>
            <a:fillRect/>
          </a:stretch>
        </p:blipFill>
        <p:spPr>
          <a:xfrm>
            <a:off x="1040130" y="2183130"/>
            <a:ext cx="342900" cy="342900"/>
          </a:xfrm>
          <a:prstGeom prst="rect">
            <a:avLst/>
          </a:prstGeom>
        </p:spPr>
      </p:pic>
      <p:sp>
        <p:nvSpPr>
          <p:cNvPr id="7" name="Text 4"/>
          <p:cNvSpPr txBox="1"/>
          <p:nvPr/>
        </p:nvSpPr>
        <p:spPr>
          <a:xfrm>
            <a:off x="1783080" y="2011680"/>
            <a:ext cx="3855568" cy="365760"/>
          </a:xfrm>
          <a:prstGeom prst="rect">
            <a:avLst/>
          </a:prstGeom>
          <a:noFill/>
          <a:ln/>
        </p:spPr>
        <p:txBody>
          <a:bodyPr wrap="square" lIns="0" tIns="0" rIns="0" bIns="0" rtlCol="0" anchor="t"/>
          <a:lstStyle/>
          <a:p>
            <a:pPr marL="0" indent="0">
              <a:buNone/>
            </a:pPr>
            <a:r>
              <a:rPr lang="en-US" sz="2000" b="1" dirty="0">
                <a:solidFill>
                  <a:schemeClr val="tx2"/>
                </a:solidFill>
              </a:rPr>
              <a:t>그래픽스 디버거</a:t>
            </a:r>
            <a:endParaRPr lang="en-US" sz="2000" dirty="0"/>
          </a:p>
        </p:txBody>
      </p:sp>
      <p:sp>
        <p:nvSpPr>
          <p:cNvPr id="8" name="Text 5"/>
          <p:cNvSpPr txBox="1"/>
          <p:nvPr/>
        </p:nvSpPr>
        <p:spPr>
          <a:xfrm>
            <a:off x="1783080" y="2468880"/>
            <a:ext cx="3855568" cy="685800"/>
          </a:xfrm>
          <a:prstGeom prst="rect">
            <a:avLst/>
          </a:prstGeom>
          <a:noFill/>
          <a:ln/>
        </p:spPr>
        <p:txBody>
          <a:bodyPr wrap="square" lIns="0" tIns="0" rIns="0" bIns="0" rtlCol="0" anchor="t"/>
          <a:lstStyle/>
          <a:p>
            <a:pPr marL="0" indent="0">
              <a:buNone/>
            </a:pPr>
            <a:r>
              <a:rPr lang="en-US" sz="1500" b="1" dirty="0">
                <a:solidFill>
                  <a:schemeClr val="accent2"/>
                </a:solidFill>
              </a:rPr>
              <a:t>PIX  ·  RenderDoc  ·  Nsight</a:t>
            </a:r>
            <a:endParaRPr lang="en-US" sz="1500" dirty="0"/>
          </a:p>
        </p:txBody>
      </p:sp>
      <p:sp>
        <p:nvSpPr>
          <p:cNvPr id="9" name="Text 6"/>
          <p:cNvSpPr txBox="1"/>
          <p:nvPr/>
        </p:nvSpPr>
        <p:spPr>
          <a:xfrm>
            <a:off x="1783080" y="3200400"/>
            <a:ext cx="3855568" cy="457200"/>
          </a:xfrm>
          <a:prstGeom prst="rect">
            <a:avLst/>
          </a:prstGeom>
          <a:noFill/>
          <a:ln/>
        </p:spPr>
        <p:txBody>
          <a:bodyPr wrap="square" lIns="0" tIns="0" rIns="0" bIns="0" rtlCol="0" anchor="t"/>
          <a:lstStyle/>
          <a:p>
            <a:pPr marL="0" indent="0">
              <a:buNone/>
            </a:pPr>
            <a:r>
              <a:rPr lang="en-US" sz="1400" dirty="0">
                <a:solidFill>
                  <a:schemeClr val="accent6"/>
                </a:solidFill>
              </a:rPr>
              <a:t>프레임 단위로 렌더링 파이프라인을 들여다보기</a:t>
            </a:r>
            <a:endParaRPr lang="en-US" sz="1400" dirty="0"/>
          </a:p>
        </p:txBody>
      </p:sp>
      <p:sp>
        <p:nvSpPr>
          <p:cNvPr id="10" name="tool card CPU 분석"/>
          <p:cNvSpPr/>
          <p:nvPr/>
        </p:nvSpPr>
        <p:spPr>
          <a:xfrm>
            <a:off x="6233008" y="1691640"/>
            <a:ext cx="5410048" cy="2194560"/>
          </a:xfrm>
          <a:prstGeom prst="roundRect">
            <a:avLst>
              <a:gd name="adj" fmla="val 5000"/>
            </a:avLst>
          </a:prstGeom>
          <a:solidFill>
            <a:schemeClr val="bg2"/>
          </a:solidFill>
          <a:ln/>
        </p:spPr>
        <p:txBody>
          <a:bodyPr/>
          <a:lstStyle/>
          <a:p>
            <a:endParaRPr lang="ko-KR" altLang="en-US"/>
          </a:p>
        </p:txBody>
      </p:sp>
      <p:sp>
        <p:nvSpPr>
          <p:cNvPr id="11" name="tool icon CPU 분석 circle"/>
          <p:cNvSpPr/>
          <p:nvPr/>
        </p:nvSpPr>
        <p:spPr>
          <a:xfrm>
            <a:off x="6553048" y="2011680"/>
            <a:ext cx="685800" cy="685800"/>
          </a:xfrm>
          <a:prstGeom prst="ellipse">
            <a:avLst/>
          </a:prstGeom>
          <a:solidFill>
            <a:schemeClr val="accent1"/>
          </a:solidFill>
          <a:ln/>
        </p:spPr>
        <p:txBody>
          <a:bodyPr/>
          <a:lstStyle/>
          <a:p>
            <a:endParaRPr lang="ko-KR" altLang="en-US"/>
          </a:p>
        </p:txBody>
      </p:sp>
      <p:pic>
        <p:nvPicPr>
          <p:cNvPr id="12" name="tool icon CPU 분석" descr="tool icon CPU 분석"/>
          <p:cNvPicPr>
            <a:picLocks noChangeAspect="1"/>
          </p:cNvPicPr>
          <p:nvPr/>
        </p:nvPicPr>
        <p:blipFill>
          <a:blip r:embed="rId4"/>
          <a:stretch>
            <a:fillRect/>
          </a:stretch>
        </p:blipFill>
        <p:spPr>
          <a:xfrm>
            <a:off x="6724498" y="2183130"/>
            <a:ext cx="342900" cy="342900"/>
          </a:xfrm>
          <a:prstGeom prst="rect">
            <a:avLst/>
          </a:prstGeom>
        </p:spPr>
      </p:pic>
      <p:sp>
        <p:nvSpPr>
          <p:cNvPr id="13" name="Text 9"/>
          <p:cNvSpPr txBox="1"/>
          <p:nvPr/>
        </p:nvSpPr>
        <p:spPr>
          <a:xfrm>
            <a:off x="7467448" y="2011680"/>
            <a:ext cx="3855568" cy="365760"/>
          </a:xfrm>
          <a:prstGeom prst="rect">
            <a:avLst/>
          </a:prstGeom>
          <a:noFill/>
          <a:ln/>
        </p:spPr>
        <p:txBody>
          <a:bodyPr wrap="square" lIns="0" tIns="0" rIns="0" bIns="0" rtlCol="0" anchor="t"/>
          <a:lstStyle/>
          <a:p>
            <a:pPr marL="0" indent="0">
              <a:buNone/>
            </a:pPr>
            <a:r>
              <a:rPr lang="en-US" sz="2000" b="1" dirty="0">
                <a:solidFill>
                  <a:schemeClr val="tx2"/>
                </a:solidFill>
              </a:rPr>
              <a:t>CPU 분석</a:t>
            </a:r>
            <a:endParaRPr lang="en-US" sz="2000" dirty="0"/>
          </a:p>
        </p:txBody>
      </p:sp>
      <p:sp>
        <p:nvSpPr>
          <p:cNvPr id="14" name="Text 10"/>
          <p:cNvSpPr txBox="1"/>
          <p:nvPr/>
        </p:nvSpPr>
        <p:spPr>
          <a:xfrm>
            <a:off x="7467448" y="2468880"/>
            <a:ext cx="3855568" cy="685800"/>
          </a:xfrm>
          <a:prstGeom prst="rect">
            <a:avLst/>
          </a:prstGeom>
          <a:noFill/>
          <a:ln/>
        </p:spPr>
        <p:txBody>
          <a:bodyPr wrap="square" lIns="0" tIns="0" rIns="0" bIns="0" rtlCol="0" anchor="t"/>
          <a:lstStyle/>
          <a:p>
            <a:pPr marL="0" indent="0">
              <a:buNone/>
            </a:pPr>
            <a:r>
              <a:rPr lang="en-US" sz="1500" b="1" dirty="0">
                <a:solidFill>
                  <a:schemeClr val="accent2"/>
                </a:solidFill>
              </a:rPr>
              <a:t>Concurrency Visualizer</a:t>
            </a:r>
            <a:endParaRPr lang="en-US" sz="1500" dirty="0"/>
          </a:p>
        </p:txBody>
      </p:sp>
      <p:sp>
        <p:nvSpPr>
          <p:cNvPr id="15" name="Text 11"/>
          <p:cNvSpPr txBox="1"/>
          <p:nvPr/>
        </p:nvSpPr>
        <p:spPr>
          <a:xfrm>
            <a:off x="7467448" y="3200400"/>
            <a:ext cx="3855568" cy="457200"/>
          </a:xfrm>
          <a:prstGeom prst="rect">
            <a:avLst/>
          </a:prstGeom>
          <a:noFill/>
          <a:ln/>
        </p:spPr>
        <p:txBody>
          <a:bodyPr wrap="square" lIns="0" tIns="0" rIns="0" bIns="0" rtlCol="0" anchor="t"/>
          <a:lstStyle/>
          <a:p>
            <a:pPr marL="0" indent="0">
              <a:buNone/>
            </a:pPr>
            <a:r>
              <a:rPr lang="en-US" sz="1400" dirty="0">
                <a:solidFill>
                  <a:schemeClr val="accent6"/>
                </a:solidFill>
              </a:rPr>
              <a:t>스레드 · 병목 구간을 눈으로 확인하기</a:t>
            </a:r>
            <a:endParaRPr lang="en-US" sz="1400" dirty="0"/>
          </a:p>
        </p:txBody>
      </p:sp>
      <p:sp>
        <p:nvSpPr>
          <p:cNvPr id="16" name="tool card IDE"/>
          <p:cNvSpPr/>
          <p:nvPr/>
        </p:nvSpPr>
        <p:spPr>
          <a:xfrm>
            <a:off x="548640" y="4160520"/>
            <a:ext cx="5410048" cy="2194560"/>
          </a:xfrm>
          <a:prstGeom prst="roundRect">
            <a:avLst>
              <a:gd name="adj" fmla="val 5000"/>
            </a:avLst>
          </a:prstGeom>
          <a:solidFill>
            <a:schemeClr val="bg2"/>
          </a:solidFill>
          <a:ln/>
        </p:spPr>
        <p:txBody>
          <a:bodyPr/>
          <a:lstStyle/>
          <a:p>
            <a:endParaRPr lang="ko-KR" altLang="en-US"/>
          </a:p>
        </p:txBody>
      </p:sp>
      <p:sp>
        <p:nvSpPr>
          <p:cNvPr id="17" name="tool icon IDE circle"/>
          <p:cNvSpPr/>
          <p:nvPr/>
        </p:nvSpPr>
        <p:spPr>
          <a:xfrm>
            <a:off x="868680" y="4480560"/>
            <a:ext cx="685800" cy="685800"/>
          </a:xfrm>
          <a:prstGeom prst="ellipse">
            <a:avLst/>
          </a:prstGeom>
          <a:solidFill>
            <a:schemeClr val="accent1"/>
          </a:solidFill>
          <a:ln/>
        </p:spPr>
        <p:txBody>
          <a:bodyPr/>
          <a:lstStyle/>
          <a:p>
            <a:endParaRPr lang="ko-KR" altLang="en-US"/>
          </a:p>
        </p:txBody>
      </p:sp>
      <p:pic>
        <p:nvPicPr>
          <p:cNvPr id="18" name="tool icon IDE" descr="tool icon IDE"/>
          <p:cNvPicPr>
            <a:picLocks noChangeAspect="1"/>
          </p:cNvPicPr>
          <p:nvPr/>
        </p:nvPicPr>
        <p:blipFill>
          <a:blip r:embed="rId5"/>
          <a:stretch>
            <a:fillRect/>
          </a:stretch>
        </p:blipFill>
        <p:spPr>
          <a:xfrm>
            <a:off x="1040130" y="4652010"/>
            <a:ext cx="342900" cy="342900"/>
          </a:xfrm>
          <a:prstGeom prst="rect">
            <a:avLst/>
          </a:prstGeom>
        </p:spPr>
      </p:pic>
      <p:sp>
        <p:nvSpPr>
          <p:cNvPr id="19" name="Text 14"/>
          <p:cNvSpPr txBox="1"/>
          <p:nvPr/>
        </p:nvSpPr>
        <p:spPr>
          <a:xfrm>
            <a:off x="1783080" y="4480560"/>
            <a:ext cx="3855568" cy="365760"/>
          </a:xfrm>
          <a:prstGeom prst="rect">
            <a:avLst/>
          </a:prstGeom>
          <a:noFill/>
          <a:ln/>
        </p:spPr>
        <p:txBody>
          <a:bodyPr wrap="square" lIns="0" tIns="0" rIns="0" bIns="0" rtlCol="0" anchor="t"/>
          <a:lstStyle/>
          <a:p>
            <a:pPr marL="0" indent="0">
              <a:buNone/>
            </a:pPr>
            <a:r>
              <a:rPr lang="en-US" sz="2000" b="1" dirty="0">
                <a:solidFill>
                  <a:schemeClr val="tx2"/>
                </a:solidFill>
              </a:rPr>
              <a:t>IDE</a:t>
            </a:r>
            <a:endParaRPr lang="en-US" sz="2000" dirty="0"/>
          </a:p>
        </p:txBody>
      </p:sp>
      <p:sp>
        <p:nvSpPr>
          <p:cNvPr id="20" name="Text 15"/>
          <p:cNvSpPr txBox="1"/>
          <p:nvPr/>
        </p:nvSpPr>
        <p:spPr>
          <a:xfrm>
            <a:off x="1783080" y="4937760"/>
            <a:ext cx="3855568" cy="685800"/>
          </a:xfrm>
          <a:prstGeom prst="rect">
            <a:avLst/>
          </a:prstGeom>
          <a:noFill/>
          <a:ln/>
        </p:spPr>
        <p:txBody>
          <a:bodyPr wrap="square" lIns="0" tIns="0" rIns="0" bIns="0" rtlCol="0" anchor="t"/>
          <a:lstStyle/>
          <a:p>
            <a:pPr marL="0" indent="0">
              <a:buNone/>
            </a:pPr>
            <a:r>
              <a:rPr lang="en-US" sz="1500" b="1" dirty="0">
                <a:solidFill>
                  <a:schemeClr val="accent2"/>
                </a:solidFill>
              </a:rPr>
              <a:t>Visual Studio  ·  Rider  ·  VS Code</a:t>
            </a:r>
            <a:endParaRPr lang="en-US" sz="1500" dirty="0"/>
          </a:p>
        </p:txBody>
      </p:sp>
      <p:sp>
        <p:nvSpPr>
          <p:cNvPr id="21" name="Text 16"/>
          <p:cNvSpPr txBox="1"/>
          <p:nvPr/>
        </p:nvSpPr>
        <p:spPr>
          <a:xfrm>
            <a:off x="1783080" y="5669280"/>
            <a:ext cx="3855568" cy="457200"/>
          </a:xfrm>
          <a:prstGeom prst="rect">
            <a:avLst/>
          </a:prstGeom>
          <a:noFill/>
          <a:ln/>
        </p:spPr>
        <p:txBody>
          <a:bodyPr wrap="square" lIns="0" tIns="0" rIns="0" bIns="0" rtlCol="0" anchor="t"/>
          <a:lstStyle/>
          <a:p>
            <a:pPr marL="0" indent="0">
              <a:buNone/>
            </a:pPr>
            <a:r>
              <a:rPr lang="en-US" sz="1400" dirty="0">
                <a:solidFill>
                  <a:schemeClr val="accent6"/>
                </a:solidFill>
              </a:rPr>
              <a:t>하나만 고집하지 말고 여러 개 써보기</a:t>
            </a:r>
            <a:endParaRPr lang="en-US" sz="1400" dirty="0"/>
          </a:p>
        </p:txBody>
      </p:sp>
      <p:sp>
        <p:nvSpPr>
          <p:cNvPr id="22" name="tool card 버전 관리 · 협업"/>
          <p:cNvSpPr/>
          <p:nvPr/>
        </p:nvSpPr>
        <p:spPr>
          <a:xfrm>
            <a:off x="6233008" y="4160520"/>
            <a:ext cx="5410048" cy="2194560"/>
          </a:xfrm>
          <a:prstGeom prst="roundRect">
            <a:avLst>
              <a:gd name="adj" fmla="val 5000"/>
            </a:avLst>
          </a:prstGeom>
          <a:solidFill>
            <a:schemeClr val="bg2"/>
          </a:solidFill>
          <a:ln/>
        </p:spPr>
        <p:txBody>
          <a:bodyPr/>
          <a:lstStyle/>
          <a:p>
            <a:endParaRPr lang="ko-KR" altLang="en-US"/>
          </a:p>
        </p:txBody>
      </p:sp>
      <p:sp>
        <p:nvSpPr>
          <p:cNvPr id="23" name="tool icon 버전 관리 · 협업 circle"/>
          <p:cNvSpPr/>
          <p:nvPr/>
        </p:nvSpPr>
        <p:spPr>
          <a:xfrm>
            <a:off x="6553048" y="4480560"/>
            <a:ext cx="685800" cy="685800"/>
          </a:xfrm>
          <a:prstGeom prst="ellipse">
            <a:avLst/>
          </a:prstGeom>
          <a:solidFill>
            <a:schemeClr val="accent1"/>
          </a:solidFill>
          <a:ln/>
        </p:spPr>
        <p:txBody>
          <a:bodyPr/>
          <a:lstStyle/>
          <a:p>
            <a:endParaRPr lang="ko-KR" altLang="en-US"/>
          </a:p>
        </p:txBody>
      </p:sp>
      <p:pic>
        <p:nvPicPr>
          <p:cNvPr id="24" name="tool icon 버전 관리 · 협업" descr="tool icon 버전 관리 · 협업"/>
          <p:cNvPicPr>
            <a:picLocks noChangeAspect="1"/>
          </p:cNvPicPr>
          <p:nvPr/>
        </p:nvPicPr>
        <p:blipFill>
          <a:blip r:embed="rId6"/>
          <a:stretch>
            <a:fillRect/>
          </a:stretch>
        </p:blipFill>
        <p:spPr>
          <a:xfrm>
            <a:off x="6724498" y="4652010"/>
            <a:ext cx="342900" cy="342900"/>
          </a:xfrm>
          <a:prstGeom prst="rect">
            <a:avLst/>
          </a:prstGeom>
        </p:spPr>
      </p:pic>
      <p:sp>
        <p:nvSpPr>
          <p:cNvPr id="25" name="Text 19"/>
          <p:cNvSpPr txBox="1"/>
          <p:nvPr/>
        </p:nvSpPr>
        <p:spPr>
          <a:xfrm>
            <a:off x="7467448" y="4480560"/>
            <a:ext cx="3855568" cy="365760"/>
          </a:xfrm>
          <a:prstGeom prst="rect">
            <a:avLst/>
          </a:prstGeom>
          <a:noFill/>
          <a:ln/>
        </p:spPr>
        <p:txBody>
          <a:bodyPr wrap="square" lIns="0" tIns="0" rIns="0" bIns="0" rtlCol="0" anchor="t"/>
          <a:lstStyle/>
          <a:p>
            <a:pPr marL="0" indent="0">
              <a:buNone/>
            </a:pPr>
            <a:r>
              <a:rPr lang="en-US" sz="2000" b="1" dirty="0">
                <a:solidFill>
                  <a:schemeClr val="tx2"/>
                </a:solidFill>
              </a:rPr>
              <a:t>버전 관리 · 협업</a:t>
            </a:r>
            <a:endParaRPr lang="en-US" sz="2000" dirty="0"/>
          </a:p>
        </p:txBody>
      </p:sp>
      <p:sp>
        <p:nvSpPr>
          <p:cNvPr id="26" name="Text 20"/>
          <p:cNvSpPr txBox="1"/>
          <p:nvPr/>
        </p:nvSpPr>
        <p:spPr>
          <a:xfrm>
            <a:off x="7467448" y="4937760"/>
            <a:ext cx="3855568" cy="685800"/>
          </a:xfrm>
          <a:prstGeom prst="rect">
            <a:avLst/>
          </a:prstGeom>
          <a:noFill/>
          <a:ln/>
        </p:spPr>
        <p:txBody>
          <a:bodyPr wrap="square" lIns="0" tIns="0" rIns="0" bIns="0" rtlCol="0" anchor="t"/>
          <a:lstStyle/>
          <a:p>
            <a:pPr marL="0" indent="0">
              <a:buNone/>
            </a:pPr>
            <a:r>
              <a:rPr lang="en-US" sz="1500" b="1" dirty="0">
                <a:solidFill>
                  <a:schemeClr val="accent2"/>
                </a:solidFill>
              </a:rPr>
              <a:t>Git / GitHub / GitHub Desktop  </a:t>
            </a:r>
          </a:p>
          <a:p>
            <a:pPr marL="0" indent="0">
              <a:buNone/>
            </a:pPr>
            <a:r>
              <a:rPr lang="en-US" sz="1500" b="1" dirty="0">
                <a:solidFill>
                  <a:schemeClr val="accent2"/>
                </a:solidFill>
              </a:rPr>
              <a:t>Notion  ·  Craft  ·  Discord</a:t>
            </a:r>
            <a:endParaRPr lang="en-US" sz="1500" dirty="0"/>
          </a:p>
        </p:txBody>
      </p:sp>
      <p:sp>
        <p:nvSpPr>
          <p:cNvPr id="27" name="Text 21"/>
          <p:cNvSpPr txBox="1"/>
          <p:nvPr/>
        </p:nvSpPr>
        <p:spPr>
          <a:xfrm>
            <a:off x="7467448" y="5669280"/>
            <a:ext cx="3855568" cy="457200"/>
          </a:xfrm>
          <a:prstGeom prst="rect">
            <a:avLst/>
          </a:prstGeom>
          <a:noFill/>
          <a:ln/>
        </p:spPr>
        <p:txBody>
          <a:bodyPr wrap="square" lIns="0" tIns="0" rIns="0" bIns="0" rtlCol="0" anchor="t"/>
          <a:lstStyle/>
          <a:p>
            <a:pPr marL="0" indent="0">
              <a:buNone/>
            </a:pPr>
            <a:r>
              <a:rPr lang="en-US" sz="1400" dirty="0">
                <a:solidFill>
                  <a:schemeClr val="accent6"/>
                </a:solidFill>
              </a:rPr>
              <a:t>Notion은 학교 메일로 인증하면 무료</a:t>
            </a:r>
            <a:endParaRPr lang="en-US" sz="1400" dirty="0"/>
          </a:p>
        </p:txBody>
      </p:sp>
      <p:sp>
        <p:nvSpPr>
          <p:cNvPr id="28"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3657600" cy="1188720"/>
          </a:xfrm>
          <a:prstGeom prst="rect">
            <a:avLst/>
          </a:prstGeom>
          <a:noFill/>
          <a:ln/>
        </p:spPr>
        <p:txBody>
          <a:bodyPr wrap="square" lIns="0" tIns="0" rIns="0" bIns="0" rtlCol="0"/>
          <a:lstStyle/>
          <a:p>
            <a:pPr marL="0" indent="0">
              <a:buNone/>
            </a:pPr>
            <a:r>
              <a:rPr lang="en-US" sz="8000" b="1" dirty="0">
                <a:solidFill>
                  <a:schemeClr val="accent1"/>
                </a:solidFill>
              </a:rPr>
              <a:t>03</a:t>
            </a:r>
            <a:endParaRPr lang="en-US" sz="8000" dirty="0"/>
          </a:p>
        </p:txBody>
      </p:sp>
      <p:sp>
        <p:nvSpPr>
          <p:cNvPr id="3" name="Text 0"/>
          <p:cNvSpPr>
            <a:spLocks noGrp="1"/>
          </p:cNvSpPr>
          <p:nvPr>
            <p:ph type="title" idx="101" hasCustomPrompt="1"/>
          </p:nvPr>
        </p:nvSpPr>
        <p:spPr>
          <a:xfrm>
            <a:off x="548640" y="3063240"/>
            <a:ext cx="10058400" cy="914400"/>
          </a:xfrm>
          <a:prstGeom prst="rect">
            <a:avLst/>
          </a:prstGeom>
          <a:noFill/>
          <a:ln/>
        </p:spPr>
        <p:txBody>
          <a:bodyPr wrap="square" lIns="0" tIns="0" rIns="0" bIns="0" rtlCol="0"/>
          <a:lstStyle/>
          <a:p>
            <a:pPr marL="0" indent="0" algn="l">
              <a:buNone/>
            </a:pPr>
            <a:r>
              <a:rPr lang="en-US" sz="4400" b="1" dirty="0">
                <a:solidFill>
                  <a:schemeClr val="bg1"/>
                </a:solidFill>
              </a:rPr>
              <a:t>코딩 팁</a:t>
            </a:r>
            <a:endParaRPr lang="en-US" sz="4400" dirty="0"/>
          </a:p>
        </p:txBody>
      </p:sp>
      <p:sp>
        <p:nvSpPr>
          <p:cNvPr id="4" name="Text 0"/>
          <p:cNvSpPr>
            <a:spLocks noGrp="1"/>
          </p:cNvSpPr>
          <p:nvPr>
            <p:ph type="body" idx="102" hasCustomPrompt="1"/>
          </p:nvPr>
        </p:nvSpPr>
        <p:spPr>
          <a:xfrm>
            <a:off x="548640" y="4069080"/>
            <a:ext cx="10058400" cy="548640"/>
          </a:xfrm>
          <a:prstGeom prst="rect">
            <a:avLst/>
          </a:prstGeom>
          <a:noFill/>
          <a:ln/>
        </p:spPr>
        <p:txBody>
          <a:bodyPr wrap="square" lIns="0" tIns="0" rIns="0" bIns="0" rtlCol="0"/>
          <a:lstStyle/>
          <a:p>
            <a:pPr marL="0" indent="0">
              <a:buNone/>
            </a:pPr>
            <a:r>
              <a:rPr lang="en-US" sz="2000" dirty="0">
                <a:solidFill>
                  <a:schemeClr val="accent3"/>
                </a:solidFill>
              </a:rPr>
              <a:t>서버 · 클라이언트/그래픽스 · 디버깅 · 협업</a:t>
            </a:r>
            <a:endParaRPr lang="en-US" sz="2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03  코딩 팁  ·  서버</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서버는 설계가 먼저다</a:t>
            </a:r>
            <a:endParaRPr lang="en-US" sz="3200" dirty="0"/>
          </a:p>
        </p:txBody>
      </p:sp>
      <p:sp>
        <p:nvSpPr>
          <p:cNvPr id="4" name="server icon 1 circle"/>
          <p:cNvSpPr/>
          <p:nvPr/>
        </p:nvSpPr>
        <p:spPr>
          <a:xfrm>
            <a:off x="548640" y="1783080"/>
            <a:ext cx="685800" cy="685800"/>
          </a:xfrm>
          <a:prstGeom prst="ellipse">
            <a:avLst/>
          </a:prstGeom>
          <a:solidFill>
            <a:schemeClr val="accent2"/>
          </a:solidFill>
          <a:ln/>
        </p:spPr>
        <p:txBody>
          <a:bodyPr/>
          <a:lstStyle/>
          <a:p>
            <a:endParaRPr lang="ko-KR" altLang="en-US"/>
          </a:p>
        </p:txBody>
      </p:sp>
      <p:pic>
        <p:nvPicPr>
          <p:cNvPr id="5" name="server icon 1" descr="server icon 1"/>
          <p:cNvPicPr>
            <a:picLocks noChangeAspect="1"/>
          </p:cNvPicPr>
          <p:nvPr/>
        </p:nvPicPr>
        <p:blipFill>
          <a:blip r:embed="rId3"/>
          <a:stretch>
            <a:fillRect/>
          </a:stretch>
        </p:blipFill>
        <p:spPr>
          <a:xfrm>
            <a:off x="720090" y="1954530"/>
            <a:ext cx="342900" cy="342900"/>
          </a:xfrm>
          <a:prstGeom prst="rect">
            <a:avLst/>
          </a:prstGeom>
        </p:spPr>
      </p:pic>
      <p:sp>
        <p:nvSpPr>
          <p:cNvPr id="6" name="Text 3"/>
          <p:cNvSpPr txBox="1"/>
          <p:nvPr/>
        </p:nvSpPr>
        <p:spPr>
          <a:xfrm>
            <a:off x="1508760" y="1801368"/>
            <a:ext cx="5394960" cy="411480"/>
          </a:xfrm>
          <a:prstGeom prst="rect">
            <a:avLst/>
          </a:prstGeom>
          <a:noFill/>
          <a:ln/>
        </p:spPr>
        <p:txBody>
          <a:bodyPr wrap="square" lIns="0" tIns="0" rIns="0" bIns="0" rtlCol="0" anchor="t"/>
          <a:lstStyle/>
          <a:p>
            <a:pPr marL="0" indent="0">
              <a:buNone/>
            </a:pPr>
            <a:r>
              <a:rPr lang="en-US" sz="1900" b="1" dirty="0">
                <a:solidFill>
                  <a:schemeClr val="tx2"/>
                </a:solidFill>
              </a:rPr>
              <a:t>Unity 6 구조는 공식 </a:t>
            </a:r>
            <a:r>
              <a:rPr lang="en-US" sz="1900" b="1" dirty="0" err="1">
                <a:solidFill>
                  <a:schemeClr val="tx2"/>
                </a:solidFill>
              </a:rPr>
              <a:t>매뉴얼로</a:t>
            </a:r>
            <a:r>
              <a:rPr lang="en-US" sz="1900" b="1" dirty="0">
                <a:solidFill>
                  <a:schemeClr val="tx2"/>
                </a:solidFill>
              </a:rPr>
              <a:t> </a:t>
            </a:r>
            <a:r>
              <a:rPr lang="en-US" sz="1900" b="1" dirty="0" err="1">
                <a:solidFill>
                  <a:schemeClr val="tx2"/>
                </a:solidFill>
              </a:rPr>
              <a:t>파악하</a:t>
            </a:r>
            <a:r>
              <a:rPr lang="ko-KR" altLang="en-US" sz="1900" b="1" dirty="0">
                <a:solidFill>
                  <a:schemeClr val="tx2"/>
                </a:solidFill>
              </a:rPr>
              <a:t>여 공부</a:t>
            </a:r>
            <a:endParaRPr lang="en-US" sz="1900" dirty="0"/>
          </a:p>
        </p:txBody>
      </p:sp>
      <p:sp>
        <p:nvSpPr>
          <p:cNvPr id="7" name="Text 4"/>
          <p:cNvSpPr txBox="1"/>
          <p:nvPr/>
        </p:nvSpPr>
        <p:spPr>
          <a:xfrm>
            <a:off x="1508760" y="2258568"/>
            <a:ext cx="5394960" cy="640080"/>
          </a:xfrm>
          <a:prstGeom prst="rect">
            <a:avLst/>
          </a:prstGeom>
          <a:noFill/>
          <a:ln/>
        </p:spPr>
        <p:txBody>
          <a:bodyPr wrap="square" lIns="0" tIns="0" rIns="0" bIns="0" rtlCol="0" anchor="t"/>
          <a:lstStyle/>
          <a:p>
            <a:pPr marL="0" indent="0">
              <a:buNone/>
            </a:pPr>
            <a:r>
              <a:rPr lang="ko-KR" altLang="en-US" sz="1500" dirty="0">
                <a:solidFill>
                  <a:schemeClr val="accent6"/>
                </a:solidFill>
              </a:rPr>
              <a:t>엔진 구조 공부하기에 최고 </a:t>
            </a:r>
            <a:r>
              <a:rPr lang="ko-KR" altLang="en-US" sz="1500" dirty="0" err="1">
                <a:solidFill>
                  <a:schemeClr val="accent6"/>
                </a:solidFill>
              </a:rPr>
              <a:t>교보재이다</a:t>
            </a:r>
            <a:r>
              <a:rPr lang="en-US" altLang="ko-KR" sz="1500" dirty="0">
                <a:solidFill>
                  <a:schemeClr val="accent6"/>
                </a:solidFill>
              </a:rPr>
              <a:t>.</a:t>
            </a:r>
            <a:endParaRPr lang="en-US" sz="1500" dirty="0"/>
          </a:p>
        </p:txBody>
      </p:sp>
      <p:sp>
        <p:nvSpPr>
          <p:cNvPr id="8" name="server icon 2 circle"/>
          <p:cNvSpPr/>
          <p:nvPr/>
        </p:nvSpPr>
        <p:spPr>
          <a:xfrm>
            <a:off x="548640" y="3246120"/>
            <a:ext cx="685800" cy="685800"/>
          </a:xfrm>
          <a:prstGeom prst="ellipse">
            <a:avLst/>
          </a:prstGeom>
          <a:solidFill>
            <a:schemeClr val="accent2"/>
          </a:solidFill>
          <a:ln/>
        </p:spPr>
        <p:txBody>
          <a:bodyPr/>
          <a:lstStyle/>
          <a:p>
            <a:endParaRPr lang="ko-KR" altLang="en-US"/>
          </a:p>
        </p:txBody>
      </p:sp>
      <p:pic>
        <p:nvPicPr>
          <p:cNvPr id="9" name="server icon 2" descr="server icon 2"/>
          <p:cNvPicPr>
            <a:picLocks noChangeAspect="1"/>
          </p:cNvPicPr>
          <p:nvPr/>
        </p:nvPicPr>
        <p:blipFill>
          <a:blip r:embed="rId4"/>
          <a:stretch>
            <a:fillRect/>
          </a:stretch>
        </p:blipFill>
        <p:spPr>
          <a:xfrm>
            <a:off x="720090" y="3417570"/>
            <a:ext cx="342900" cy="342900"/>
          </a:xfrm>
          <a:prstGeom prst="rect">
            <a:avLst/>
          </a:prstGeom>
        </p:spPr>
      </p:pic>
      <p:sp>
        <p:nvSpPr>
          <p:cNvPr id="10" name="Text 6"/>
          <p:cNvSpPr txBox="1"/>
          <p:nvPr/>
        </p:nvSpPr>
        <p:spPr>
          <a:xfrm>
            <a:off x="1508760" y="3264408"/>
            <a:ext cx="5394960" cy="411480"/>
          </a:xfrm>
          <a:prstGeom prst="rect">
            <a:avLst/>
          </a:prstGeom>
          <a:noFill/>
          <a:ln/>
        </p:spPr>
        <p:txBody>
          <a:bodyPr wrap="square" lIns="0" tIns="0" rIns="0" bIns="0" rtlCol="0" anchor="t"/>
          <a:lstStyle/>
          <a:p>
            <a:pPr marL="0" indent="0">
              <a:buNone/>
            </a:pPr>
            <a:r>
              <a:rPr lang="en-US" sz="1900" b="1" dirty="0">
                <a:solidFill>
                  <a:schemeClr val="tx2"/>
                </a:solidFill>
              </a:rPr>
              <a:t>게임 디자인 패턴 익히기</a:t>
            </a:r>
            <a:endParaRPr lang="en-US" sz="1900" dirty="0"/>
          </a:p>
        </p:txBody>
      </p:sp>
      <p:sp>
        <p:nvSpPr>
          <p:cNvPr id="11" name="Text 7"/>
          <p:cNvSpPr txBox="1"/>
          <p:nvPr/>
        </p:nvSpPr>
        <p:spPr>
          <a:xfrm>
            <a:off x="1508760" y="3721608"/>
            <a:ext cx="5394960" cy="640080"/>
          </a:xfrm>
          <a:prstGeom prst="rect">
            <a:avLst/>
          </a:prstGeom>
          <a:noFill/>
          <a:ln/>
        </p:spPr>
        <p:txBody>
          <a:bodyPr wrap="square" lIns="0" tIns="0" rIns="0" bIns="0" rtlCol="0" anchor="t"/>
          <a:lstStyle/>
          <a:p>
            <a:pPr marL="0" indent="0">
              <a:buNone/>
            </a:pPr>
            <a:r>
              <a:rPr lang="en-US" sz="1500" dirty="0">
                <a:solidFill>
                  <a:schemeClr val="accent6"/>
                </a:solidFill>
              </a:rPr>
              <a:t>Singleton, Component 등</a:t>
            </a:r>
            <a:endParaRPr lang="en-US" sz="1500" dirty="0"/>
          </a:p>
        </p:txBody>
      </p:sp>
      <p:sp>
        <p:nvSpPr>
          <p:cNvPr id="12" name="server icon 3 circle"/>
          <p:cNvSpPr/>
          <p:nvPr/>
        </p:nvSpPr>
        <p:spPr>
          <a:xfrm>
            <a:off x="548640" y="4709160"/>
            <a:ext cx="685800" cy="685800"/>
          </a:xfrm>
          <a:prstGeom prst="ellipse">
            <a:avLst/>
          </a:prstGeom>
          <a:solidFill>
            <a:schemeClr val="accent2"/>
          </a:solidFill>
          <a:ln/>
        </p:spPr>
        <p:txBody>
          <a:bodyPr/>
          <a:lstStyle/>
          <a:p>
            <a:endParaRPr lang="ko-KR" altLang="en-US"/>
          </a:p>
        </p:txBody>
      </p:sp>
      <p:pic>
        <p:nvPicPr>
          <p:cNvPr id="13" name="server icon 3" descr="server icon 3"/>
          <p:cNvPicPr>
            <a:picLocks noChangeAspect="1"/>
          </p:cNvPicPr>
          <p:nvPr/>
        </p:nvPicPr>
        <p:blipFill>
          <a:blip r:embed="rId5"/>
          <a:stretch>
            <a:fillRect/>
          </a:stretch>
        </p:blipFill>
        <p:spPr>
          <a:xfrm>
            <a:off x="720090" y="4880610"/>
            <a:ext cx="342900" cy="342900"/>
          </a:xfrm>
          <a:prstGeom prst="rect">
            <a:avLst/>
          </a:prstGeom>
        </p:spPr>
      </p:pic>
      <p:sp>
        <p:nvSpPr>
          <p:cNvPr id="14" name="Text 9"/>
          <p:cNvSpPr txBox="1"/>
          <p:nvPr/>
        </p:nvSpPr>
        <p:spPr>
          <a:xfrm>
            <a:off x="1508760" y="4727448"/>
            <a:ext cx="5394960" cy="411480"/>
          </a:xfrm>
          <a:prstGeom prst="rect">
            <a:avLst/>
          </a:prstGeom>
          <a:noFill/>
          <a:ln/>
        </p:spPr>
        <p:txBody>
          <a:bodyPr wrap="square" lIns="0" tIns="0" rIns="0" bIns="0" rtlCol="0" anchor="t"/>
          <a:lstStyle/>
          <a:p>
            <a:pPr marL="0" indent="0">
              <a:buNone/>
            </a:pPr>
            <a:r>
              <a:rPr lang="en-US" sz="1900" b="1" dirty="0">
                <a:solidFill>
                  <a:schemeClr val="tx2"/>
                </a:solidFill>
              </a:rPr>
              <a:t>실습 수업의 방식을 개발 철학으로</a:t>
            </a:r>
            <a:endParaRPr lang="en-US" sz="1900" dirty="0"/>
          </a:p>
        </p:txBody>
      </p:sp>
      <p:sp>
        <p:nvSpPr>
          <p:cNvPr id="15" name="Text 10"/>
          <p:cNvSpPr txBox="1"/>
          <p:nvPr/>
        </p:nvSpPr>
        <p:spPr>
          <a:xfrm>
            <a:off x="1508760" y="5184648"/>
            <a:ext cx="5394960" cy="640080"/>
          </a:xfrm>
          <a:prstGeom prst="rect">
            <a:avLst/>
          </a:prstGeom>
          <a:noFill/>
          <a:ln/>
        </p:spPr>
        <p:txBody>
          <a:bodyPr wrap="square" lIns="0" tIns="0" rIns="0" bIns="0" rtlCol="0" anchor="t"/>
          <a:lstStyle/>
          <a:p>
            <a:pPr marL="0" indent="0">
              <a:buNone/>
            </a:pPr>
            <a:r>
              <a:rPr lang="en-US" sz="1500" dirty="0">
                <a:solidFill>
                  <a:schemeClr val="accent6"/>
                </a:solidFill>
              </a:rPr>
              <a:t>네트워크 프로그래밍 미니 졸작에서 배운 구조를 그대로 확장</a:t>
            </a:r>
            <a:endParaRPr lang="en-US" sz="1500" dirty="0"/>
          </a:p>
        </p:txBody>
      </p:sp>
      <p:sp>
        <p:nvSpPr>
          <p:cNvPr id="16" name="key point card"/>
          <p:cNvSpPr/>
          <p:nvPr/>
        </p:nvSpPr>
        <p:spPr>
          <a:xfrm>
            <a:off x="7086600" y="1691640"/>
            <a:ext cx="4556455" cy="4434840"/>
          </a:xfrm>
          <a:prstGeom prst="roundRect">
            <a:avLst>
              <a:gd name="adj" fmla="val 2474"/>
            </a:avLst>
          </a:prstGeom>
          <a:solidFill>
            <a:schemeClr val="tx2"/>
          </a:solidFill>
          <a:ln/>
        </p:spPr>
        <p:txBody>
          <a:bodyPr/>
          <a:lstStyle/>
          <a:p>
            <a:endParaRPr lang="ko-KR" altLang="en-US"/>
          </a:p>
        </p:txBody>
      </p:sp>
      <p:sp>
        <p:nvSpPr>
          <p:cNvPr id="17" name="Text 12"/>
          <p:cNvSpPr txBox="1"/>
          <p:nvPr/>
        </p:nvSpPr>
        <p:spPr>
          <a:xfrm>
            <a:off x="7498080" y="2103120"/>
            <a:ext cx="3733495" cy="320040"/>
          </a:xfrm>
          <a:prstGeom prst="rect">
            <a:avLst/>
          </a:prstGeom>
          <a:noFill/>
          <a:ln/>
        </p:spPr>
        <p:txBody>
          <a:bodyPr wrap="square" lIns="0" tIns="0" rIns="0" bIns="0" rtlCol="0" anchor="t"/>
          <a:lstStyle/>
          <a:p>
            <a:pPr marL="0" indent="0">
              <a:buNone/>
            </a:pPr>
            <a:r>
              <a:rPr lang="en-US" sz="1300" b="1" dirty="0">
                <a:solidFill>
                  <a:schemeClr val="accent1"/>
                </a:solidFill>
              </a:rPr>
              <a:t>KEY POINT</a:t>
            </a:r>
            <a:endParaRPr lang="en-US" sz="1300" dirty="0"/>
          </a:p>
        </p:txBody>
      </p:sp>
      <p:sp>
        <p:nvSpPr>
          <p:cNvPr id="18" name="Text 13"/>
          <p:cNvSpPr txBox="1"/>
          <p:nvPr/>
        </p:nvSpPr>
        <p:spPr>
          <a:xfrm>
            <a:off x="7498080" y="2606040"/>
            <a:ext cx="3733495" cy="2011680"/>
          </a:xfrm>
          <a:prstGeom prst="rect">
            <a:avLst/>
          </a:prstGeom>
          <a:noFill/>
          <a:ln/>
        </p:spPr>
        <p:txBody>
          <a:bodyPr wrap="square" lIns="0" tIns="0" rIns="0" bIns="0" rtlCol="0" anchor="t"/>
          <a:lstStyle/>
          <a:p>
            <a:pPr marL="0" indent="0">
              <a:lnSpc>
                <a:spcPct val="110000"/>
              </a:lnSpc>
              <a:buNone/>
            </a:pPr>
            <a:r>
              <a:rPr lang="en-US" sz="3000" b="1" dirty="0">
                <a:solidFill>
                  <a:schemeClr val="bg1"/>
                </a:solidFill>
              </a:rPr>
              <a:t>서버 디버깅은</a:t>
            </a:r>
            <a:endParaRPr lang="en-US" sz="3000" dirty="0"/>
          </a:p>
          <a:p>
            <a:pPr marL="0" indent="0">
              <a:lnSpc>
                <a:spcPct val="110000"/>
              </a:lnSpc>
              <a:buNone/>
            </a:pPr>
            <a:r>
              <a:rPr lang="en-US" sz="3000" b="1" dirty="0">
                <a:solidFill>
                  <a:schemeClr val="bg1"/>
                </a:solidFill>
              </a:rPr>
              <a:t>코드보다</a:t>
            </a:r>
            <a:endParaRPr lang="en-US" sz="3000" dirty="0"/>
          </a:p>
          <a:p>
            <a:pPr marL="0" indent="0">
              <a:lnSpc>
                <a:spcPct val="110000"/>
              </a:lnSpc>
              <a:buNone/>
            </a:pPr>
            <a:r>
              <a:rPr lang="en-US" sz="3000" b="1" dirty="0">
                <a:solidFill>
                  <a:schemeClr val="accent1"/>
                </a:solidFill>
              </a:rPr>
              <a:t>순서와 설계</a:t>
            </a:r>
            <a:r>
              <a:rPr lang="en-US" sz="3000" b="1" dirty="0">
                <a:solidFill>
                  <a:schemeClr val="bg1"/>
                </a:solidFill>
              </a:rPr>
              <a:t>가 먼저</a:t>
            </a:r>
            <a:endParaRPr lang="en-US" sz="3000" dirty="0"/>
          </a:p>
        </p:txBody>
      </p:sp>
      <p:sp>
        <p:nvSpPr>
          <p:cNvPr id="19" name="Text 14"/>
          <p:cNvSpPr txBox="1"/>
          <p:nvPr/>
        </p:nvSpPr>
        <p:spPr>
          <a:xfrm>
            <a:off x="7498080" y="5120640"/>
            <a:ext cx="3733495" cy="457200"/>
          </a:xfrm>
          <a:prstGeom prst="rect">
            <a:avLst/>
          </a:prstGeom>
          <a:noFill/>
          <a:ln/>
        </p:spPr>
        <p:txBody>
          <a:bodyPr wrap="square" lIns="0" tIns="0" rIns="0" bIns="0" rtlCol="0" anchor="t"/>
          <a:lstStyle/>
          <a:p>
            <a:pPr marL="0" indent="0">
              <a:buNone/>
            </a:pPr>
            <a:r>
              <a:rPr lang="en-US" sz="1800" dirty="0">
                <a:solidFill>
                  <a:schemeClr val="accent3"/>
                </a:solidFill>
              </a:rPr>
              <a:t>→ 흐름을 그림으로 잘 그려라</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03  코딩 팁  ·  클라이언트 / 그래픽스</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구현 전에 </a:t>
            </a:r>
            <a:r>
              <a:rPr lang="en-US" sz="3200" b="1" dirty="0" err="1">
                <a:solidFill>
                  <a:schemeClr val="tx2"/>
                </a:solidFill>
              </a:rPr>
              <a:t>규모와</a:t>
            </a:r>
            <a:r>
              <a:rPr lang="en-US" sz="3200" b="1" dirty="0">
                <a:solidFill>
                  <a:schemeClr val="tx2"/>
                </a:solidFill>
              </a:rPr>
              <a:t> </a:t>
            </a:r>
            <a:r>
              <a:rPr lang="ko-KR" altLang="en-US" dirty="0"/>
              <a:t>명세서</a:t>
            </a:r>
            <a:r>
              <a:rPr lang="en-US" sz="3200" b="1" dirty="0" err="1">
                <a:solidFill>
                  <a:schemeClr val="tx2"/>
                </a:solidFill>
              </a:rPr>
              <a:t>부터</a:t>
            </a:r>
            <a:r>
              <a:rPr lang="en-US" sz="3200" b="1" dirty="0">
                <a:solidFill>
                  <a:schemeClr val="tx2"/>
                </a:solidFill>
              </a:rPr>
              <a:t> 확인하기</a:t>
            </a:r>
            <a:endParaRPr lang="en-US" sz="3200" dirty="0"/>
          </a:p>
        </p:txBody>
      </p:sp>
      <p:sp>
        <p:nvSpPr>
          <p:cNvPr id="4" name="step card 1"/>
          <p:cNvSpPr/>
          <p:nvPr/>
        </p:nvSpPr>
        <p:spPr>
          <a:xfrm>
            <a:off x="548640" y="1783080"/>
            <a:ext cx="3332378" cy="4297680"/>
          </a:xfrm>
          <a:prstGeom prst="roundRect">
            <a:avLst>
              <a:gd name="adj" fmla="val 3293"/>
            </a:avLst>
          </a:prstGeom>
          <a:solidFill>
            <a:schemeClr val="bg2"/>
          </a:solidFill>
          <a:ln/>
        </p:spPr>
        <p:txBody>
          <a:bodyPr/>
          <a:lstStyle/>
          <a:p>
            <a:endParaRPr lang="ko-KR" altLang="en-US"/>
          </a:p>
        </p:txBody>
      </p:sp>
      <p:sp>
        <p:nvSpPr>
          <p:cNvPr id="5" name="Text 3"/>
          <p:cNvSpPr txBox="1"/>
          <p:nvPr/>
        </p:nvSpPr>
        <p:spPr>
          <a:xfrm>
            <a:off x="914400" y="2148840"/>
            <a:ext cx="1828800" cy="320040"/>
          </a:xfrm>
          <a:prstGeom prst="rect">
            <a:avLst/>
          </a:prstGeom>
          <a:noFill/>
          <a:ln/>
        </p:spPr>
        <p:txBody>
          <a:bodyPr wrap="square" lIns="0" tIns="0" rIns="0" bIns="0" rtlCol="0" anchor="t"/>
          <a:lstStyle/>
          <a:p>
            <a:pPr marL="0" indent="0">
              <a:buNone/>
            </a:pPr>
            <a:r>
              <a:rPr lang="en-US" sz="1300" b="1" dirty="0">
                <a:solidFill>
                  <a:schemeClr val="accent1"/>
                </a:solidFill>
              </a:rPr>
              <a:t>STEP 1</a:t>
            </a:r>
            <a:endParaRPr lang="en-US" sz="1300" dirty="0"/>
          </a:p>
        </p:txBody>
      </p:sp>
      <p:sp>
        <p:nvSpPr>
          <p:cNvPr id="6" name="step icon 1 circle"/>
          <p:cNvSpPr/>
          <p:nvPr/>
        </p:nvSpPr>
        <p:spPr>
          <a:xfrm>
            <a:off x="914400" y="2651760"/>
            <a:ext cx="777240" cy="777240"/>
          </a:xfrm>
          <a:prstGeom prst="ellipse">
            <a:avLst/>
          </a:prstGeom>
          <a:solidFill>
            <a:schemeClr val="tx2"/>
          </a:solidFill>
          <a:ln/>
        </p:spPr>
        <p:txBody>
          <a:bodyPr/>
          <a:lstStyle/>
          <a:p>
            <a:endParaRPr lang="ko-KR" altLang="en-US"/>
          </a:p>
        </p:txBody>
      </p:sp>
      <p:pic>
        <p:nvPicPr>
          <p:cNvPr id="7" name="step icon 1" descr="step icon 1"/>
          <p:cNvPicPr>
            <a:picLocks noChangeAspect="1"/>
          </p:cNvPicPr>
          <p:nvPr/>
        </p:nvPicPr>
        <p:blipFill>
          <a:blip r:embed="rId3"/>
          <a:stretch>
            <a:fillRect/>
          </a:stretch>
        </p:blipFill>
        <p:spPr>
          <a:xfrm>
            <a:off x="1108710" y="2846070"/>
            <a:ext cx="388620" cy="388620"/>
          </a:xfrm>
          <a:prstGeom prst="rect">
            <a:avLst/>
          </a:prstGeom>
        </p:spPr>
      </p:pic>
      <p:sp>
        <p:nvSpPr>
          <p:cNvPr id="8" name="Text 5"/>
          <p:cNvSpPr txBox="1"/>
          <p:nvPr/>
        </p:nvSpPr>
        <p:spPr>
          <a:xfrm>
            <a:off x="914400" y="3657600"/>
            <a:ext cx="2600858" cy="731520"/>
          </a:xfrm>
          <a:prstGeom prst="rect">
            <a:avLst/>
          </a:prstGeom>
          <a:noFill/>
          <a:ln/>
        </p:spPr>
        <p:txBody>
          <a:bodyPr wrap="square" lIns="0" tIns="0" rIns="0" bIns="0" rtlCol="0" anchor="t"/>
          <a:lstStyle/>
          <a:p>
            <a:pPr marL="0" indent="0">
              <a:buNone/>
            </a:pPr>
            <a:r>
              <a:rPr lang="en-US" sz="1900" b="1" dirty="0">
                <a:solidFill>
                  <a:schemeClr val="tx2"/>
                </a:solidFill>
              </a:rPr>
              <a:t>규모 파악 → 기초 설계</a:t>
            </a:r>
            <a:endParaRPr lang="en-US" sz="1900" dirty="0"/>
          </a:p>
        </p:txBody>
      </p:sp>
      <p:sp>
        <p:nvSpPr>
          <p:cNvPr id="9" name="Text 6"/>
          <p:cNvSpPr txBox="1"/>
          <p:nvPr/>
        </p:nvSpPr>
        <p:spPr>
          <a:xfrm>
            <a:off x="914400" y="4434840"/>
            <a:ext cx="2600858" cy="14630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먼저 게임 규모를 파악하고 프레임워크의 기초를 설계하기. 이게 개발 속도를 좌우한다.</a:t>
            </a:r>
            <a:endParaRPr lang="en-US" sz="1500" dirty="0"/>
          </a:p>
        </p:txBody>
      </p:sp>
      <p:sp>
        <p:nvSpPr>
          <p:cNvPr id="10" name="step arrow 1"/>
          <p:cNvSpPr/>
          <p:nvPr/>
        </p:nvSpPr>
        <p:spPr>
          <a:xfrm>
            <a:off x="4018178" y="3749040"/>
            <a:ext cx="274320" cy="365760"/>
          </a:xfrm>
          <a:prstGeom prst="rightArrow">
            <a:avLst/>
          </a:prstGeom>
          <a:solidFill>
            <a:schemeClr val="accent1"/>
          </a:solidFill>
          <a:ln/>
        </p:spPr>
        <p:txBody>
          <a:bodyPr/>
          <a:lstStyle/>
          <a:p>
            <a:endParaRPr lang="ko-KR" altLang="en-US"/>
          </a:p>
        </p:txBody>
      </p:sp>
      <p:sp>
        <p:nvSpPr>
          <p:cNvPr id="11" name="step card 2"/>
          <p:cNvSpPr/>
          <p:nvPr/>
        </p:nvSpPr>
        <p:spPr>
          <a:xfrm>
            <a:off x="4429658" y="1783080"/>
            <a:ext cx="3332378" cy="4297680"/>
          </a:xfrm>
          <a:prstGeom prst="roundRect">
            <a:avLst>
              <a:gd name="adj" fmla="val 3293"/>
            </a:avLst>
          </a:prstGeom>
          <a:solidFill>
            <a:schemeClr val="bg2"/>
          </a:solidFill>
          <a:ln/>
        </p:spPr>
        <p:txBody>
          <a:bodyPr/>
          <a:lstStyle/>
          <a:p>
            <a:endParaRPr lang="ko-KR" altLang="en-US"/>
          </a:p>
        </p:txBody>
      </p:sp>
      <p:sp>
        <p:nvSpPr>
          <p:cNvPr id="12" name="Text 9"/>
          <p:cNvSpPr txBox="1"/>
          <p:nvPr/>
        </p:nvSpPr>
        <p:spPr>
          <a:xfrm>
            <a:off x="4795418" y="2148840"/>
            <a:ext cx="1828800" cy="320040"/>
          </a:xfrm>
          <a:prstGeom prst="rect">
            <a:avLst/>
          </a:prstGeom>
          <a:noFill/>
          <a:ln/>
        </p:spPr>
        <p:txBody>
          <a:bodyPr wrap="square" lIns="0" tIns="0" rIns="0" bIns="0" rtlCol="0" anchor="t"/>
          <a:lstStyle/>
          <a:p>
            <a:pPr marL="0" indent="0">
              <a:buNone/>
            </a:pPr>
            <a:r>
              <a:rPr lang="en-US" sz="1300" b="1" dirty="0">
                <a:solidFill>
                  <a:schemeClr val="accent1"/>
                </a:solidFill>
              </a:rPr>
              <a:t>STEP 2</a:t>
            </a:r>
            <a:endParaRPr lang="en-US" sz="1300" dirty="0"/>
          </a:p>
        </p:txBody>
      </p:sp>
      <p:sp>
        <p:nvSpPr>
          <p:cNvPr id="13" name="step icon 2 circle"/>
          <p:cNvSpPr/>
          <p:nvPr/>
        </p:nvSpPr>
        <p:spPr>
          <a:xfrm>
            <a:off x="4795418" y="2651760"/>
            <a:ext cx="777240" cy="777240"/>
          </a:xfrm>
          <a:prstGeom prst="ellipse">
            <a:avLst/>
          </a:prstGeom>
          <a:solidFill>
            <a:schemeClr val="tx2"/>
          </a:solidFill>
          <a:ln/>
        </p:spPr>
        <p:txBody>
          <a:bodyPr/>
          <a:lstStyle/>
          <a:p>
            <a:endParaRPr lang="ko-KR" altLang="en-US"/>
          </a:p>
        </p:txBody>
      </p:sp>
      <p:pic>
        <p:nvPicPr>
          <p:cNvPr id="14" name="step icon 2" descr="step icon 2"/>
          <p:cNvPicPr>
            <a:picLocks noChangeAspect="1"/>
          </p:cNvPicPr>
          <p:nvPr/>
        </p:nvPicPr>
        <p:blipFill>
          <a:blip r:embed="rId4"/>
          <a:stretch>
            <a:fillRect/>
          </a:stretch>
        </p:blipFill>
        <p:spPr>
          <a:xfrm>
            <a:off x="4989728" y="2846070"/>
            <a:ext cx="388620" cy="388620"/>
          </a:xfrm>
          <a:prstGeom prst="rect">
            <a:avLst/>
          </a:prstGeom>
        </p:spPr>
      </p:pic>
      <p:sp>
        <p:nvSpPr>
          <p:cNvPr id="15" name="Text 11"/>
          <p:cNvSpPr txBox="1"/>
          <p:nvPr/>
        </p:nvSpPr>
        <p:spPr>
          <a:xfrm>
            <a:off x="4795418" y="3657600"/>
            <a:ext cx="2600858" cy="731520"/>
          </a:xfrm>
          <a:prstGeom prst="rect">
            <a:avLst/>
          </a:prstGeom>
          <a:noFill/>
          <a:ln/>
        </p:spPr>
        <p:txBody>
          <a:bodyPr wrap="square" lIns="0" tIns="0" rIns="0" bIns="0" rtlCol="0" anchor="t"/>
          <a:lstStyle/>
          <a:p>
            <a:pPr marL="0" indent="0">
              <a:buNone/>
            </a:pPr>
            <a:r>
              <a:rPr lang="en-US" sz="1900" b="1" dirty="0">
                <a:solidFill>
                  <a:schemeClr val="tx2"/>
                </a:solidFill>
              </a:rPr>
              <a:t>공식 문서 · 논문부터</a:t>
            </a:r>
            <a:endParaRPr lang="en-US" sz="1900" dirty="0"/>
          </a:p>
        </p:txBody>
      </p:sp>
      <p:sp>
        <p:nvSpPr>
          <p:cNvPr id="16" name="Text 12"/>
          <p:cNvSpPr txBox="1"/>
          <p:nvPr/>
        </p:nvSpPr>
        <p:spPr>
          <a:xfrm>
            <a:off x="4795418" y="4434840"/>
            <a:ext cx="2600858" cy="14630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구현할 </a:t>
            </a:r>
            <a:r>
              <a:rPr lang="en-US" sz="1500" dirty="0" err="1">
                <a:solidFill>
                  <a:schemeClr val="tx1"/>
                </a:solidFill>
              </a:rPr>
              <a:t>기능의</a:t>
            </a:r>
            <a:r>
              <a:rPr lang="en-US" sz="1500" dirty="0">
                <a:solidFill>
                  <a:schemeClr val="tx1"/>
                </a:solidFill>
              </a:rPr>
              <a:t> </a:t>
            </a:r>
            <a:r>
              <a:rPr lang="ko-KR" altLang="en-US" sz="1500" dirty="0"/>
              <a:t>상세 명세서</a:t>
            </a:r>
            <a:r>
              <a:rPr lang="en-US" sz="1500" dirty="0" err="1">
                <a:solidFill>
                  <a:schemeClr val="tx1"/>
                </a:solidFill>
              </a:rPr>
              <a:t>부터</a:t>
            </a:r>
            <a:r>
              <a:rPr lang="en-US" sz="1500" dirty="0">
                <a:solidFill>
                  <a:schemeClr val="tx1"/>
                </a:solidFill>
              </a:rPr>
              <a:t> 찾기. 예) glTF 2.0 Khronos 공식 스펙, SIGGRAPH 논문</a:t>
            </a:r>
            <a:endParaRPr lang="en-US" sz="1500" dirty="0"/>
          </a:p>
        </p:txBody>
      </p:sp>
      <p:sp>
        <p:nvSpPr>
          <p:cNvPr id="17" name="step arrow 2"/>
          <p:cNvSpPr/>
          <p:nvPr/>
        </p:nvSpPr>
        <p:spPr>
          <a:xfrm>
            <a:off x="7899197" y="3749040"/>
            <a:ext cx="274320" cy="365760"/>
          </a:xfrm>
          <a:prstGeom prst="rightArrow">
            <a:avLst/>
          </a:prstGeom>
          <a:solidFill>
            <a:schemeClr val="accent1"/>
          </a:solidFill>
          <a:ln/>
        </p:spPr>
        <p:txBody>
          <a:bodyPr/>
          <a:lstStyle/>
          <a:p>
            <a:endParaRPr lang="ko-KR" altLang="en-US"/>
          </a:p>
        </p:txBody>
      </p:sp>
      <p:sp>
        <p:nvSpPr>
          <p:cNvPr id="18" name="step card 3"/>
          <p:cNvSpPr/>
          <p:nvPr/>
        </p:nvSpPr>
        <p:spPr>
          <a:xfrm>
            <a:off x="8310677" y="1783080"/>
            <a:ext cx="3332378" cy="4297680"/>
          </a:xfrm>
          <a:prstGeom prst="roundRect">
            <a:avLst>
              <a:gd name="adj" fmla="val 3293"/>
            </a:avLst>
          </a:prstGeom>
          <a:solidFill>
            <a:schemeClr val="bg2"/>
          </a:solidFill>
          <a:ln/>
        </p:spPr>
        <p:txBody>
          <a:bodyPr/>
          <a:lstStyle/>
          <a:p>
            <a:endParaRPr lang="ko-KR" altLang="en-US"/>
          </a:p>
        </p:txBody>
      </p:sp>
      <p:sp>
        <p:nvSpPr>
          <p:cNvPr id="19" name="Text 15"/>
          <p:cNvSpPr txBox="1"/>
          <p:nvPr/>
        </p:nvSpPr>
        <p:spPr>
          <a:xfrm>
            <a:off x="8676437" y="2148840"/>
            <a:ext cx="1828800" cy="320040"/>
          </a:xfrm>
          <a:prstGeom prst="rect">
            <a:avLst/>
          </a:prstGeom>
          <a:noFill/>
          <a:ln/>
        </p:spPr>
        <p:txBody>
          <a:bodyPr wrap="square" lIns="0" tIns="0" rIns="0" bIns="0" rtlCol="0" anchor="t"/>
          <a:lstStyle/>
          <a:p>
            <a:pPr marL="0" indent="0">
              <a:buNone/>
            </a:pPr>
            <a:r>
              <a:rPr lang="en-US" sz="1300" b="1" dirty="0">
                <a:solidFill>
                  <a:schemeClr val="accent1"/>
                </a:solidFill>
              </a:rPr>
              <a:t>STEP 3</a:t>
            </a:r>
            <a:endParaRPr lang="en-US" sz="1300" dirty="0"/>
          </a:p>
        </p:txBody>
      </p:sp>
      <p:sp>
        <p:nvSpPr>
          <p:cNvPr id="20" name="step icon 3 circle"/>
          <p:cNvSpPr/>
          <p:nvPr/>
        </p:nvSpPr>
        <p:spPr>
          <a:xfrm>
            <a:off x="8676437" y="2651760"/>
            <a:ext cx="777240" cy="777240"/>
          </a:xfrm>
          <a:prstGeom prst="ellipse">
            <a:avLst/>
          </a:prstGeom>
          <a:solidFill>
            <a:schemeClr val="tx2"/>
          </a:solidFill>
          <a:ln/>
        </p:spPr>
        <p:txBody>
          <a:bodyPr/>
          <a:lstStyle/>
          <a:p>
            <a:endParaRPr lang="ko-KR" altLang="en-US"/>
          </a:p>
        </p:txBody>
      </p:sp>
      <p:pic>
        <p:nvPicPr>
          <p:cNvPr id="21" name="step icon 3" descr="step icon 3"/>
          <p:cNvPicPr>
            <a:picLocks noChangeAspect="1"/>
          </p:cNvPicPr>
          <p:nvPr/>
        </p:nvPicPr>
        <p:blipFill>
          <a:blip r:embed="rId5"/>
          <a:stretch>
            <a:fillRect/>
          </a:stretch>
        </p:blipFill>
        <p:spPr>
          <a:xfrm>
            <a:off x="8870747" y="2846070"/>
            <a:ext cx="388620" cy="388620"/>
          </a:xfrm>
          <a:prstGeom prst="rect">
            <a:avLst/>
          </a:prstGeom>
        </p:spPr>
      </p:pic>
      <p:sp>
        <p:nvSpPr>
          <p:cNvPr id="22" name="Text 17"/>
          <p:cNvSpPr txBox="1"/>
          <p:nvPr/>
        </p:nvSpPr>
        <p:spPr>
          <a:xfrm>
            <a:off x="8676437" y="3657600"/>
            <a:ext cx="2600858" cy="731520"/>
          </a:xfrm>
          <a:prstGeom prst="rect">
            <a:avLst/>
          </a:prstGeom>
          <a:noFill/>
          <a:ln/>
        </p:spPr>
        <p:txBody>
          <a:bodyPr wrap="square" lIns="0" tIns="0" rIns="0" bIns="0" rtlCol="0" anchor="t"/>
          <a:lstStyle/>
          <a:p>
            <a:pPr marL="0" indent="0">
              <a:buNone/>
            </a:pPr>
            <a:r>
              <a:rPr lang="en-US" sz="1900" b="1" dirty="0">
                <a:solidFill>
                  <a:schemeClr val="tx2"/>
                </a:solidFill>
              </a:rPr>
              <a:t>AI로 요약, 원문은 필요한 만큼</a:t>
            </a:r>
            <a:endParaRPr lang="en-US" sz="1900" dirty="0"/>
          </a:p>
        </p:txBody>
      </p:sp>
      <p:sp>
        <p:nvSpPr>
          <p:cNvPr id="23" name="Text 18"/>
          <p:cNvSpPr txBox="1"/>
          <p:nvPr/>
        </p:nvSpPr>
        <p:spPr>
          <a:xfrm>
            <a:off x="8676437" y="4434840"/>
            <a:ext cx="2600858" cy="14630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긴 문서는 AI로 요약해 핵심부터 잡고, 필요한 부분만 원문으로 확인하기</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03  코딩 팁  ·  디버깅</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디버깅의 기본 자세</a:t>
            </a:r>
            <a:endParaRPr lang="en-US" sz="3200" dirty="0"/>
          </a:p>
        </p:txBody>
      </p:sp>
      <p:sp>
        <p:nvSpPr>
          <p:cNvPr id="4" name="Text 2"/>
          <p:cNvSpPr txBox="1"/>
          <p:nvPr/>
        </p:nvSpPr>
        <p:spPr>
          <a:xfrm>
            <a:off x="548640" y="2194560"/>
            <a:ext cx="5669280" cy="1828800"/>
          </a:xfrm>
          <a:prstGeom prst="rect">
            <a:avLst/>
          </a:prstGeom>
          <a:noFill/>
          <a:ln/>
        </p:spPr>
        <p:txBody>
          <a:bodyPr wrap="square" lIns="0" tIns="0" rIns="0" bIns="0" rtlCol="0" anchor="t"/>
          <a:lstStyle/>
          <a:p>
            <a:pPr marL="0" indent="0">
              <a:lnSpc>
                <a:spcPct val="115000"/>
              </a:lnSpc>
              <a:buNone/>
            </a:pPr>
            <a:r>
              <a:rPr lang="en-US" sz="4000" b="1" dirty="0">
                <a:solidFill>
                  <a:schemeClr val="tx2"/>
                </a:solidFill>
              </a:rPr>
              <a:t>모든 걸 의심하라.</a:t>
            </a:r>
            <a:endParaRPr lang="en-US" sz="4000" dirty="0"/>
          </a:p>
          <a:p>
            <a:pPr marL="0" indent="0">
              <a:lnSpc>
                <a:spcPct val="115000"/>
              </a:lnSpc>
              <a:buNone/>
            </a:pPr>
            <a:r>
              <a:rPr lang="en-US" sz="4000" b="1" dirty="0">
                <a:solidFill>
                  <a:schemeClr val="accent1"/>
                </a:solidFill>
              </a:rPr>
              <a:t>당연한 건 없다.</a:t>
            </a:r>
            <a:endParaRPr lang="en-US" sz="4000" dirty="0"/>
          </a:p>
        </p:txBody>
      </p:sp>
      <p:sp>
        <p:nvSpPr>
          <p:cNvPr id="5" name="Text 3"/>
          <p:cNvSpPr txBox="1"/>
          <p:nvPr/>
        </p:nvSpPr>
        <p:spPr>
          <a:xfrm>
            <a:off x="548640" y="4160520"/>
            <a:ext cx="5486400" cy="457200"/>
          </a:xfrm>
          <a:prstGeom prst="rect">
            <a:avLst/>
          </a:prstGeom>
          <a:noFill/>
          <a:ln/>
        </p:spPr>
        <p:txBody>
          <a:bodyPr wrap="square" lIns="0" tIns="0" rIns="0" bIns="0" rtlCol="0" anchor="t"/>
          <a:lstStyle/>
          <a:p>
            <a:pPr marL="0" indent="0">
              <a:buNone/>
            </a:pPr>
            <a:r>
              <a:rPr lang="en-US" sz="2000" dirty="0">
                <a:solidFill>
                  <a:schemeClr val="accent6"/>
                </a:solidFill>
              </a:rPr>
              <a:t>(F11 난타)</a:t>
            </a:r>
            <a:endParaRPr lang="en-US" sz="2000" dirty="0"/>
          </a:p>
        </p:txBody>
      </p:sp>
      <p:sp>
        <p:nvSpPr>
          <p:cNvPr id="6" name="debug card 1"/>
          <p:cNvSpPr/>
          <p:nvPr/>
        </p:nvSpPr>
        <p:spPr>
          <a:xfrm>
            <a:off x="6675120" y="1783080"/>
            <a:ext cx="4967935" cy="2057400"/>
          </a:xfrm>
          <a:prstGeom prst="roundRect">
            <a:avLst>
              <a:gd name="adj" fmla="val 5333"/>
            </a:avLst>
          </a:prstGeom>
          <a:solidFill>
            <a:schemeClr val="bg2"/>
          </a:solidFill>
          <a:ln/>
        </p:spPr>
        <p:txBody>
          <a:bodyPr/>
          <a:lstStyle/>
          <a:p>
            <a:endParaRPr lang="ko-KR" altLang="en-US"/>
          </a:p>
        </p:txBody>
      </p:sp>
      <p:sp>
        <p:nvSpPr>
          <p:cNvPr id="7" name="debug icon 1 circle"/>
          <p:cNvSpPr/>
          <p:nvPr/>
        </p:nvSpPr>
        <p:spPr>
          <a:xfrm>
            <a:off x="6995160" y="2103120"/>
            <a:ext cx="685800" cy="685800"/>
          </a:xfrm>
          <a:prstGeom prst="ellipse">
            <a:avLst/>
          </a:prstGeom>
          <a:solidFill>
            <a:schemeClr val="accent1"/>
          </a:solidFill>
          <a:ln/>
        </p:spPr>
        <p:txBody>
          <a:bodyPr/>
          <a:lstStyle/>
          <a:p>
            <a:endParaRPr lang="ko-KR" altLang="en-US"/>
          </a:p>
        </p:txBody>
      </p:sp>
      <p:pic>
        <p:nvPicPr>
          <p:cNvPr id="8" name="debug icon 1" descr="debug icon 1"/>
          <p:cNvPicPr>
            <a:picLocks noChangeAspect="1"/>
          </p:cNvPicPr>
          <p:nvPr/>
        </p:nvPicPr>
        <p:blipFill>
          <a:blip r:embed="rId3"/>
          <a:stretch>
            <a:fillRect/>
          </a:stretch>
        </p:blipFill>
        <p:spPr>
          <a:xfrm>
            <a:off x="7166610" y="2274570"/>
            <a:ext cx="342900" cy="342900"/>
          </a:xfrm>
          <a:prstGeom prst="rect">
            <a:avLst/>
          </a:prstGeom>
        </p:spPr>
      </p:pic>
      <p:sp>
        <p:nvSpPr>
          <p:cNvPr id="9" name="Text 6"/>
          <p:cNvSpPr txBox="1"/>
          <p:nvPr/>
        </p:nvSpPr>
        <p:spPr>
          <a:xfrm>
            <a:off x="7909560" y="2148840"/>
            <a:ext cx="3413455" cy="411480"/>
          </a:xfrm>
          <a:prstGeom prst="rect">
            <a:avLst/>
          </a:prstGeom>
          <a:noFill/>
          <a:ln/>
        </p:spPr>
        <p:txBody>
          <a:bodyPr wrap="square" lIns="0" tIns="0" rIns="0" bIns="0" rtlCol="0" anchor="t"/>
          <a:lstStyle/>
          <a:p>
            <a:pPr marL="0" indent="0">
              <a:buNone/>
            </a:pPr>
            <a:r>
              <a:rPr lang="en-US" sz="1900" b="1" dirty="0">
                <a:solidFill>
                  <a:schemeClr val="tx2"/>
                </a:solidFill>
              </a:rPr>
              <a:t>디버깅 툴을 적극적으로</a:t>
            </a:r>
            <a:endParaRPr lang="en-US" sz="1900" dirty="0"/>
          </a:p>
        </p:txBody>
      </p:sp>
      <p:sp>
        <p:nvSpPr>
          <p:cNvPr id="10" name="Text 7"/>
          <p:cNvSpPr txBox="1"/>
          <p:nvPr/>
        </p:nvSpPr>
        <p:spPr>
          <a:xfrm>
            <a:off x="7909560" y="2651760"/>
            <a:ext cx="3413455" cy="914400"/>
          </a:xfrm>
          <a:prstGeom prst="rect">
            <a:avLst/>
          </a:prstGeom>
          <a:noFill/>
          <a:ln/>
        </p:spPr>
        <p:txBody>
          <a:bodyPr wrap="square" lIns="0" tIns="0" rIns="0" bIns="0" rtlCol="0" anchor="t"/>
          <a:lstStyle/>
          <a:p>
            <a:pPr marL="0" indent="0">
              <a:buNone/>
            </a:pPr>
            <a:r>
              <a:rPr lang="en-US" sz="1500" dirty="0">
                <a:solidFill>
                  <a:schemeClr val="tx1"/>
                </a:solidFill>
              </a:rPr>
              <a:t>눈으로 추측하지 말고 PIX · RenderDoc · VS 디버거로 직접 확인하기</a:t>
            </a:r>
            <a:endParaRPr lang="en-US" sz="1500" dirty="0"/>
          </a:p>
        </p:txBody>
      </p:sp>
      <p:sp>
        <p:nvSpPr>
          <p:cNvPr id="11" name="debug card 2"/>
          <p:cNvSpPr/>
          <p:nvPr/>
        </p:nvSpPr>
        <p:spPr>
          <a:xfrm>
            <a:off x="6675120" y="4160520"/>
            <a:ext cx="4967935" cy="2057400"/>
          </a:xfrm>
          <a:prstGeom prst="roundRect">
            <a:avLst>
              <a:gd name="adj" fmla="val 5333"/>
            </a:avLst>
          </a:prstGeom>
          <a:solidFill>
            <a:schemeClr val="bg2"/>
          </a:solidFill>
          <a:ln/>
        </p:spPr>
        <p:txBody>
          <a:bodyPr/>
          <a:lstStyle/>
          <a:p>
            <a:endParaRPr lang="ko-KR" altLang="en-US"/>
          </a:p>
        </p:txBody>
      </p:sp>
      <p:sp>
        <p:nvSpPr>
          <p:cNvPr id="12" name="debug icon 2 circle"/>
          <p:cNvSpPr/>
          <p:nvPr/>
        </p:nvSpPr>
        <p:spPr>
          <a:xfrm>
            <a:off x="6995160" y="4480560"/>
            <a:ext cx="685800" cy="685800"/>
          </a:xfrm>
          <a:prstGeom prst="ellipse">
            <a:avLst/>
          </a:prstGeom>
          <a:solidFill>
            <a:schemeClr val="accent1"/>
          </a:solidFill>
          <a:ln/>
        </p:spPr>
        <p:txBody>
          <a:bodyPr/>
          <a:lstStyle/>
          <a:p>
            <a:endParaRPr lang="ko-KR" altLang="en-US"/>
          </a:p>
        </p:txBody>
      </p:sp>
      <p:pic>
        <p:nvPicPr>
          <p:cNvPr id="13" name="debug icon 2" descr="debug icon 2"/>
          <p:cNvPicPr>
            <a:picLocks noChangeAspect="1"/>
          </p:cNvPicPr>
          <p:nvPr/>
        </p:nvPicPr>
        <p:blipFill>
          <a:blip r:embed="rId4"/>
          <a:stretch>
            <a:fillRect/>
          </a:stretch>
        </p:blipFill>
        <p:spPr>
          <a:xfrm>
            <a:off x="7166610" y="4652010"/>
            <a:ext cx="342900" cy="342900"/>
          </a:xfrm>
          <a:prstGeom prst="rect">
            <a:avLst/>
          </a:prstGeom>
        </p:spPr>
      </p:pic>
      <p:sp>
        <p:nvSpPr>
          <p:cNvPr id="14" name="Text 10"/>
          <p:cNvSpPr txBox="1"/>
          <p:nvPr/>
        </p:nvSpPr>
        <p:spPr>
          <a:xfrm>
            <a:off x="7909560" y="4526280"/>
            <a:ext cx="3413455" cy="411480"/>
          </a:xfrm>
          <a:prstGeom prst="rect">
            <a:avLst/>
          </a:prstGeom>
          <a:noFill/>
          <a:ln/>
        </p:spPr>
        <p:txBody>
          <a:bodyPr wrap="square" lIns="0" tIns="0" rIns="0" bIns="0" rtlCol="0" anchor="t"/>
          <a:lstStyle/>
          <a:p>
            <a:pPr marL="0" indent="0">
              <a:buNone/>
            </a:pPr>
            <a:r>
              <a:rPr lang="en-US" sz="1900" b="1" dirty="0">
                <a:solidFill>
                  <a:schemeClr val="tx2"/>
                </a:solidFill>
              </a:rPr>
              <a:t>큰 코드는 구조부터 파악</a:t>
            </a:r>
            <a:endParaRPr lang="en-US" sz="1900" dirty="0"/>
          </a:p>
        </p:txBody>
      </p:sp>
      <p:sp>
        <p:nvSpPr>
          <p:cNvPr id="15" name="Text 11"/>
          <p:cNvSpPr txBox="1"/>
          <p:nvPr/>
        </p:nvSpPr>
        <p:spPr>
          <a:xfrm>
            <a:off x="7909560" y="5029200"/>
            <a:ext cx="3413455" cy="914400"/>
          </a:xfrm>
          <a:prstGeom prst="rect">
            <a:avLst/>
          </a:prstGeom>
          <a:noFill/>
          <a:ln/>
        </p:spPr>
        <p:txBody>
          <a:bodyPr wrap="square" lIns="0" tIns="0" rIns="0" bIns="0" rtlCol="0" anchor="t"/>
          <a:lstStyle/>
          <a:p>
            <a:pPr marL="0" indent="0">
              <a:buNone/>
            </a:pPr>
            <a:r>
              <a:rPr lang="en-US" sz="1500" b="1" u="sng" dirty="0">
                <a:solidFill>
                  <a:schemeClr val="accent2"/>
                </a:solidFill>
                <a:hlinkClick r:id="rId5">
                  <a:extLst>
                    <a:ext uri="{A12FA001-AC4F-418D-AE19-62706E023703}">
                      <ahyp:hlinkClr xmlns:ahyp="http://schemas.microsoft.com/office/drawing/2018/hyperlinkcolor" val="tx"/>
                    </a:ext>
                  </a:extLst>
                </a:hlinkClick>
              </a:rPr>
              <a:t>GitDiagram</a:t>
            </a:r>
            <a:r>
              <a:rPr lang="en-US" sz="1500" dirty="0">
                <a:solidFill>
                  <a:schemeClr val="tx1"/>
                </a:solidFill>
              </a:rPr>
              <a:t>으로 저장소 구조를 한눈에 보고 시작하기</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03  코딩 팁  ·  협업</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협업 코드의 두 가지 약속</a:t>
            </a:r>
            <a:endParaRPr lang="en-US" sz="3200" dirty="0"/>
          </a:p>
        </p:txBody>
      </p:sp>
      <p:sp>
        <p:nvSpPr>
          <p:cNvPr id="4" name="rule card 01"/>
          <p:cNvSpPr/>
          <p:nvPr/>
        </p:nvSpPr>
        <p:spPr>
          <a:xfrm>
            <a:off x="548640" y="1783080"/>
            <a:ext cx="5410048" cy="4297680"/>
          </a:xfrm>
          <a:prstGeom prst="roundRect">
            <a:avLst>
              <a:gd name="adj" fmla="val 2553"/>
            </a:avLst>
          </a:prstGeom>
          <a:solidFill>
            <a:schemeClr val="bg2"/>
          </a:solidFill>
          <a:ln/>
        </p:spPr>
        <p:txBody>
          <a:bodyPr/>
          <a:lstStyle/>
          <a:p>
            <a:endParaRPr lang="ko-KR" altLang="en-US"/>
          </a:p>
        </p:txBody>
      </p:sp>
      <p:sp>
        <p:nvSpPr>
          <p:cNvPr id="5" name="rule icon 01 circle"/>
          <p:cNvSpPr/>
          <p:nvPr/>
        </p:nvSpPr>
        <p:spPr>
          <a:xfrm>
            <a:off x="1005840" y="2240280"/>
            <a:ext cx="914400" cy="914400"/>
          </a:xfrm>
          <a:prstGeom prst="ellipse">
            <a:avLst/>
          </a:prstGeom>
          <a:solidFill>
            <a:schemeClr val="tx2"/>
          </a:solidFill>
          <a:ln/>
        </p:spPr>
        <p:txBody>
          <a:bodyPr/>
          <a:lstStyle/>
          <a:p>
            <a:endParaRPr lang="ko-KR" altLang="en-US"/>
          </a:p>
        </p:txBody>
      </p:sp>
      <p:pic>
        <p:nvPicPr>
          <p:cNvPr id="6" name="rule icon 01" descr="rule icon 01"/>
          <p:cNvPicPr>
            <a:picLocks noChangeAspect="1"/>
          </p:cNvPicPr>
          <p:nvPr/>
        </p:nvPicPr>
        <p:blipFill>
          <a:blip r:embed="rId3"/>
          <a:stretch>
            <a:fillRect/>
          </a:stretch>
        </p:blipFill>
        <p:spPr>
          <a:xfrm>
            <a:off x="1234440" y="2468880"/>
            <a:ext cx="457200" cy="457200"/>
          </a:xfrm>
          <a:prstGeom prst="rect">
            <a:avLst/>
          </a:prstGeom>
        </p:spPr>
      </p:pic>
      <p:sp>
        <p:nvSpPr>
          <p:cNvPr id="7" name="Text 4"/>
          <p:cNvSpPr txBox="1"/>
          <p:nvPr/>
        </p:nvSpPr>
        <p:spPr>
          <a:xfrm>
            <a:off x="4495648" y="2194560"/>
            <a:ext cx="1005840" cy="822960"/>
          </a:xfrm>
          <a:prstGeom prst="rect">
            <a:avLst/>
          </a:prstGeom>
          <a:noFill/>
          <a:ln/>
        </p:spPr>
        <p:txBody>
          <a:bodyPr wrap="square" lIns="0" tIns="0" rIns="0" bIns="0" rtlCol="0" anchor="t"/>
          <a:lstStyle/>
          <a:p>
            <a:pPr marL="0" indent="0" algn="r">
              <a:buNone/>
            </a:pPr>
            <a:r>
              <a:rPr lang="en-US" sz="4400" b="1" dirty="0">
                <a:solidFill>
                  <a:schemeClr val="accent3"/>
                </a:solidFill>
              </a:rPr>
              <a:t>01</a:t>
            </a:r>
            <a:endParaRPr lang="en-US" sz="4400" dirty="0"/>
          </a:p>
        </p:txBody>
      </p:sp>
      <p:sp>
        <p:nvSpPr>
          <p:cNvPr id="8" name="Text 5"/>
          <p:cNvSpPr txBox="1"/>
          <p:nvPr/>
        </p:nvSpPr>
        <p:spPr>
          <a:xfrm>
            <a:off x="1005840" y="3520440"/>
            <a:ext cx="4495648" cy="1371600"/>
          </a:xfrm>
          <a:prstGeom prst="rect">
            <a:avLst/>
          </a:prstGeom>
          <a:noFill/>
          <a:ln/>
        </p:spPr>
        <p:txBody>
          <a:bodyPr wrap="square" lIns="0" tIns="0" rIns="0" bIns="0" rtlCol="0" anchor="t"/>
          <a:lstStyle/>
          <a:p>
            <a:pPr marL="0" indent="0">
              <a:lnSpc>
                <a:spcPct val="110000"/>
              </a:lnSpc>
              <a:buNone/>
            </a:pPr>
            <a:r>
              <a:rPr lang="en-US" sz="3000" b="1" dirty="0">
                <a:solidFill>
                  <a:schemeClr val="tx2"/>
                </a:solidFill>
              </a:rPr>
              <a:t>이미 있는 기능을</a:t>
            </a:r>
            <a:endParaRPr lang="en-US" sz="3000" dirty="0"/>
          </a:p>
          <a:p>
            <a:pPr marL="0" indent="0">
              <a:lnSpc>
                <a:spcPct val="110000"/>
              </a:lnSpc>
              <a:buNone/>
            </a:pPr>
            <a:r>
              <a:rPr lang="en-US" sz="3000" b="1" dirty="0">
                <a:solidFill>
                  <a:schemeClr val="tx2"/>
                </a:solidFill>
              </a:rPr>
              <a:t>또 만들지 마라</a:t>
            </a:r>
            <a:endParaRPr lang="en-US" sz="3000" dirty="0"/>
          </a:p>
        </p:txBody>
      </p:sp>
      <p:sp>
        <p:nvSpPr>
          <p:cNvPr id="9" name="Text 6"/>
          <p:cNvSpPr txBox="1"/>
          <p:nvPr/>
        </p:nvSpPr>
        <p:spPr>
          <a:xfrm>
            <a:off x="1005840" y="5074920"/>
            <a:ext cx="4495648" cy="548640"/>
          </a:xfrm>
          <a:prstGeom prst="rect">
            <a:avLst/>
          </a:prstGeom>
          <a:noFill/>
          <a:ln/>
        </p:spPr>
        <p:txBody>
          <a:bodyPr wrap="square" lIns="0" tIns="0" rIns="0" bIns="0" rtlCol="0" anchor="t"/>
          <a:lstStyle/>
          <a:p>
            <a:pPr marL="0" indent="0">
              <a:buNone/>
            </a:pPr>
            <a:r>
              <a:rPr lang="en-US" sz="2200" b="1" dirty="0">
                <a:solidFill>
                  <a:schemeClr val="accent1"/>
                </a:solidFill>
              </a:rPr>
              <a:t>→ 먼저 찾아보기</a:t>
            </a:r>
            <a:endParaRPr lang="en-US" sz="2200" dirty="0"/>
          </a:p>
        </p:txBody>
      </p:sp>
      <p:sp>
        <p:nvSpPr>
          <p:cNvPr id="10" name="rule card 02"/>
          <p:cNvSpPr/>
          <p:nvPr/>
        </p:nvSpPr>
        <p:spPr>
          <a:xfrm>
            <a:off x="6233008" y="1783080"/>
            <a:ext cx="5410048" cy="4297680"/>
          </a:xfrm>
          <a:prstGeom prst="roundRect">
            <a:avLst>
              <a:gd name="adj" fmla="val 2553"/>
            </a:avLst>
          </a:prstGeom>
          <a:solidFill>
            <a:schemeClr val="bg2"/>
          </a:solidFill>
          <a:ln/>
        </p:spPr>
        <p:txBody>
          <a:bodyPr/>
          <a:lstStyle/>
          <a:p>
            <a:endParaRPr lang="ko-KR" altLang="en-US"/>
          </a:p>
        </p:txBody>
      </p:sp>
      <p:sp>
        <p:nvSpPr>
          <p:cNvPr id="11" name="rule icon 02 circle"/>
          <p:cNvSpPr/>
          <p:nvPr/>
        </p:nvSpPr>
        <p:spPr>
          <a:xfrm>
            <a:off x="6690208" y="2240280"/>
            <a:ext cx="914400" cy="914400"/>
          </a:xfrm>
          <a:prstGeom prst="ellipse">
            <a:avLst/>
          </a:prstGeom>
          <a:solidFill>
            <a:schemeClr val="tx2"/>
          </a:solidFill>
          <a:ln/>
        </p:spPr>
        <p:txBody>
          <a:bodyPr/>
          <a:lstStyle/>
          <a:p>
            <a:endParaRPr lang="ko-KR" altLang="en-US"/>
          </a:p>
        </p:txBody>
      </p:sp>
      <p:pic>
        <p:nvPicPr>
          <p:cNvPr id="12" name="rule icon 02" descr="rule icon 02"/>
          <p:cNvPicPr>
            <a:picLocks noChangeAspect="1"/>
          </p:cNvPicPr>
          <p:nvPr/>
        </p:nvPicPr>
        <p:blipFill>
          <a:blip r:embed="rId4"/>
          <a:stretch>
            <a:fillRect/>
          </a:stretch>
        </p:blipFill>
        <p:spPr>
          <a:xfrm>
            <a:off x="6918808" y="2468880"/>
            <a:ext cx="457200" cy="457200"/>
          </a:xfrm>
          <a:prstGeom prst="rect">
            <a:avLst/>
          </a:prstGeom>
        </p:spPr>
      </p:pic>
      <p:sp>
        <p:nvSpPr>
          <p:cNvPr id="13" name="Text 9"/>
          <p:cNvSpPr txBox="1"/>
          <p:nvPr/>
        </p:nvSpPr>
        <p:spPr>
          <a:xfrm>
            <a:off x="10180015" y="2194560"/>
            <a:ext cx="1005840" cy="822960"/>
          </a:xfrm>
          <a:prstGeom prst="rect">
            <a:avLst/>
          </a:prstGeom>
          <a:noFill/>
          <a:ln/>
        </p:spPr>
        <p:txBody>
          <a:bodyPr wrap="square" lIns="0" tIns="0" rIns="0" bIns="0" rtlCol="0" anchor="t"/>
          <a:lstStyle/>
          <a:p>
            <a:pPr marL="0" indent="0" algn="r">
              <a:buNone/>
            </a:pPr>
            <a:r>
              <a:rPr lang="en-US" sz="4400" b="1" dirty="0">
                <a:solidFill>
                  <a:schemeClr val="accent3"/>
                </a:solidFill>
              </a:rPr>
              <a:t>02</a:t>
            </a:r>
            <a:endParaRPr lang="en-US" sz="4400" dirty="0"/>
          </a:p>
        </p:txBody>
      </p:sp>
      <p:sp>
        <p:nvSpPr>
          <p:cNvPr id="14" name="Text 10"/>
          <p:cNvSpPr txBox="1"/>
          <p:nvPr/>
        </p:nvSpPr>
        <p:spPr>
          <a:xfrm>
            <a:off x="6690208" y="3520440"/>
            <a:ext cx="4495648" cy="1371600"/>
          </a:xfrm>
          <a:prstGeom prst="rect">
            <a:avLst/>
          </a:prstGeom>
          <a:noFill/>
          <a:ln/>
        </p:spPr>
        <p:txBody>
          <a:bodyPr wrap="square" lIns="0" tIns="0" rIns="0" bIns="0" rtlCol="0" anchor="t"/>
          <a:lstStyle/>
          <a:p>
            <a:pPr marL="0" indent="0">
              <a:lnSpc>
                <a:spcPct val="110000"/>
              </a:lnSpc>
              <a:buNone/>
            </a:pPr>
            <a:r>
              <a:rPr lang="en-US" sz="3000" b="1" dirty="0">
                <a:solidFill>
                  <a:schemeClr val="tx2"/>
                </a:solidFill>
              </a:rPr>
              <a:t>남의 코드는</a:t>
            </a:r>
            <a:endParaRPr lang="en-US" sz="3000" dirty="0"/>
          </a:p>
          <a:p>
            <a:pPr marL="0" indent="0">
              <a:lnSpc>
                <a:spcPct val="110000"/>
              </a:lnSpc>
              <a:buNone/>
            </a:pPr>
            <a:r>
              <a:rPr lang="en-US" sz="3000" b="1" dirty="0">
                <a:solidFill>
                  <a:schemeClr val="tx2"/>
                </a:solidFill>
              </a:rPr>
              <a:t>지우지 마라</a:t>
            </a:r>
            <a:endParaRPr lang="en-US" sz="3000" dirty="0"/>
          </a:p>
        </p:txBody>
      </p:sp>
      <p:sp>
        <p:nvSpPr>
          <p:cNvPr id="15" name="Text 11"/>
          <p:cNvSpPr txBox="1"/>
          <p:nvPr/>
        </p:nvSpPr>
        <p:spPr>
          <a:xfrm>
            <a:off x="6690208" y="5074920"/>
            <a:ext cx="4495648" cy="548640"/>
          </a:xfrm>
          <a:prstGeom prst="rect">
            <a:avLst/>
          </a:prstGeom>
          <a:noFill/>
          <a:ln/>
        </p:spPr>
        <p:txBody>
          <a:bodyPr wrap="square" lIns="0" tIns="0" rIns="0" bIns="0" rtlCol="0" anchor="t"/>
          <a:lstStyle/>
          <a:p>
            <a:pPr marL="0" indent="0">
              <a:buNone/>
            </a:pPr>
            <a:r>
              <a:rPr lang="en-US" sz="2200" b="1" dirty="0">
                <a:solidFill>
                  <a:schemeClr val="accent1"/>
                </a:solidFill>
              </a:rPr>
              <a:t>→ 주석으로 물어보기</a:t>
            </a:r>
            <a:endParaRPr lang="en-US" sz="2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3657600" cy="1188720"/>
          </a:xfrm>
          <a:prstGeom prst="rect">
            <a:avLst/>
          </a:prstGeom>
          <a:noFill/>
          <a:ln/>
        </p:spPr>
        <p:txBody>
          <a:bodyPr wrap="square" lIns="0" tIns="0" rIns="0" bIns="0" rtlCol="0"/>
          <a:lstStyle/>
          <a:p>
            <a:pPr marL="0" indent="0">
              <a:buNone/>
            </a:pPr>
            <a:r>
              <a:rPr lang="en-US" sz="8000" b="1" dirty="0">
                <a:solidFill>
                  <a:schemeClr val="accent1"/>
                </a:solidFill>
              </a:rPr>
              <a:t>04</a:t>
            </a:r>
            <a:endParaRPr lang="en-US" sz="8000" dirty="0"/>
          </a:p>
        </p:txBody>
      </p:sp>
      <p:sp>
        <p:nvSpPr>
          <p:cNvPr id="3" name="Text 0"/>
          <p:cNvSpPr>
            <a:spLocks noGrp="1"/>
          </p:cNvSpPr>
          <p:nvPr>
            <p:ph type="title" idx="101" hasCustomPrompt="1"/>
          </p:nvPr>
        </p:nvSpPr>
        <p:spPr>
          <a:xfrm>
            <a:off x="548640" y="3063240"/>
            <a:ext cx="10058400" cy="914400"/>
          </a:xfrm>
          <a:prstGeom prst="rect">
            <a:avLst/>
          </a:prstGeom>
          <a:noFill/>
          <a:ln/>
        </p:spPr>
        <p:txBody>
          <a:bodyPr wrap="square" lIns="0" tIns="0" rIns="0" bIns="0" rtlCol="0"/>
          <a:lstStyle/>
          <a:p>
            <a:pPr marL="0" indent="0" algn="l">
              <a:buNone/>
            </a:pPr>
            <a:r>
              <a:rPr lang="en-US" sz="4400" b="1" dirty="0">
                <a:solidFill>
                  <a:schemeClr val="bg1"/>
                </a:solidFill>
              </a:rPr>
              <a:t>AI 활용</a:t>
            </a:r>
            <a:endParaRPr lang="en-US" sz="4400" dirty="0"/>
          </a:p>
        </p:txBody>
      </p:sp>
      <p:sp>
        <p:nvSpPr>
          <p:cNvPr id="4" name="Text 0"/>
          <p:cNvSpPr>
            <a:spLocks noGrp="1"/>
          </p:cNvSpPr>
          <p:nvPr>
            <p:ph type="body" idx="102" hasCustomPrompt="1"/>
          </p:nvPr>
        </p:nvSpPr>
        <p:spPr>
          <a:xfrm>
            <a:off x="548640" y="4069080"/>
            <a:ext cx="10058400" cy="548640"/>
          </a:xfrm>
          <a:prstGeom prst="rect">
            <a:avLst/>
          </a:prstGeom>
          <a:noFill/>
          <a:ln/>
        </p:spPr>
        <p:txBody>
          <a:bodyPr wrap="square" lIns="0" tIns="0" rIns="0" bIns="0" rtlCol="0"/>
          <a:lstStyle/>
          <a:p>
            <a:pPr marL="0" indent="0">
              <a:buNone/>
            </a:pPr>
            <a:r>
              <a:rPr lang="en-US" sz="2000" dirty="0">
                <a:solidFill>
                  <a:schemeClr val="accent3"/>
                </a:solidFill>
              </a:rPr>
              <a:t>AI는 잘 물어보는 만큼 똑똑해진다</a:t>
            </a:r>
            <a:endParaRPr lang="en-US" sz="2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04  AI 활용</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요구사항은 명확하게, 개발자 용어로</a:t>
            </a:r>
            <a:endParaRPr lang="en-US" sz="3200" dirty="0"/>
          </a:p>
        </p:txBody>
      </p:sp>
      <p:sp>
        <p:nvSpPr>
          <p:cNvPr id="4" name="bad card"/>
          <p:cNvSpPr/>
          <p:nvPr/>
        </p:nvSpPr>
        <p:spPr>
          <a:xfrm>
            <a:off x="548640" y="1783080"/>
            <a:ext cx="5410048" cy="4297680"/>
          </a:xfrm>
          <a:prstGeom prst="roundRect">
            <a:avLst>
              <a:gd name="adj" fmla="val 2553"/>
            </a:avLst>
          </a:prstGeom>
          <a:solidFill>
            <a:schemeClr val="accent5">
              <a:alpha val="10000"/>
            </a:schemeClr>
          </a:solidFill>
          <a:ln/>
        </p:spPr>
        <p:txBody>
          <a:bodyPr/>
          <a:lstStyle/>
          <a:p>
            <a:endParaRPr lang="ko-KR" altLang="en-US"/>
          </a:p>
        </p:txBody>
      </p:sp>
      <p:sp>
        <p:nvSpPr>
          <p:cNvPr id="5" name="bad icon circle"/>
          <p:cNvSpPr/>
          <p:nvPr/>
        </p:nvSpPr>
        <p:spPr>
          <a:xfrm>
            <a:off x="960120" y="2194560"/>
            <a:ext cx="640080" cy="640080"/>
          </a:xfrm>
          <a:prstGeom prst="ellipse">
            <a:avLst/>
          </a:prstGeom>
          <a:solidFill>
            <a:schemeClr val="accent5"/>
          </a:solidFill>
          <a:ln/>
        </p:spPr>
        <p:txBody>
          <a:bodyPr/>
          <a:lstStyle/>
          <a:p>
            <a:endParaRPr lang="ko-KR" altLang="en-US"/>
          </a:p>
        </p:txBody>
      </p:sp>
      <p:pic>
        <p:nvPicPr>
          <p:cNvPr id="6" name="bad icon" descr="bad icon"/>
          <p:cNvPicPr>
            <a:picLocks noChangeAspect="1"/>
          </p:cNvPicPr>
          <p:nvPr/>
        </p:nvPicPr>
        <p:blipFill>
          <a:blip r:embed="rId3"/>
          <a:stretch>
            <a:fillRect/>
          </a:stretch>
        </p:blipFill>
        <p:spPr>
          <a:xfrm>
            <a:off x="1120140" y="2354580"/>
            <a:ext cx="320040" cy="320040"/>
          </a:xfrm>
          <a:prstGeom prst="rect">
            <a:avLst/>
          </a:prstGeom>
        </p:spPr>
      </p:pic>
      <p:sp>
        <p:nvSpPr>
          <p:cNvPr id="7" name="Text 4"/>
          <p:cNvSpPr txBox="1"/>
          <p:nvPr/>
        </p:nvSpPr>
        <p:spPr>
          <a:xfrm>
            <a:off x="1783080" y="2286000"/>
            <a:ext cx="3657600" cy="457200"/>
          </a:xfrm>
          <a:prstGeom prst="rect">
            <a:avLst/>
          </a:prstGeom>
          <a:noFill/>
          <a:ln/>
        </p:spPr>
        <p:txBody>
          <a:bodyPr wrap="square" lIns="0" tIns="0" rIns="0" bIns="0" rtlCol="0" anchor="t"/>
          <a:lstStyle/>
          <a:p>
            <a:pPr marL="0" indent="0">
              <a:buNone/>
            </a:pPr>
            <a:r>
              <a:rPr lang="en-US" sz="2000" b="1" dirty="0">
                <a:solidFill>
                  <a:schemeClr val="accent5"/>
                </a:solidFill>
              </a:rPr>
              <a:t>이렇게 말하면</a:t>
            </a:r>
            <a:endParaRPr lang="en-US" sz="2000" dirty="0"/>
          </a:p>
        </p:txBody>
      </p:sp>
      <p:sp>
        <p:nvSpPr>
          <p:cNvPr id="8" name="bad bubble 1"/>
          <p:cNvSpPr/>
          <p:nvPr/>
        </p:nvSpPr>
        <p:spPr>
          <a:xfrm>
            <a:off x="960120" y="3246120"/>
            <a:ext cx="4587088" cy="868680"/>
          </a:xfrm>
          <a:prstGeom prst="roundRect">
            <a:avLst>
              <a:gd name="adj" fmla="val 12632"/>
            </a:avLst>
          </a:prstGeom>
          <a:solidFill>
            <a:schemeClr val="bg1"/>
          </a:solidFill>
          <a:ln/>
        </p:spPr>
        <p:txBody>
          <a:bodyPr/>
          <a:lstStyle/>
          <a:p>
            <a:endParaRPr lang="ko-KR" altLang="en-US"/>
          </a:p>
        </p:txBody>
      </p:sp>
      <p:sp>
        <p:nvSpPr>
          <p:cNvPr id="9" name="Text 6"/>
          <p:cNvSpPr txBox="1"/>
          <p:nvPr/>
        </p:nvSpPr>
        <p:spPr>
          <a:xfrm>
            <a:off x="1280160" y="3246120"/>
            <a:ext cx="3947008" cy="868680"/>
          </a:xfrm>
          <a:prstGeom prst="rect">
            <a:avLst/>
          </a:prstGeom>
          <a:noFill/>
          <a:ln/>
        </p:spPr>
        <p:txBody>
          <a:bodyPr wrap="square" lIns="0" tIns="0" rIns="0" bIns="0" rtlCol="0" anchor="ctr"/>
          <a:lstStyle/>
          <a:p>
            <a:pPr marL="0" indent="0">
              <a:buNone/>
            </a:pPr>
            <a:r>
              <a:rPr lang="en-US" sz="2000" dirty="0">
                <a:solidFill>
                  <a:schemeClr val="tx1"/>
                </a:solidFill>
              </a:rPr>
              <a:t>"이거 만들어줘"</a:t>
            </a:r>
            <a:endParaRPr lang="en-US" sz="2000" dirty="0"/>
          </a:p>
        </p:txBody>
      </p:sp>
      <p:sp>
        <p:nvSpPr>
          <p:cNvPr id="10" name="bad bubble 2"/>
          <p:cNvSpPr/>
          <p:nvPr/>
        </p:nvSpPr>
        <p:spPr>
          <a:xfrm>
            <a:off x="960120" y="4434840"/>
            <a:ext cx="4587088" cy="868680"/>
          </a:xfrm>
          <a:prstGeom prst="roundRect">
            <a:avLst>
              <a:gd name="adj" fmla="val 12632"/>
            </a:avLst>
          </a:prstGeom>
          <a:solidFill>
            <a:schemeClr val="bg1"/>
          </a:solidFill>
          <a:ln/>
        </p:spPr>
        <p:txBody>
          <a:bodyPr/>
          <a:lstStyle/>
          <a:p>
            <a:endParaRPr lang="ko-KR" altLang="en-US"/>
          </a:p>
        </p:txBody>
      </p:sp>
      <p:sp>
        <p:nvSpPr>
          <p:cNvPr id="11" name="Text 8"/>
          <p:cNvSpPr txBox="1"/>
          <p:nvPr/>
        </p:nvSpPr>
        <p:spPr>
          <a:xfrm>
            <a:off x="1280160" y="4434840"/>
            <a:ext cx="3947008" cy="868680"/>
          </a:xfrm>
          <a:prstGeom prst="rect">
            <a:avLst/>
          </a:prstGeom>
          <a:noFill/>
          <a:ln/>
        </p:spPr>
        <p:txBody>
          <a:bodyPr wrap="square" lIns="0" tIns="0" rIns="0" bIns="0" rtlCol="0" anchor="ctr"/>
          <a:lstStyle/>
          <a:p>
            <a:pPr marL="0" indent="0">
              <a:buNone/>
            </a:pPr>
            <a:r>
              <a:rPr lang="en-US" sz="2000" dirty="0">
                <a:solidFill>
                  <a:schemeClr val="tx1"/>
                </a:solidFill>
              </a:rPr>
              <a:t>"이거 안 돼"</a:t>
            </a:r>
            <a:endParaRPr lang="en-US" sz="2000" dirty="0"/>
          </a:p>
        </p:txBody>
      </p:sp>
      <p:sp>
        <p:nvSpPr>
          <p:cNvPr id="12" name="good card"/>
          <p:cNvSpPr/>
          <p:nvPr/>
        </p:nvSpPr>
        <p:spPr>
          <a:xfrm>
            <a:off x="6233008" y="1783080"/>
            <a:ext cx="5410048" cy="4297680"/>
          </a:xfrm>
          <a:prstGeom prst="roundRect">
            <a:avLst>
              <a:gd name="adj" fmla="val 2553"/>
            </a:avLst>
          </a:prstGeom>
          <a:solidFill>
            <a:schemeClr val="accent4">
              <a:alpha val="12000"/>
            </a:schemeClr>
          </a:solidFill>
          <a:ln/>
        </p:spPr>
        <p:txBody>
          <a:bodyPr/>
          <a:lstStyle/>
          <a:p>
            <a:endParaRPr lang="ko-KR" altLang="en-US"/>
          </a:p>
        </p:txBody>
      </p:sp>
      <p:sp>
        <p:nvSpPr>
          <p:cNvPr id="13" name="good icon circle"/>
          <p:cNvSpPr/>
          <p:nvPr/>
        </p:nvSpPr>
        <p:spPr>
          <a:xfrm>
            <a:off x="6644488" y="2194560"/>
            <a:ext cx="640080" cy="640080"/>
          </a:xfrm>
          <a:prstGeom prst="ellipse">
            <a:avLst/>
          </a:prstGeom>
          <a:solidFill>
            <a:schemeClr val="accent4"/>
          </a:solidFill>
          <a:ln/>
        </p:spPr>
        <p:txBody>
          <a:bodyPr/>
          <a:lstStyle/>
          <a:p>
            <a:endParaRPr lang="ko-KR" altLang="en-US"/>
          </a:p>
        </p:txBody>
      </p:sp>
      <p:pic>
        <p:nvPicPr>
          <p:cNvPr id="14" name="good icon" descr="good icon"/>
          <p:cNvPicPr>
            <a:picLocks noChangeAspect="1"/>
          </p:cNvPicPr>
          <p:nvPr/>
        </p:nvPicPr>
        <p:blipFill>
          <a:blip r:embed="rId4"/>
          <a:stretch>
            <a:fillRect/>
          </a:stretch>
        </p:blipFill>
        <p:spPr>
          <a:xfrm>
            <a:off x="6804508" y="2354580"/>
            <a:ext cx="320040" cy="320040"/>
          </a:xfrm>
          <a:prstGeom prst="rect">
            <a:avLst/>
          </a:prstGeom>
        </p:spPr>
      </p:pic>
      <p:sp>
        <p:nvSpPr>
          <p:cNvPr id="15" name="Text 11"/>
          <p:cNvSpPr txBox="1"/>
          <p:nvPr/>
        </p:nvSpPr>
        <p:spPr>
          <a:xfrm>
            <a:off x="7467448" y="2286000"/>
            <a:ext cx="3657600" cy="457200"/>
          </a:xfrm>
          <a:prstGeom prst="rect">
            <a:avLst/>
          </a:prstGeom>
          <a:noFill/>
          <a:ln/>
        </p:spPr>
        <p:txBody>
          <a:bodyPr wrap="square" lIns="0" tIns="0" rIns="0" bIns="0" rtlCol="0" anchor="t"/>
          <a:lstStyle/>
          <a:p>
            <a:pPr marL="0" indent="0">
              <a:buNone/>
            </a:pPr>
            <a:r>
              <a:rPr lang="en-US" sz="2000" b="1" dirty="0">
                <a:solidFill>
                  <a:schemeClr val="accent4"/>
                </a:solidFill>
              </a:rPr>
              <a:t>이렇게 말하자</a:t>
            </a:r>
            <a:endParaRPr lang="en-US" sz="2000" dirty="0"/>
          </a:p>
        </p:txBody>
      </p:sp>
      <p:sp>
        <p:nvSpPr>
          <p:cNvPr id="16" name="good bubble"/>
          <p:cNvSpPr/>
          <p:nvPr/>
        </p:nvSpPr>
        <p:spPr>
          <a:xfrm>
            <a:off x="6644488" y="3246120"/>
            <a:ext cx="4587088" cy="2057400"/>
          </a:xfrm>
          <a:prstGeom prst="roundRect">
            <a:avLst>
              <a:gd name="adj" fmla="val 5333"/>
            </a:avLst>
          </a:prstGeom>
          <a:solidFill>
            <a:schemeClr val="bg1"/>
          </a:solidFill>
          <a:ln/>
        </p:spPr>
        <p:txBody>
          <a:bodyPr/>
          <a:lstStyle/>
          <a:p>
            <a:endParaRPr lang="ko-KR" altLang="en-US"/>
          </a:p>
        </p:txBody>
      </p:sp>
      <p:sp>
        <p:nvSpPr>
          <p:cNvPr id="17" name="Text 13"/>
          <p:cNvSpPr txBox="1"/>
          <p:nvPr/>
        </p:nvSpPr>
        <p:spPr>
          <a:xfrm>
            <a:off x="6873088" y="3246120"/>
            <a:ext cx="4129888" cy="2057400"/>
          </a:xfrm>
          <a:prstGeom prst="rect">
            <a:avLst/>
          </a:prstGeom>
          <a:noFill/>
          <a:ln/>
        </p:spPr>
        <p:txBody>
          <a:bodyPr wrap="square" lIns="0" tIns="0" rIns="0" bIns="0" rtlCol="0" anchor="ctr"/>
          <a:lstStyle/>
          <a:p>
            <a:pPr marL="0" indent="0">
              <a:lnSpc>
                <a:spcPct val="120000"/>
              </a:lnSpc>
              <a:buNone/>
            </a:pPr>
            <a:r>
              <a:rPr lang="en-US" sz="1800" dirty="0">
                <a:solidFill>
                  <a:schemeClr val="tx1"/>
                </a:solidFill>
              </a:rPr>
              <a:t>"</a:t>
            </a:r>
            <a:r>
              <a:rPr lang="en-US" sz="1800" b="1" dirty="0">
                <a:solidFill>
                  <a:schemeClr val="accent2"/>
                </a:solidFill>
              </a:rPr>
              <a:t>OO 기능</a:t>
            </a:r>
            <a:r>
              <a:rPr lang="en-US" sz="1800" dirty="0">
                <a:solidFill>
                  <a:schemeClr val="tx1"/>
                </a:solidFill>
              </a:rPr>
              <a:t>에서 </a:t>
            </a:r>
            <a:r>
              <a:rPr lang="en-US" sz="1800" b="1" dirty="0">
                <a:solidFill>
                  <a:schemeClr val="accent1"/>
                </a:solidFill>
              </a:rPr>
              <a:t>△△ 증상</a:t>
            </a:r>
            <a:r>
              <a:rPr lang="en-US" sz="1800" dirty="0">
                <a:solidFill>
                  <a:schemeClr val="tx1"/>
                </a:solidFill>
              </a:rPr>
              <a:t>이 나는데,</a:t>
            </a:r>
            <a:endParaRPr lang="en-US" sz="1800" dirty="0"/>
          </a:p>
          <a:p>
            <a:pPr marL="0" indent="0">
              <a:lnSpc>
                <a:spcPct val="120000"/>
              </a:lnSpc>
              <a:buNone/>
            </a:pPr>
            <a:r>
              <a:rPr lang="en-US" sz="1800" b="1" dirty="0">
                <a:solidFill>
                  <a:schemeClr val="accent4"/>
                </a:solidFill>
              </a:rPr>
              <a:t>□□ 부분</a:t>
            </a:r>
            <a:r>
              <a:rPr lang="en-US" sz="1800" dirty="0">
                <a:solidFill>
                  <a:schemeClr val="tx1"/>
                </a:solidFill>
              </a:rPr>
              <a:t>이 원인인 것 같아"</a:t>
            </a:r>
            <a:endParaRPr lang="en-US" sz="1800" dirty="0"/>
          </a:p>
        </p:txBody>
      </p:sp>
      <p:sp>
        <p:nvSpPr>
          <p:cNvPr id="18" name="Text 14"/>
          <p:cNvSpPr txBox="1"/>
          <p:nvPr/>
        </p:nvSpPr>
        <p:spPr>
          <a:xfrm>
            <a:off x="6644488" y="5440680"/>
            <a:ext cx="4587088" cy="411480"/>
          </a:xfrm>
          <a:prstGeom prst="rect">
            <a:avLst/>
          </a:prstGeom>
          <a:noFill/>
          <a:ln/>
        </p:spPr>
        <p:txBody>
          <a:bodyPr wrap="square" lIns="0" tIns="0" rIns="0" bIns="0" rtlCol="0" anchor="t"/>
          <a:lstStyle/>
          <a:p>
            <a:pPr marL="0" indent="0">
              <a:buNone/>
            </a:pPr>
            <a:r>
              <a:rPr lang="en-US" sz="1600" b="1" dirty="0">
                <a:solidFill>
                  <a:schemeClr val="accent2"/>
                </a:solidFill>
              </a:rPr>
              <a:t>기능</a:t>
            </a:r>
            <a:r>
              <a:rPr lang="en-US" sz="1600" dirty="0">
                <a:solidFill>
                  <a:schemeClr val="accent6"/>
                </a:solidFill>
              </a:rPr>
              <a:t>  +  </a:t>
            </a:r>
            <a:r>
              <a:rPr lang="en-US" sz="1600" b="1" dirty="0">
                <a:solidFill>
                  <a:schemeClr val="accent1"/>
                </a:solidFill>
              </a:rPr>
              <a:t>증상</a:t>
            </a:r>
            <a:r>
              <a:rPr lang="en-US" sz="1600" dirty="0">
                <a:solidFill>
                  <a:schemeClr val="accent6"/>
                </a:solidFill>
              </a:rPr>
              <a:t>  +  </a:t>
            </a:r>
            <a:r>
              <a:rPr lang="en-US" sz="1600" b="1" dirty="0">
                <a:solidFill>
                  <a:schemeClr val="accent4"/>
                </a:solidFill>
              </a:rPr>
              <a:t>추정 원인</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04  AI 활용</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AI를 팀원처럼 쓰는 세 가지 습관</a:t>
            </a:r>
            <a:endParaRPr lang="en-US" sz="3200" dirty="0"/>
          </a:p>
        </p:txBody>
      </p:sp>
      <p:sp>
        <p:nvSpPr>
          <p:cNvPr id="4" name="ai tip card 1"/>
          <p:cNvSpPr/>
          <p:nvPr/>
        </p:nvSpPr>
        <p:spPr>
          <a:xfrm>
            <a:off x="548640" y="1783080"/>
            <a:ext cx="3515258" cy="4297680"/>
          </a:xfrm>
          <a:prstGeom prst="roundRect">
            <a:avLst>
              <a:gd name="adj" fmla="val 3121"/>
            </a:avLst>
          </a:prstGeom>
          <a:solidFill>
            <a:schemeClr val="bg2"/>
          </a:solidFill>
          <a:ln/>
        </p:spPr>
        <p:txBody>
          <a:bodyPr/>
          <a:lstStyle/>
          <a:p>
            <a:endParaRPr lang="ko-KR" altLang="en-US"/>
          </a:p>
        </p:txBody>
      </p:sp>
      <p:sp>
        <p:nvSpPr>
          <p:cNvPr id="5" name="ai tip icon 1 circle"/>
          <p:cNvSpPr/>
          <p:nvPr/>
        </p:nvSpPr>
        <p:spPr>
          <a:xfrm>
            <a:off x="960120" y="2240280"/>
            <a:ext cx="822960" cy="822960"/>
          </a:xfrm>
          <a:prstGeom prst="ellipse">
            <a:avLst/>
          </a:prstGeom>
          <a:solidFill>
            <a:schemeClr val="accent1"/>
          </a:solidFill>
          <a:ln/>
        </p:spPr>
        <p:txBody>
          <a:bodyPr/>
          <a:lstStyle/>
          <a:p>
            <a:endParaRPr lang="ko-KR" altLang="en-US"/>
          </a:p>
        </p:txBody>
      </p:sp>
      <p:pic>
        <p:nvPicPr>
          <p:cNvPr id="6" name="ai tip icon 1" descr="ai tip icon 1"/>
          <p:cNvPicPr>
            <a:picLocks noChangeAspect="1"/>
          </p:cNvPicPr>
          <p:nvPr/>
        </p:nvPicPr>
        <p:blipFill>
          <a:blip r:embed="rId3"/>
          <a:stretch>
            <a:fillRect/>
          </a:stretch>
        </p:blipFill>
        <p:spPr>
          <a:xfrm>
            <a:off x="1165860" y="2446020"/>
            <a:ext cx="411480" cy="411480"/>
          </a:xfrm>
          <a:prstGeom prst="rect">
            <a:avLst/>
          </a:prstGeom>
        </p:spPr>
      </p:pic>
      <p:sp>
        <p:nvSpPr>
          <p:cNvPr id="7" name="Text 4"/>
          <p:cNvSpPr txBox="1"/>
          <p:nvPr/>
        </p:nvSpPr>
        <p:spPr>
          <a:xfrm>
            <a:off x="960120" y="3383280"/>
            <a:ext cx="2692298" cy="457200"/>
          </a:xfrm>
          <a:prstGeom prst="rect">
            <a:avLst/>
          </a:prstGeom>
          <a:noFill/>
          <a:ln/>
        </p:spPr>
        <p:txBody>
          <a:bodyPr wrap="square" lIns="0" tIns="0" rIns="0" bIns="0" rtlCol="0" anchor="t"/>
          <a:lstStyle/>
          <a:p>
            <a:pPr marL="0" indent="0">
              <a:buNone/>
            </a:pPr>
            <a:r>
              <a:rPr lang="en-US" sz="2100" b="1" dirty="0">
                <a:solidFill>
                  <a:schemeClr val="tx2"/>
                </a:solidFill>
              </a:rPr>
              <a:t>질문은 한 번에 하나씩</a:t>
            </a:r>
            <a:endParaRPr lang="en-US" sz="2100" dirty="0"/>
          </a:p>
        </p:txBody>
      </p:sp>
      <p:sp>
        <p:nvSpPr>
          <p:cNvPr id="8" name="Text 5"/>
          <p:cNvSpPr txBox="1"/>
          <p:nvPr/>
        </p:nvSpPr>
        <p:spPr>
          <a:xfrm>
            <a:off x="960120" y="4023360"/>
            <a:ext cx="2692298" cy="1645920"/>
          </a:xfrm>
          <a:prstGeom prst="rect">
            <a:avLst/>
          </a:prstGeom>
          <a:noFill/>
          <a:ln/>
        </p:spPr>
        <p:txBody>
          <a:bodyPr wrap="square" lIns="0" tIns="0" rIns="0" bIns="0" rtlCol="0" anchor="t"/>
          <a:lstStyle/>
          <a:p>
            <a:pPr marL="0" indent="0">
              <a:lnSpc>
                <a:spcPct val="120000"/>
              </a:lnSpc>
              <a:buNone/>
            </a:pPr>
            <a:r>
              <a:rPr lang="en-US" sz="1600" dirty="0">
                <a:solidFill>
                  <a:schemeClr val="tx1"/>
                </a:solidFill>
              </a:rPr>
              <a:t>여러 질문을 섞으면</a:t>
            </a:r>
            <a:endParaRPr lang="en-US" sz="1600" dirty="0"/>
          </a:p>
          <a:p>
            <a:pPr marL="0" indent="0">
              <a:lnSpc>
                <a:spcPct val="120000"/>
              </a:lnSpc>
              <a:buNone/>
            </a:pPr>
            <a:r>
              <a:rPr lang="en-US" sz="1600" dirty="0">
                <a:solidFill>
                  <a:schemeClr val="tx1"/>
                </a:solidFill>
              </a:rPr>
              <a:t>환각 가능성 UP</a:t>
            </a:r>
            <a:endParaRPr lang="en-US" sz="1600" dirty="0"/>
          </a:p>
        </p:txBody>
      </p:sp>
      <p:sp>
        <p:nvSpPr>
          <p:cNvPr id="9" name="ai tip card 2"/>
          <p:cNvSpPr/>
          <p:nvPr/>
        </p:nvSpPr>
        <p:spPr>
          <a:xfrm>
            <a:off x="4338218" y="1783080"/>
            <a:ext cx="3515258" cy="4297680"/>
          </a:xfrm>
          <a:prstGeom prst="roundRect">
            <a:avLst>
              <a:gd name="adj" fmla="val 3121"/>
            </a:avLst>
          </a:prstGeom>
          <a:solidFill>
            <a:schemeClr val="bg2"/>
          </a:solidFill>
          <a:ln/>
        </p:spPr>
        <p:txBody>
          <a:bodyPr/>
          <a:lstStyle/>
          <a:p>
            <a:endParaRPr lang="ko-KR" altLang="en-US"/>
          </a:p>
        </p:txBody>
      </p:sp>
      <p:sp>
        <p:nvSpPr>
          <p:cNvPr id="10" name="ai tip icon 2 circle"/>
          <p:cNvSpPr/>
          <p:nvPr/>
        </p:nvSpPr>
        <p:spPr>
          <a:xfrm>
            <a:off x="4749698" y="2240280"/>
            <a:ext cx="822960" cy="822960"/>
          </a:xfrm>
          <a:prstGeom prst="ellipse">
            <a:avLst/>
          </a:prstGeom>
          <a:solidFill>
            <a:schemeClr val="accent1"/>
          </a:solidFill>
          <a:ln/>
        </p:spPr>
        <p:txBody>
          <a:bodyPr/>
          <a:lstStyle/>
          <a:p>
            <a:endParaRPr lang="ko-KR" altLang="en-US"/>
          </a:p>
        </p:txBody>
      </p:sp>
      <p:pic>
        <p:nvPicPr>
          <p:cNvPr id="11" name="ai tip icon 2" descr="ai tip icon 2"/>
          <p:cNvPicPr>
            <a:picLocks noChangeAspect="1"/>
          </p:cNvPicPr>
          <p:nvPr/>
        </p:nvPicPr>
        <p:blipFill>
          <a:blip r:embed="rId4"/>
          <a:stretch>
            <a:fillRect/>
          </a:stretch>
        </p:blipFill>
        <p:spPr>
          <a:xfrm>
            <a:off x="4955438" y="2446020"/>
            <a:ext cx="411480" cy="411480"/>
          </a:xfrm>
          <a:prstGeom prst="rect">
            <a:avLst/>
          </a:prstGeom>
        </p:spPr>
      </p:pic>
      <p:sp>
        <p:nvSpPr>
          <p:cNvPr id="12" name="Text 8"/>
          <p:cNvSpPr txBox="1"/>
          <p:nvPr/>
        </p:nvSpPr>
        <p:spPr>
          <a:xfrm>
            <a:off x="4749698" y="3383280"/>
            <a:ext cx="2692298" cy="457200"/>
          </a:xfrm>
          <a:prstGeom prst="rect">
            <a:avLst/>
          </a:prstGeom>
          <a:noFill/>
          <a:ln/>
        </p:spPr>
        <p:txBody>
          <a:bodyPr wrap="square" lIns="0" tIns="0" rIns="0" bIns="0" rtlCol="0" anchor="t"/>
          <a:lstStyle/>
          <a:p>
            <a:pPr marL="0" indent="0">
              <a:buNone/>
            </a:pPr>
            <a:r>
              <a:rPr lang="en-US" sz="2100" b="1" dirty="0">
                <a:solidFill>
                  <a:schemeClr val="tx2"/>
                </a:solidFill>
              </a:rPr>
              <a:t>규칙은 MD 파일로</a:t>
            </a:r>
            <a:endParaRPr lang="en-US" sz="2100" dirty="0"/>
          </a:p>
        </p:txBody>
      </p:sp>
      <p:sp>
        <p:nvSpPr>
          <p:cNvPr id="13" name="Text 9"/>
          <p:cNvSpPr txBox="1"/>
          <p:nvPr/>
        </p:nvSpPr>
        <p:spPr>
          <a:xfrm>
            <a:off x="4749698" y="4023360"/>
            <a:ext cx="2692298" cy="1645920"/>
          </a:xfrm>
          <a:prstGeom prst="rect">
            <a:avLst/>
          </a:prstGeom>
          <a:noFill/>
          <a:ln/>
        </p:spPr>
        <p:txBody>
          <a:bodyPr wrap="square" lIns="0" tIns="0" rIns="0" bIns="0" rtlCol="0" anchor="t"/>
          <a:lstStyle/>
          <a:p>
            <a:pPr marL="0" indent="0">
              <a:lnSpc>
                <a:spcPct val="120000"/>
              </a:lnSpc>
              <a:buNone/>
            </a:pPr>
            <a:r>
              <a:rPr lang="en-US" sz="1600" dirty="0">
                <a:solidFill>
                  <a:schemeClr val="tx1"/>
                </a:solidFill>
              </a:rPr>
              <a:t>코드 컨벤션과 프레임워크 구조를 MD 파일로 정리해서 AI가 참고하게 하기</a:t>
            </a:r>
            <a:endParaRPr lang="en-US" sz="1600" dirty="0"/>
          </a:p>
        </p:txBody>
      </p:sp>
      <p:sp>
        <p:nvSpPr>
          <p:cNvPr id="14" name="ai tip card 3"/>
          <p:cNvSpPr/>
          <p:nvPr/>
        </p:nvSpPr>
        <p:spPr>
          <a:xfrm>
            <a:off x="8127797" y="1783080"/>
            <a:ext cx="3515258" cy="4297680"/>
          </a:xfrm>
          <a:prstGeom prst="roundRect">
            <a:avLst>
              <a:gd name="adj" fmla="val 3121"/>
            </a:avLst>
          </a:prstGeom>
          <a:solidFill>
            <a:schemeClr val="bg2"/>
          </a:solidFill>
          <a:ln/>
        </p:spPr>
        <p:txBody>
          <a:bodyPr/>
          <a:lstStyle/>
          <a:p>
            <a:endParaRPr lang="ko-KR" altLang="en-US"/>
          </a:p>
        </p:txBody>
      </p:sp>
      <p:sp>
        <p:nvSpPr>
          <p:cNvPr id="15" name="ai tip icon 3 circle"/>
          <p:cNvSpPr/>
          <p:nvPr/>
        </p:nvSpPr>
        <p:spPr>
          <a:xfrm>
            <a:off x="8539277" y="2240280"/>
            <a:ext cx="822960" cy="822960"/>
          </a:xfrm>
          <a:prstGeom prst="ellipse">
            <a:avLst/>
          </a:prstGeom>
          <a:solidFill>
            <a:schemeClr val="accent1"/>
          </a:solidFill>
          <a:ln/>
        </p:spPr>
        <p:txBody>
          <a:bodyPr/>
          <a:lstStyle/>
          <a:p>
            <a:endParaRPr lang="ko-KR" altLang="en-US"/>
          </a:p>
        </p:txBody>
      </p:sp>
      <p:pic>
        <p:nvPicPr>
          <p:cNvPr id="16" name="ai tip icon 3" descr="ai tip icon 3"/>
          <p:cNvPicPr>
            <a:picLocks noChangeAspect="1"/>
          </p:cNvPicPr>
          <p:nvPr/>
        </p:nvPicPr>
        <p:blipFill>
          <a:blip r:embed="rId5"/>
          <a:stretch>
            <a:fillRect/>
          </a:stretch>
        </p:blipFill>
        <p:spPr>
          <a:xfrm>
            <a:off x="8745017" y="2446020"/>
            <a:ext cx="411480" cy="411480"/>
          </a:xfrm>
          <a:prstGeom prst="rect">
            <a:avLst/>
          </a:prstGeom>
        </p:spPr>
      </p:pic>
      <p:sp>
        <p:nvSpPr>
          <p:cNvPr id="17" name="Text 12"/>
          <p:cNvSpPr txBox="1"/>
          <p:nvPr/>
        </p:nvSpPr>
        <p:spPr>
          <a:xfrm>
            <a:off x="8539277" y="3383280"/>
            <a:ext cx="2692298" cy="457200"/>
          </a:xfrm>
          <a:prstGeom prst="rect">
            <a:avLst/>
          </a:prstGeom>
          <a:noFill/>
          <a:ln/>
        </p:spPr>
        <p:txBody>
          <a:bodyPr wrap="square" lIns="0" tIns="0" rIns="0" bIns="0" rtlCol="0" anchor="t"/>
          <a:lstStyle/>
          <a:p>
            <a:pPr marL="0" indent="0">
              <a:buNone/>
            </a:pPr>
            <a:r>
              <a:rPr lang="en-US" sz="2100" b="1" dirty="0">
                <a:solidFill>
                  <a:schemeClr val="tx2"/>
                </a:solidFill>
              </a:rPr>
              <a:t>Claude 1년 구독</a:t>
            </a:r>
            <a:endParaRPr lang="en-US" sz="2100" dirty="0"/>
          </a:p>
        </p:txBody>
      </p:sp>
      <p:sp>
        <p:nvSpPr>
          <p:cNvPr id="18" name="Text 13"/>
          <p:cNvSpPr txBox="1"/>
          <p:nvPr/>
        </p:nvSpPr>
        <p:spPr>
          <a:xfrm>
            <a:off x="8539277" y="4023360"/>
            <a:ext cx="2692298" cy="1645920"/>
          </a:xfrm>
          <a:prstGeom prst="rect">
            <a:avLst/>
          </a:prstGeom>
          <a:noFill/>
          <a:ln/>
        </p:spPr>
        <p:txBody>
          <a:bodyPr wrap="square" lIns="0" tIns="0" rIns="0" bIns="0" rtlCol="0" anchor="t"/>
          <a:lstStyle/>
          <a:p>
            <a:pPr marL="0" indent="0">
              <a:lnSpc>
                <a:spcPct val="120000"/>
              </a:lnSpc>
              <a:buNone/>
            </a:pPr>
            <a:r>
              <a:rPr lang="en-US" sz="1600" dirty="0">
                <a:solidFill>
                  <a:schemeClr val="tx1"/>
                </a:solidFill>
              </a:rPr>
              <a:t>환율이 1,336원까지 내려온 지금이 결제 타이밍</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quote icon" descr="인용"/>
          <p:cNvPicPr>
            <a:picLocks noChangeAspect="1"/>
          </p:cNvPicPr>
          <p:nvPr/>
        </p:nvPicPr>
        <p:blipFill>
          <a:blip r:embed="rId3"/>
          <a:stretch>
            <a:fillRect/>
          </a:stretch>
        </p:blipFill>
        <p:spPr>
          <a:xfrm>
            <a:off x="548640" y="1828800"/>
            <a:ext cx="822960" cy="822960"/>
          </a:xfrm>
          <a:prstGeom prst="rect">
            <a:avLst/>
          </a:prstGeom>
        </p:spPr>
      </p:pic>
      <p:sp>
        <p:nvSpPr>
          <p:cNvPr id="3" name="Text 0"/>
          <p:cNvSpPr txBox="1"/>
          <p:nvPr/>
        </p:nvSpPr>
        <p:spPr>
          <a:xfrm>
            <a:off x="548640" y="2926080"/>
            <a:ext cx="11094415" cy="2011680"/>
          </a:xfrm>
          <a:prstGeom prst="rect">
            <a:avLst/>
          </a:prstGeom>
          <a:noFill/>
          <a:ln/>
        </p:spPr>
        <p:txBody>
          <a:bodyPr wrap="square" lIns="0" tIns="0" rIns="0" bIns="0" rtlCol="0" anchor="t"/>
          <a:lstStyle/>
          <a:p>
            <a:pPr marL="0" indent="0">
              <a:lnSpc>
                <a:spcPct val="120000"/>
              </a:lnSpc>
              <a:buNone/>
            </a:pPr>
            <a:r>
              <a:rPr lang="en-US" sz="4400" b="1" dirty="0">
                <a:solidFill>
                  <a:schemeClr val="bg1"/>
                </a:solidFill>
              </a:rPr>
              <a:t>AI 쓰는 건 부끄러운 게 아니다.</a:t>
            </a:r>
            <a:endParaRPr lang="en-US" sz="4400" dirty="0"/>
          </a:p>
          <a:p>
            <a:pPr marL="0" indent="0">
              <a:lnSpc>
                <a:spcPct val="120000"/>
              </a:lnSpc>
              <a:buNone/>
            </a:pPr>
            <a:r>
              <a:rPr lang="en-US" sz="4400" b="1" dirty="0">
                <a:solidFill>
                  <a:schemeClr val="accent1"/>
                </a:solidFill>
              </a:rPr>
              <a:t>모르는 게 부끄러운 거다.</a:t>
            </a:r>
            <a:endParaRPr lang="en-US" sz="4400" dirty="0"/>
          </a:p>
        </p:txBody>
      </p:sp>
      <p:sp>
        <p:nvSpPr>
          <p:cNvPr id="5" name="Text 0"/>
          <p:cNvSpPr>
            <a:spLocks noGrp="1"/>
          </p:cNvSpPr>
          <p:nvPr>
            <p:ph type="body" idx="100" hasCustomPrompt="1"/>
          </p:nvPr>
        </p:nvSpPr>
        <p:spPr>
          <a:xfrm>
            <a:off x="548640" y="1828800"/>
            <a:ext cx="3657600" cy="1188720"/>
          </a:xfrm>
          <a:prstGeom prst="rect">
            <a:avLst/>
          </a:prstGeom>
          <a:noFill/>
          <a:ln/>
        </p:spPr>
        <p:txBody>
          <a:bodyPr wrap="square" lIns="0" tIns="0" rIns="0" bIns="0" rtlCol="0"/>
          <a:lstStyle/>
          <a:p>
            <a:pPr marL="0" indent="0">
              <a:buNone/>
            </a:pPr>
            <a:endParaRPr lang="en-US" sz="8000" dirty="0"/>
          </a:p>
        </p:txBody>
      </p:sp>
      <p:sp>
        <p:nvSpPr>
          <p:cNvPr id="6" name="Text 0"/>
          <p:cNvSpPr>
            <a:spLocks noGrp="1"/>
          </p:cNvSpPr>
          <p:nvPr>
            <p:ph type="title" idx="101" hasCustomPrompt="1"/>
          </p:nvPr>
        </p:nvSpPr>
        <p:spPr>
          <a:xfrm>
            <a:off x="548640" y="3063240"/>
            <a:ext cx="10058400" cy="914400"/>
          </a:xfrm>
          <a:prstGeom prst="rect">
            <a:avLst/>
          </a:prstGeom>
          <a:noFill/>
          <a:ln/>
        </p:spPr>
        <p:txBody>
          <a:bodyPr wrap="square" lIns="0" tIns="0" rIns="0" bIns="0" rtlCol="0"/>
          <a:lstStyle/>
          <a:p>
            <a:pPr marL="0" indent="0" algn="l">
              <a:buNone/>
            </a:pPr>
            <a:endParaRPr lang="en-US" sz="4400" dirty="0"/>
          </a:p>
        </p:txBody>
      </p:sp>
      <p:sp>
        <p:nvSpPr>
          <p:cNvPr id="7" name="Text 0"/>
          <p:cNvSpPr>
            <a:spLocks noGrp="1"/>
          </p:cNvSpPr>
          <p:nvPr>
            <p:ph type="body" idx="102" hasCustomPrompt="1"/>
          </p:nvPr>
        </p:nvSpPr>
        <p:spPr>
          <a:xfrm>
            <a:off x="548640" y="4069080"/>
            <a:ext cx="10058400" cy="548640"/>
          </a:xfrm>
          <a:prstGeom prst="rect">
            <a:avLst/>
          </a:prstGeom>
          <a:noFill/>
          <a:ln/>
        </p:spPr>
        <p:txBody>
          <a:bodyPr wrap="square" lIns="0" tIns="0" rIns="0" bIns="0" rtlCol="0"/>
          <a:lstStyle/>
          <a:p>
            <a:pPr marL="0" indent="0">
              <a:buNone/>
            </a:pPr>
            <a:endParaRPr lang="en-US" sz="2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3657600" cy="1188720"/>
          </a:xfrm>
          <a:prstGeom prst="rect">
            <a:avLst/>
          </a:prstGeom>
          <a:noFill/>
          <a:ln/>
        </p:spPr>
        <p:txBody>
          <a:bodyPr wrap="square" lIns="0" tIns="0" rIns="0" bIns="0" rtlCol="0"/>
          <a:lstStyle/>
          <a:p>
            <a:pPr marL="0" indent="0">
              <a:buNone/>
            </a:pPr>
            <a:r>
              <a:rPr lang="en-US" sz="8000" b="1" dirty="0">
                <a:solidFill>
                  <a:schemeClr val="accent1"/>
                </a:solidFill>
              </a:rPr>
              <a:t>05</a:t>
            </a:r>
            <a:endParaRPr lang="en-US" sz="8000" dirty="0"/>
          </a:p>
        </p:txBody>
      </p:sp>
      <p:sp>
        <p:nvSpPr>
          <p:cNvPr id="3" name="Text 0"/>
          <p:cNvSpPr>
            <a:spLocks noGrp="1"/>
          </p:cNvSpPr>
          <p:nvPr>
            <p:ph type="title" idx="101" hasCustomPrompt="1"/>
          </p:nvPr>
        </p:nvSpPr>
        <p:spPr>
          <a:xfrm>
            <a:off x="548640" y="3063240"/>
            <a:ext cx="10058400" cy="914400"/>
          </a:xfrm>
          <a:prstGeom prst="rect">
            <a:avLst/>
          </a:prstGeom>
          <a:noFill/>
          <a:ln/>
        </p:spPr>
        <p:txBody>
          <a:bodyPr wrap="square" lIns="0" tIns="0" rIns="0" bIns="0" rtlCol="0"/>
          <a:lstStyle/>
          <a:p>
            <a:pPr marL="0" indent="0" algn="l">
              <a:buNone/>
            </a:pPr>
            <a:r>
              <a:rPr lang="en-US" sz="4400" b="1" dirty="0">
                <a:solidFill>
                  <a:schemeClr val="bg1"/>
                </a:solidFill>
              </a:rPr>
              <a:t>팀원과의 관계</a:t>
            </a:r>
            <a:endParaRPr lang="en-US" sz="4400" dirty="0"/>
          </a:p>
        </p:txBody>
      </p:sp>
      <p:sp>
        <p:nvSpPr>
          <p:cNvPr id="4" name="Text 0"/>
          <p:cNvSpPr>
            <a:spLocks noGrp="1"/>
          </p:cNvSpPr>
          <p:nvPr>
            <p:ph type="body" idx="102" hasCustomPrompt="1"/>
          </p:nvPr>
        </p:nvSpPr>
        <p:spPr>
          <a:xfrm>
            <a:off x="548640" y="4069080"/>
            <a:ext cx="10058400" cy="548640"/>
          </a:xfrm>
          <a:prstGeom prst="rect">
            <a:avLst/>
          </a:prstGeom>
          <a:noFill/>
          <a:ln/>
        </p:spPr>
        <p:txBody>
          <a:bodyPr wrap="square" lIns="0" tIns="0" rIns="0" bIns="0" rtlCol="0"/>
          <a:lstStyle/>
          <a:p>
            <a:pPr marL="0" indent="0">
              <a:buNone/>
            </a:pPr>
            <a:r>
              <a:rPr lang="en-US" sz="2000" dirty="0">
                <a:solidFill>
                  <a:schemeClr val="accent3"/>
                </a:solidFill>
              </a:rPr>
              <a:t>졸작은 결국 사람이 만든다</a:t>
            </a:r>
            <a:endParaRPr lang="en-US" sz="2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05  팀원과의 관계</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진짜 동료가 되고, 같은 곳을 바라보기</a:t>
            </a:r>
            <a:endParaRPr lang="en-US" sz="3200" dirty="0"/>
          </a:p>
        </p:txBody>
      </p:sp>
      <p:sp>
        <p:nvSpPr>
          <p:cNvPr id="4" name="team card 1"/>
          <p:cNvSpPr/>
          <p:nvPr/>
        </p:nvSpPr>
        <p:spPr>
          <a:xfrm>
            <a:off x="548640" y="1783080"/>
            <a:ext cx="5410048" cy="4297680"/>
          </a:xfrm>
          <a:prstGeom prst="roundRect">
            <a:avLst>
              <a:gd name="adj" fmla="val 2553"/>
            </a:avLst>
          </a:prstGeom>
          <a:solidFill>
            <a:schemeClr val="bg2"/>
          </a:solidFill>
          <a:ln/>
        </p:spPr>
        <p:txBody>
          <a:bodyPr/>
          <a:lstStyle/>
          <a:p>
            <a:endParaRPr lang="ko-KR" altLang="en-US"/>
          </a:p>
        </p:txBody>
      </p:sp>
      <p:sp>
        <p:nvSpPr>
          <p:cNvPr id="5" name="team icon 1 circle"/>
          <p:cNvSpPr/>
          <p:nvPr/>
        </p:nvSpPr>
        <p:spPr>
          <a:xfrm>
            <a:off x="960120" y="2148840"/>
            <a:ext cx="685800" cy="685800"/>
          </a:xfrm>
          <a:prstGeom prst="ellipse">
            <a:avLst/>
          </a:prstGeom>
          <a:solidFill>
            <a:schemeClr val="tx2"/>
          </a:solidFill>
          <a:ln/>
        </p:spPr>
        <p:txBody>
          <a:bodyPr/>
          <a:lstStyle/>
          <a:p>
            <a:endParaRPr lang="ko-KR" altLang="en-US"/>
          </a:p>
        </p:txBody>
      </p:sp>
      <p:pic>
        <p:nvPicPr>
          <p:cNvPr id="6" name="team icon 1" descr="team icon 1"/>
          <p:cNvPicPr>
            <a:picLocks noChangeAspect="1"/>
          </p:cNvPicPr>
          <p:nvPr/>
        </p:nvPicPr>
        <p:blipFill>
          <a:blip r:embed="rId3"/>
          <a:stretch>
            <a:fillRect/>
          </a:stretch>
        </p:blipFill>
        <p:spPr>
          <a:xfrm>
            <a:off x="1131570" y="2320290"/>
            <a:ext cx="342900" cy="342900"/>
          </a:xfrm>
          <a:prstGeom prst="rect">
            <a:avLst/>
          </a:prstGeom>
        </p:spPr>
      </p:pic>
      <p:sp>
        <p:nvSpPr>
          <p:cNvPr id="7" name="Text 4"/>
          <p:cNvSpPr txBox="1"/>
          <p:nvPr/>
        </p:nvSpPr>
        <p:spPr>
          <a:xfrm>
            <a:off x="1874520" y="2148840"/>
            <a:ext cx="3672688" cy="685800"/>
          </a:xfrm>
          <a:prstGeom prst="rect">
            <a:avLst/>
          </a:prstGeom>
          <a:noFill/>
          <a:ln/>
        </p:spPr>
        <p:txBody>
          <a:bodyPr wrap="square" lIns="0" tIns="0" rIns="0" bIns="0" rtlCol="0" anchor="ctr"/>
          <a:lstStyle/>
          <a:p>
            <a:pPr marL="0" indent="0">
              <a:buNone/>
            </a:pPr>
            <a:r>
              <a:rPr lang="en-US" sz="2200" b="1" dirty="0">
                <a:solidFill>
                  <a:schemeClr val="tx2"/>
                </a:solidFill>
              </a:rPr>
              <a:t>진짜 동료 만들기</a:t>
            </a:r>
            <a:endParaRPr lang="en-US" sz="2200" dirty="0"/>
          </a:p>
        </p:txBody>
      </p:sp>
      <p:sp>
        <p:nvSpPr>
          <p:cNvPr id="8" name="Text 5"/>
          <p:cNvSpPr txBox="1"/>
          <p:nvPr/>
        </p:nvSpPr>
        <p:spPr>
          <a:xfrm>
            <a:off x="960120" y="3200400"/>
            <a:ext cx="365760" cy="411480"/>
          </a:xfrm>
          <a:prstGeom prst="rect">
            <a:avLst/>
          </a:prstGeom>
          <a:noFill/>
          <a:ln/>
        </p:spPr>
        <p:txBody>
          <a:bodyPr wrap="square" lIns="0" tIns="0" rIns="0" bIns="0" rtlCol="0" anchor="t"/>
          <a:lstStyle/>
          <a:p>
            <a:pPr marL="0" indent="0">
              <a:buNone/>
            </a:pPr>
            <a:r>
              <a:rPr lang="en-US" sz="1800" b="1" dirty="0">
                <a:solidFill>
                  <a:schemeClr val="accent1"/>
                </a:solidFill>
              </a:rPr>
              <a:t>1</a:t>
            </a:r>
            <a:endParaRPr lang="en-US" sz="1800" dirty="0"/>
          </a:p>
        </p:txBody>
      </p:sp>
      <p:sp>
        <p:nvSpPr>
          <p:cNvPr id="9" name="Text 6"/>
          <p:cNvSpPr txBox="1"/>
          <p:nvPr/>
        </p:nvSpPr>
        <p:spPr>
          <a:xfrm>
            <a:off x="1417320" y="3200400"/>
            <a:ext cx="4129888" cy="777240"/>
          </a:xfrm>
          <a:prstGeom prst="rect">
            <a:avLst/>
          </a:prstGeom>
          <a:noFill/>
          <a:ln/>
        </p:spPr>
        <p:txBody>
          <a:bodyPr wrap="square" lIns="0" tIns="0" rIns="0" bIns="0" rtlCol="0" anchor="t"/>
          <a:lstStyle/>
          <a:p>
            <a:pPr marL="0" indent="0">
              <a:buNone/>
            </a:pPr>
            <a:r>
              <a:rPr lang="ko-KR" altLang="en-US" sz="1600" dirty="0"/>
              <a:t>먼저</a:t>
            </a:r>
            <a:r>
              <a:rPr lang="en-US" sz="1600" dirty="0">
                <a:solidFill>
                  <a:schemeClr val="tx1"/>
                </a:solidFill>
              </a:rPr>
              <a:t> </a:t>
            </a:r>
            <a:r>
              <a:rPr lang="en-US" sz="1600" dirty="0" err="1">
                <a:solidFill>
                  <a:schemeClr val="tx1"/>
                </a:solidFill>
              </a:rPr>
              <a:t>정보를</a:t>
            </a:r>
            <a:r>
              <a:rPr lang="en-US" sz="1600" dirty="0">
                <a:solidFill>
                  <a:schemeClr val="tx1"/>
                </a:solidFill>
              </a:rPr>
              <a:t> </a:t>
            </a:r>
            <a:r>
              <a:rPr lang="en-US" sz="1600" dirty="0" err="1">
                <a:solidFill>
                  <a:schemeClr val="tx1"/>
                </a:solidFill>
              </a:rPr>
              <a:t>공유하는</a:t>
            </a:r>
            <a:r>
              <a:rPr lang="en-US" sz="1600" dirty="0">
                <a:solidFill>
                  <a:schemeClr val="tx1"/>
                </a:solidFill>
              </a:rPr>
              <a:t> </a:t>
            </a:r>
            <a:r>
              <a:rPr lang="ko-KR" altLang="en-US" sz="1600" dirty="0">
                <a:solidFill>
                  <a:schemeClr val="tx1"/>
                </a:solidFill>
              </a:rPr>
              <a:t>좋은 </a:t>
            </a:r>
            <a:r>
              <a:rPr lang="en-US" sz="1600" dirty="0" err="1">
                <a:solidFill>
                  <a:schemeClr val="tx1"/>
                </a:solidFill>
              </a:rPr>
              <a:t>사람이</a:t>
            </a:r>
            <a:r>
              <a:rPr lang="en-US" sz="1600" dirty="0">
                <a:solidFill>
                  <a:schemeClr val="tx1"/>
                </a:solidFill>
              </a:rPr>
              <a:t> 되기</a:t>
            </a:r>
            <a:endParaRPr lang="en-US" sz="1600" dirty="0"/>
          </a:p>
        </p:txBody>
      </p:sp>
      <p:sp>
        <p:nvSpPr>
          <p:cNvPr id="10" name="Text 7"/>
          <p:cNvSpPr txBox="1"/>
          <p:nvPr/>
        </p:nvSpPr>
        <p:spPr>
          <a:xfrm>
            <a:off x="960120" y="4114800"/>
            <a:ext cx="365760" cy="411480"/>
          </a:xfrm>
          <a:prstGeom prst="rect">
            <a:avLst/>
          </a:prstGeom>
          <a:noFill/>
          <a:ln/>
        </p:spPr>
        <p:txBody>
          <a:bodyPr wrap="square" lIns="0" tIns="0" rIns="0" bIns="0" rtlCol="0" anchor="t"/>
          <a:lstStyle/>
          <a:p>
            <a:pPr marL="0" indent="0">
              <a:buNone/>
            </a:pPr>
            <a:r>
              <a:rPr lang="en-US" sz="1800" b="1" dirty="0">
                <a:solidFill>
                  <a:schemeClr val="accent1"/>
                </a:solidFill>
              </a:rPr>
              <a:t>2</a:t>
            </a:r>
            <a:endParaRPr lang="en-US" sz="1800" dirty="0"/>
          </a:p>
        </p:txBody>
      </p:sp>
      <p:sp>
        <p:nvSpPr>
          <p:cNvPr id="11" name="Text 8"/>
          <p:cNvSpPr txBox="1"/>
          <p:nvPr/>
        </p:nvSpPr>
        <p:spPr>
          <a:xfrm>
            <a:off x="1417320" y="4114800"/>
            <a:ext cx="4129888" cy="777240"/>
          </a:xfrm>
          <a:prstGeom prst="rect">
            <a:avLst/>
          </a:prstGeom>
          <a:noFill/>
          <a:ln/>
        </p:spPr>
        <p:txBody>
          <a:bodyPr wrap="square" lIns="0" tIns="0" rIns="0" bIns="0" rtlCol="0" anchor="t"/>
          <a:lstStyle/>
          <a:p>
            <a:pPr marL="0" indent="0">
              <a:buNone/>
            </a:pPr>
            <a:r>
              <a:rPr lang="en-US" sz="1600" dirty="0">
                <a:solidFill>
                  <a:schemeClr val="tx1"/>
                </a:solidFill>
              </a:rPr>
              <a:t>뭐든 편하게 얘기할 수 있는 사이 만들기</a:t>
            </a:r>
            <a:endParaRPr lang="en-US" sz="1600" dirty="0"/>
          </a:p>
        </p:txBody>
      </p:sp>
      <p:sp>
        <p:nvSpPr>
          <p:cNvPr id="12" name="Text 9"/>
          <p:cNvSpPr txBox="1"/>
          <p:nvPr/>
        </p:nvSpPr>
        <p:spPr>
          <a:xfrm>
            <a:off x="960120" y="5029200"/>
            <a:ext cx="365760" cy="411480"/>
          </a:xfrm>
          <a:prstGeom prst="rect">
            <a:avLst/>
          </a:prstGeom>
          <a:noFill/>
          <a:ln/>
        </p:spPr>
        <p:txBody>
          <a:bodyPr wrap="square" lIns="0" tIns="0" rIns="0" bIns="0" rtlCol="0" anchor="t"/>
          <a:lstStyle/>
          <a:p>
            <a:pPr marL="0" indent="0">
              <a:buNone/>
            </a:pPr>
            <a:r>
              <a:rPr lang="en-US" sz="1800" b="1" dirty="0">
                <a:solidFill>
                  <a:schemeClr val="accent1"/>
                </a:solidFill>
              </a:rPr>
              <a:t>3</a:t>
            </a:r>
            <a:endParaRPr lang="en-US" sz="1800" dirty="0"/>
          </a:p>
        </p:txBody>
      </p:sp>
      <p:sp>
        <p:nvSpPr>
          <p:cNvPr id="13" name="Text 10"/>
          <p:cNvSpPr txBox="1"/>
          <p:nvPr/>
        </p:nvSpPr>
        <p:spPr>
          <a:xfrm>
            <a:off x="1417320" y="5029200"/>
            <a:ext cx="4129888" cy="777240"/>
          </a:xfrm>
          <a:prstGeom prst="rect">
            <a:avLst/>
          </a:prstGeom>
          <a:noFill/>
          <a:ln/>
        </p:spPr>
        <p:txBody>
          <a:bodyPr wrap="square" lIns="0" tIns="0" rIns="0" bIns="0" rtlCol="0" anchor="t"/>
          <a:lstStyle/>
          <a:p>
            <a:pPr marL="0" indent="0">
              <a:buNone/>
            </a:pPr>
            <a:r>
              <a:rPr lang="en-US" sz="1600" dirty="0">
                <a:solidFill>
                  <a:schemeClr val="tx1"/>
                </a:solidFill>
              </a:rPr>
              <a:t>회의는 격주에 한 번, 재밌는 곳에서. </a:t>
            </a:r>
          </a:p>
          <a:p>
            <a:pPr marL="0" indent="0">
              <a:buNone/>
            </a:pPr>
            <a:r>
              <a:rPr lang="en-US" sz="1600" dirty="0" err="1">
                <a:solidFill>
                  <a:schemeClr val="tx1"/>
                </a:solidFill>
              </a:rPr>
              <a:t>추억을</a:t>
            </a:r>
            <a:r>
              <a:rPr lang="en-US" sz="1600" dirty="0">
                <a:solidFill>
                  <a:schemeClr val="tx1"/>
                </a:solidFill>
              </a:rPr>
              <a:t> 남겨라</a:t>
            </a:r>
            <a:endParaRPr lang="en-US" sz="1600" dirty="0"/>
          </a:p>
        </p:txBody>
      </p:sp>
      <p:sp>
        <p:nvSpPr>
          <p:cNvPr id="14" name="team card 2"/>
          <p:cNvSpPr/>
          <p:nvPr/>
        </p:nvSpPr>
        <p:spPr>
          <a:xfrm>
            <a:off x="6233008" y="1783080"/>
            <a:ext cx="5410048" cy="4297680"/>
          </a:xfrm>
          <a:prstGeom prst="roundRect">
            <a:avLst>
              <a:gd name="adj" fmla="val 2553"/>
            </a:avLst>
          </a:prstGeom>
          <a:solidFill>
            <a:schemeClr val="bg2"/>
          </a:solidFill>
          <a:ln/>
        </p:spPr>
        <p:txBody>
          <a:bodyPr/>
          <a:lstStyle/>
          <a:p>
            <a:endParaRPr lang="ko-KR" altLang="en-US"/>
          </a:p>
        </p:txBody>
      </p:sp>
      <p:sp>
        <p:nvSpPr>
          <p:cNvPr id="15" name="team icon 2 circle"/>
          <p:cNvSpPr/>
          <p:nvPr/>
        </p:nvSpPr>
        <p:spPr>
          <a:xfrm>
            <a:off x="6644488" y="2148840"/>
            <a:ext cx="685800" cy="685800"/>
          </a:xfrm>
          <a:prstGeom prst="ellipse">
            <a:avLst/>
          </a:prstGeom>
          <a:solidFill>
            <a:schemeClr val="tx2"/>
          </a:solidFill>
          <a:ln/>
        </p:spPr>
        <p:txBody>
          <a:bodyPr/>
          <a:lstStyle/>
          <a:p>
            <a:endParaRPr lang="ko-KR" altLang="en-US"/>
          </a:p>
        </p:txBody>
      </p:sp>
      <p:pic>
        <p:nvPicPr>
          <p:cNvPr id="16" name="team icon 2" descr="team icon 2"/>
          <p:cNvPicPr>
            <a:picLocks noChangeAspect="1"/>
          </p:cNvPicPr>
          <p:nvPr/>
        </p:nvPicPr>
        <p:blipFill>
          <a:blip r:embed="rId4"/>
          <a:stretch>
            <a:fillRect/>
          </a:stretch>
        </p:blipFill>
        <p:spPr>
          <a:xfrm>
            <a:off x="6815938" y="2320290"/>
            <a:ext cx="342900" cy="342900"/>
          </a:xfrm>
          <a:prstGeom prst="rect">
            <a:avLst/>
          </a:prstGeom>
        </p:spPr>
      </p:pic>
      <p:sp>
        <p:nvSpPr>
          <p:cNvPr id="17" name="Text 13"/>
          <p:cNvSpPr txBox="1"/>
          <p:nvPr/>
        </p:nvSpPr>
        <p:spPr>
          <a:xfrm>
            <a:off x="7558888" y="2148840"/>
            <a:ext cx="3672688" cy="685800"/>
          </a:xfrm>
          <a:prstGeom prst="rect">
            <a:avLst/>
          </a:prstGeom>
          <a:noFill/>
          <a:ln/>
        </p:spPr>
        <p:txBody>
          <a:bodyPr wrap="square" lIns="0" tIns="0" rIns="0" bIns="0" rtlCol="0" anchor="ctr"/>
          <a:lstStyle/>
          <a:p>
            <a:pPr marL="0" indent="0">
              <a:buNone/>
            </a:pPr>
            <a:r>
              <a:rPr lang="en-US" sz="2200" b="1" dirty="0">
                <a:solidFill>
                  <a:schemeClr val="tx2"/>
                </a:solidFill>
              </a:rPr>
              <a:t>팀의 관점 맞추기</a:t>
            </a:r>
            <a:endParaRPr lang="en-US" sz="2200" dirty="0"/>
          </a:p>
        </p:txBody>
      </p:sp>
      <p:sp>
        <p:nvSpPr>
          <p:cNvPr id="18" name="Text 14"/>
          <p:cNvSpPr txBox="1"/>
          <p:nvPr/>
        </p:nvSpPr>
        <p:spPr>
          <a:xfrm>
            <a:off x="6644488" y="3200400"/>
            <a:ext cx="365760" cy="411480"/>
          </a:xfrm>
          <a:prstGeom prst="rect">
            <a:avLst/>
          </a:prstGeom>
          <a:noFill/>
          <a:ln/>
        </p:spPr>
        <p:txBody>
          <a:bodyPr wrap="square" lIns="0" tIns="0" rIns="0" bIns="0" rtlCol="0" anchor="t"/>
          <a:lstStyle/>
          <a:p>
            <a:pPr marL="0" indent="0">
              <a:buNone/>
            </a:pPr>
            <a:r>
              <a:rPr lang="en-US" sz="1800" b="1" dirty="0">
                <a:solidFill>
                  <a:schemeClr val="accent1"/>
                </a:solidFill>
              </a:rPr>
              <a:t>1</a:t>
            </a:r>
            <a:endParaRPr lang="en-US" sz="1800" dirty="0"/>
          </a:p>
        </p:txBody>
      </p:sp>
      <p:sp>
        <p:nvSpPr>
          <p:cNvPr id="19" name="Text 15"/>
          <p:cNvSpPr txBox="1"/>
          <p:nvPr/>
        </p:nvSpPr>
        <p:spPr>
          <a:xfrm>
            <a:off x="7101688" y="3200400"/>
            <a:ext cx="4129888" cy="777240"/>
          </a:xfrm>
          <a:prstGeom prst="rect">
            <a:avLst/>
          </a:prstGeom>
          <a:noFill/>
          <a:ln/>
        </p:spPr>
        <p:txBody>
          <a:bodyPr wrap="square" lIns="0" tIns="0" rIns="0" bIns="0" rtlCol="0" anchor="t"/>
          <a:lstStyle/>
          <a:p>
            <a:pPr marL="0" indent="0">
              <a:buNone/>
            </a:pPr>
            <a:r>
              <a:rPr lang="en-US" sz="1600" dirty="0">
                <a:solidFill>
                  <a:schemeClr val="tx1"/>
                </a:solidFill>
              </a:rPr>
              <a:t>팀 상황을 같은 시각으로 보고, 같은 미래를 그리기</a:t>
            </a:r>
            <a:endParaRPr lang="en-US" sz="1600" dirty="0"/>
          </a:p>
        </p:txBody>
      </p:sp>
      <p:sp>
        <p:nvSpPr>
          <p:cNvPr id="20" name="Text 16"/>
          <p:cNvSpPr txBox="1"/>
          <p:nvPr/>
        </p:nvSpPr>
        <p:spPr>
          <a:xfrm>
            <a:off x="6644488" y="4114800"/>
            <a:ext cx="365760" cy="411480"/>
          </a:xfrm>
          <a:prstGeom prst="rect">
            <a:avLst/>
          </a:prstGeom>
          <a:noFill/>
          <a:ln/>
        </p:spPr>
        <p:txBody>
          <a:bodyPr wrap="square" lIns="0" tIns="0" rIns="0" bIns="0" rtlCol="0" anchor="t"/>
          <a:lstStyle/>
          <a:p>
            <a:pPr marL="0" indent="0">
              <a:buNone/>
            </a:pPr>
            <a:r>
              <a:rPr lang="en-US" sz="1800" b="1" dirty="0">
                <a:solidFill>
                  <a:schemeClr val="accent1"/>
                </a:solidFill>
              </a:rPr>
              <a:t>2</a:t>
            </a:r>
            <a:endParaRPr lang="en-US" sz="1800" dirty="0"/>
          </a:p>
        </p:txBody>
      </p:sp>
      <p:sp>
        <p:nvSpPr>
          <p:cNvPr id="21" name="Text 17"/>
          <p:cNvSpPr txBox="1"/>
          <p:nvPr/>
        </p:nvSpPr>
        <p:spPr>
          <a:xfrm>
            <a:off x="7101688" y="4114800"/>
            <a:ext cx="4129888" cy="777240"/>
          </a:xfrm>
          <a:prstGeom prst="rect">
            <a:avLst/>
          </a:prstGeom>
          <a:noFill/>
          <a:ln/>
        </p:spPr>
        <p:txBody>
          <a:bodyPr wrap="square" lIns="0" tIns="0" rIns="0" bIns="0" rtlCol="0" anchor="t"/>
          <a:lstStyle/>
          <a:p>
            <a:pPr marL="0" indent="0">
              <a:buNone/>
            </a:pPr>
            <a:r>
              <a:rPr lang="en-US" sz="1600" dirty="0">
                <a:solidFill>
                  <a:schemeClr val="tx1"/>
                </a:solidFill>
              </a:rPr>
              <a:t>개인 일정은 공유하고, 개인 생활은 존중하기</a:t>
            </a:r>
            <a:endParaRPr lang="en-US" sz="1600" dirty="0"/>
          </a:p>
        </p:txBody>
      </p:sp>
      <p:sp>
        <p:nvSpPr>
          <p:cNvPr id="22" name="Text 18"/>
          <p:cNvSpPr txBox="1"/>
          <p:nvPr/>
        </p:nvSpPr>
        <p:spPr>
          <a:xfrm>
            <a:off x="6644488" y="5029200"/>
            <a:ext cx="365760" cy="411480"/>
          </a:xfrm>
          <a:prstGeom prst="rect">
            <a:avLst/>
          </a:prstGeom>
          <a:noFill/>
          <a:ln/>
        </p:spPr>
        <p:txBody>
          <a:bodyPr wrap="square" lIns="0" tIns="0" rIns="0" bIns="0" rtlCol="0" anchor="t"/>
          <a:lstStyle/>
          <a:p>
            <a:pPr marL="0" indent="0">
              <a:buNone/>
            </a:pPr>
            <a:r>
              <a:rPr lang="en-US" sz="1800" b="1" dirty="0">
                <a:solidFill>
                  <a:schemeClr val="accent1"/>
                </a:solidFill>
              </a:rPr>
              <a:t>3</a:t>
            </a:r>
            <a:endParaRPr lang="en-US" sz="1800" dirty="0"/>
          </a:p>
        </p:txBody>
      </p:sp>
      <p:sp>
        <p:nvSpPr>
          <p:cNvPr id="23" name="Text 19"/>
          <p:cNvSpPr txBox="1"/>
          <p:nvPr/>
        </p:nvSpPr>
        <p:spPr>
          <a:xfrm>
            <a:off x="7101688" y="5029200"/>
            <a:ext cx="4129888" cy="777240"/>
          </a:xfrm>
          <a:prstGeom prst="rect">
            <a:avLst/>
          </a:prstGeom>
          <a:noFill/>
          <a:ln/>
        </p:spPr>
        <p:txBody>
          <a:bodyPr wrap="square" lIns="0" tIns="0" rIns="0" bIns="0" rtlCol="0" anchor="t"/>
          <a:lstStyle/>
          <a:p>
            <a:pPr marL="0" indent="0">
              <a:buNone/>
            </a:pPr>
            <a:r>
              <a:rPr lang="en-US" sz="1600" dirty="0" err="1">
                <a:solidFill>
                  <a:schemeClr val="tx1"/>
                </a:solidFill>
              </a:rPr>
              <a:t>단기</a:t>
            </a:r>
            <a:r>
              <a:rPr lang="en-US" sz="1600" dirty="0">
                <a:solidFill>
                  <a:schemeClr val="tx1"/>
                </a:solidFill>
              </a:rPr>
              <a:t> 목표를 세우고 </a:t>
            </a:r>
            <a:r>
              <a:rPr lang="en-US" sz="1600" dirty="0" err="1">
                <a:solidFill>
                  <a:schemeClr val="tx1"/>
                </a:solidFill>
              </a:rPr>
              <a:t>함께</a:t>
            </a:r>
            <a:r>
              <a:rPr lang="en-US" sz="1600" dirty="0">
                <a:solidFill>
                  <a:schemeClr val="tx1"/>
                </a:solidFill>
              </a:rPr>
              <a:t> </a:t>
            </a:r>
            <a:r>
              <a:rPr lang="en-US" sz="1600" b="1" dirty="0" err="1">
                <a:solidFill>
                  <a:schemeClr val="tx1"/>
                </a:solidFill>
              </a:rPr>
              <a:t>달성</a:t>
            </a:r>
            <a:r>
              <a:rPr lang="en-US" sz="1600" dirty="0" err="1">
                <a:solidFill>
                  <a:schemeClr val="tx1"/>
                </a:solidFill>
              </a:rPr>
              <a:t>하기</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05  팀원과의 관계</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ko-KR" altLang="en-US" sz="3200" b="1" dirty="0">
                <a:solidFill>
                  <a:schemeClr val="tx2"/>
                </a:solidFill>
              </a:rPr>
              <a:t>돈</a:t>
            </a:r>
            <a:r>
              <a:rPr lang="en-US" altLang="ko-KR" sz="3200" b="1" dirty="0">
                <a:solidFill>
                  <a:schemeClr val="tx2"/>
                </a:solidFill>
              </a:rPr>
              <a:t>.</a:t>
            </a:r>
            <a:endParaRPr lang="en-US" sz="3200" dirty="0"/>
          </a:p>
        </p:txBody>
      </p:sp>
      <p:sp>
        <p:nvSpPr>
          <p:cNvPr id="4" name="scholarship card"/>
          <p:cNvSpPr/>
          <p:nvPr/>
        </p:nvSpPr>
        <p:spPr>
          <a:xfrm>
            <a:off x="548640" y="1783080"/>
            <a:ext cx="4846320" cy="4297680"/>
          </a:xfrm>
          <a:prstGeom prst="roundRect">
            <a:avLst>
              <a:gd name="adj" fmla="val 2553"/>
            </a:avLst>
          </a:prstGeom>
          <a:solidFill>
            <a:schemeClr val="bg2"/>
          </a:solidFill>
          <a:ln/>
        </p:spPr>
        <p:txBody>
          <a:bodyPr/>
          <a:lstStyle/>
          <a:p>
            <a:endParaRPr lang="ko-KR" altLang="en-US"/>
          </a:p>
        </p:txBody>
      </p:sp>
      <p:sp>
        <p:nvSpPr>
          <p:cNvPr id="5" name="scholarship icon circle"/>
          <p:cNvSpPr/>
          <p:nvPr/>
        </p:nvSpPr>
        <p:spPr>
          <a:xfrm>
            <a:off x="1005840" y="2240280"/>
            <a:ext cx="868680" cy="868680"/>
          </a:xfrm>
          <a:prstGeom prst="ellipse">
            <a:avLst/>
          </a:prstGeom>
          <a:solidFill>
            <a:schemeClr val="accent1"/>
          </a:solidFill>
          <a:ln/>
        </p:spPr>
        <p:txBody>
          <a:bodyPr/>
          <a:lstStyle/>
          <a:p>
            <a:endParaRPr lang="ko-KR" altLang="en-US"/>
          </a:p>
        </p:txBody>
      </p:sp>
      <p:pic>
        <p:nvPicPr>
          <p:cNvPr id="6" name="scholarship icon" descr="scholarship icon"/>
          <p:cNvPicPr>
            <a:picLocks noChangeAspect="1"/>
          </p:cNvPicPr>
          <p:nvPr/>
        </p:nvPicPr>
        <p:blipFill>
          <a:blip r:embed="rId3"/>
          <a:stretch>
            <a:fillRect/>
          </a:stretch>
        </p:blipFill>
        <p:spPr>
          <a:xfrm>
            <a:off x="1223010" y="2457450"/>
            <a:ext cx="434340" cy="434340"/>
          </a:xfrm>
          <a:prstGeom prst="rect">
            <a:avLst/>
          </a:prstGeom>
        </p:spPr>
      </p:pic>
      <p:sp>
        <p:nvSpPr>
          <p:cNvPr id="7" name="Text 4"/>
          <p:cNvSpPr txBox="1"/>
          <p:nvPr/>
        </p:nvSpPr>
        <p:spPr>
          <a:xfrm>
            <a:off x="1005840" y="3383280"/>
            <a:ext cx="3931920" cy="1280160"/>
          </a:xfrm>
          <a:prstGeom prst="rect">
            <a:avLst/>
          </a:prstGeom>
          <a:noFill/>
          <a:ln/>
        </p:spPr>
        <p:txBody>
          <a:bodyPr wrap="square" lIns="0" tIns="0" rIns="0" bIns="0" rtlCol="0" anchor="t"/>
          <a:lstStyle/>
          <a:p>
            <a:pPr marL="0" indent="0">
              <a:lnSpc>
                <a:spcPct val="110000"/>
              </a:lnSpc>
              <a:buNone/>
            </a:pPr>
            <a:r>
              <a:rPr lang="en-US" sz="2800" b="1" dirty="0">
                <a:solidFill>
                  <a:schemeClr val="tx2"/>
                </a:solidFill>
              </a:rPr>
              <a:t>장학금은</a:t>
            </a:r>
            <a:endParaRPr lang="en-US" sz="2800" dirty="0"/>
          </a:p>
          <a:p>
            <a:pPr marL="0" indent="0">
              <a:lnSpc>
                <a:spcPct val="110000"/>
              </a:lnSpc>
              <a:buNone/>
            </a:pPr>
            <a:r>
              <a:rPr lang="en-US" sz="2800" b="1" dirty="0">
                <a:solidFill>
                  <a:schemeClr val="tx2"/>
                </a:solidFill>
              </a:rPr>
              <a:t>최대한 많이 받기</a:t>
            </a:r>
            <a:endParaRPr lang="en-US" sz="2800" dirty="0"/>
          </a:p>
        </p:txBody>
      </p:sp>
      <p:sp>
        <p:nvSpPr>
          <p:cNvPr id="8" name="Text 5"/>
          <p:cNvSpPr txBox="1"/>
          <p:nvPr/>
        </p:nvSpPr>
        <p:spPr>
          <a:xfrm>
            <a:off x="1005840" y="4846320"/>
            <a:ext cx="3931920" cy="822960"/>
          </a:xfrm>
          <a:prstGeom prst="rect">
            <a:avLst/>
          </a:prstGeom>
          <a:noFill/>
          <a:ln/>
        </p:spPr>
        <p:txBody>
          <a:bodyPr wrap="square" lIns="0" tIns="0" rIns="0" bIns="0" rtlCol="0" anchor="t"/>
          <a:lstStyle/>
          <a:p>
            <a:pPr marL="0" indent="0">
              <a:buNone/>
            </a:pPr>
            <a:r>
              <a:rPr lang="en-US" sz="1600" dirty="0">
                <a:solidFill>
                  <a:schemeClr val="accent6"/>
                </a:solidFill>
              </a:rPr>
              <a:t>기업 </a:t>
            </a:r>
            <a:r>
              <a:rPr lang="en-US" sz="1600" dirty="0" err="1">
                <a:solidFill>
                  <a:schemeClr val="accent6"/>
                </a:solidFill>
              </a:rPr>
              <a:t>연계형</a:t>
            </a:r>
            <a:r>
              <a:rPr lang="en-US" sz="1600" dirty="0">
                <a:solidFill>
                  <a:schemeClr val="accent6"/>
                </a:solidFill>
              </a:rPr>
              <a:t> </a:t>
            </a:r>
            <a:r>
              <a:rPr lang="ko-KR" altLang="en-US" sz="1600" dirty="0">
                <a:solidFill>
                  <a:schemeClr val="accent6"/>
                </a:solidFill>
              </a:rPr>
              <a:t>등 </a:t>
            </a:r>
            <a:endParaRPr lang="en-US" altLang="ko-KR" sz="1600" dirty="0">
              <a:solidFill>
                <a:schemeClr val="accent6"/>
              </a:solidFill>
            </a:endParaRPr>
          </a:p>
          <a:p>
            <a:pPr marL="0" indent="0">
              <a:buNone/>
            </a:pPr>
            <a:r>
              <a:rPr lang="en-US" sz="1600" dirty="0" err="1">
                <a:solidFill>
                  <a:schemeClr val="accent6"/>
                </a:solidFill>
              </a:rPr>
              <a:t>장학금</a:t>
            </a:r>
            <a:r>
              <a:rPr lang="ko-KR" altLang="en-US" sz="1600" dirty="0">
                <a:solidFill>
                  <a:schemeClr val="accent6"/>
                </a:solidFill>
              </a:rPr>
              <a:t>을</a:t>
            </a:r>
            <a:r>
              <a:rPr lang="en-US" sz="1600" dirty="0">
                <a:solidFill>
                  <a:schemeClr val="accent6"/>
                </a:solidFill>
              </a:rPr>
              <a:t> 받을 수 있는 건 다 </a:t>
            </a:r>
            <a:r>
              <a:rPr lang="en-US" sz="1600" dirty="0" err="1">
                <a:solidFill>
                  <a:schemeClr val="accent6"/>
                </a:solidFill>
              </a:rPr>
              <a:t>챙기기</a:t>
            </a:r>
            <a:endParaRPr lang="en-US" sz="1600" dirty="0">
              <a:solidFill>
                <a:schemeClr val="accent6"/>
              </a:solidFill>
            </a:endParaRPr>
          </a:p>
          <a:p>
            <a:pPr marL="0" indent="0">
              <a:buNone/>
            </a:pPr>
            <a:endParaRPr lang="en-US" sz="1600" dirty="0">
              <a:solidFill>
                <a:schemeClr val="accent6"/>
              </a:solidFill>
            </a:endParaRPr>
          </a:p>
          <a:p>
            <a:pPr marL="0" indent="0">
              <a:buNone/>
            </a:pPr>
            <a:r>
              <a:rPr lang="ko-KR" altLang="en-US" sz="600" b="1" dirty="0"/>
              <a:t>지금 발표 </a:t>
            </a:r>
            <a:r>
              <a:rPr lang="en-US" altLang="ko-KR" sz="600" b="1" dirty="0"/>
              <a:t>10</a:t>
            </a:r>
            <a:r>
              <a:rPr lang="ko-KR" altLang="en-US" sz="600" b="1" dirty="0" err="1"/>
              <a:t>만원줌</a:t>
            </a:r>
            <a:endParaRPr lang="en-US" sz="600" b="1" dirty="0"/>
          </a:p>
        </p:txBody>
      </p:sp>
      <p:sp>
        <p:nvSpPr>
          <p:cNvPr id="9" name="money card"/>
          <p:cNvSpPr/>
          <p:nvPr/>
        </p:nvSpPr>
        <p:spPr>
          <a:xfrm>
            <a:off x="5669280" y="1783080"/>
            <a:ext cx="5973775" cy="4297680"/>
          </a:xfrm>
          <a:prstGeom prst="roundRect">
            <a:avLst>
              <a:gd name="adj" fmla="val 2553"/>
            </a:avLst>
          </a:prstGeom>
          <a:solidFill>
            <a:schemeClr val="tx2"/>
          </a:solidFill>
          <a:ln/>
        </p:spPr>
        <p:txBody>
          <a:bodyPr/>
          <a:lstStyle/>
          <a:p>
            <a:endParaRPr lang="ko-KR" altLang="en-US"/>
          </a:p>
        </p:txBody>
      </p:sp>
      <p:sp>
        <p:nvSpPr>
          <p:cNvPr id="10" name="Text 7"/>
          <p:cNvSpPr txBox="1"/>
          <p:nvPr/>
        </p:nvSpPr>
        <p:spPr>
          <a:xfrm>
            <a:off x="6126480" y="2240280"/>
            <a:ext cx="5059375" cy="365760"/>
          </a:xfrm>
          <a:prstGeom prst="rect">
            <a:avLst/>
          </a:prstGeom>
          <a:noFill/>
          <a:ln/>
        </p:spPr>
        <p:txBody>
          <a:bodyPr wrap="square" lIns="0" tIns="0" rIns="0" bIns="0" rtlCol="0" anchor="t"/>
          <a:lstStyle/>
          <a:p>
            <a:pPr marL="0" indent="0">
              <a:buNone/>
            </a:pPr>
            <a:r>
              <a:rPr lang="en-US" sz="1500" dirty="0">
                <a:solidFill>
                  <a:schemeClr val="accent3"/>
                </a:solidFill>
                <a:latin typeface="Consolas" pitchFamily="34" charset="0"/>
                <a:ea typeface="Consolas" pitchFamily="34" charset="-122"/>
                <a:cs typeface="Consolas" pitchFamily="34" charset="-120"/>
              </a:rPr>
              <a:t>// </a:t>
            </a:r>
            <a:r>
              <a:rPr lang="ko-KR" altLang="en-US" sz="1500" dirty="0">
                <a:solidFill>
                  <a:schemeClr val="accent3"/>
                </a:solidFill>
                <a:latin typeface="Consolas" pitchFamily="34" charset="0"/>
                <a:ea typeface="Consolas" pitchFamily="34" charset="-122"/>
                <a:cs typeface="Consolas" pitchFamily="34" charset="-120"/>
              </a:rPr>
              <a:t>졸작 공식</a:t>
            </a:r>
            <a:endParaRPr lang="en-US" sz="1500" dirty="0"/>
          </a:p>
        </p:txBody>
      </p:sp>
      <p:sp>
        <p:nvSpPr>
          <p:cNvPr id="11" name="Text 8"/>
          <p:cNvSpPr txBox="1"/>
          <p:nvPr/>
        </p:nvSpPr>
        <p:spPr>
          <a:xfrm>
            <a:off x="6126480" y="2971800"/>
            <a:ext cx="5059375" cy="1828800"/>
          </a:xfrm>
          <a:prstGeom prst="rect">
            <a:avLst/>
          </a:prstGeom>
          <a:noFill/>
          <a:ln/>
        </p:spPr>
        <p:txBody>
          <a:bodyPr wrap="square" lIns="0" tIns="0" rIns="0" bIns="0" rtlCol="0" anchor="ctr"/>
          <a:lstStyle/>
          <a:p>
            <a:pPr marL="0" indent="0" algn="ctr">
              <a:buNone/>
            </a:pPr>
            <a:r>
              <a:rPr lang="en-US" sz="7200" b="1" dirty="0">
                <a:solidFill>
                  <a:schemeClr val="bg1"/>
                </a:solidFill>
              </a:rPr>
              <a:t>돈 </a:t>
            </a:r>
            <a:r>
              <a:rPr lang="en-US" sz="7200" b="1" dirty="0">
                <a:solidFill>
                  <a:schemeClr val="accent1"/>
                </a:solidFill>
                <a:latin typeface="Consolas" pitchFamily="34" charset="0"/>
                <a:ea typeface="Consolas" pitchFamily="34" charset="-122"/>
                <a:cs typeface="Consolas" pitchFamily="34" charset="-120"/>
              </a:rPr>
              <a:t>==</a:t>
            </a:r>
            <a:r>
              <a:rPr lang="en-US" sz="7200" b="1" dirty="0">
                <a:solidFill>
                  <a:schemeClr val="bg1"/>
                </a:solidFill>
              </a:rPr>
              <a:t> 1</a:t>
            </a:r>
            <a:r>
              <a:rPr lang="ko-KR" altLang="en-US" sz="7200" b="1" dirty="0">
                <a:solidFill>
                  <a:schemeClr val="bg1"/>
                </a:solidFill>
              </a:rPr>
              <a:t>등</a:t>
            </a:r>
            <a:endParaRPr lang="en-US" sz="7200" dirty="0"/>
          </a:p>
        </p:txBody>
      </p:sp>
      <p:sp>
        <p:nvSpPr>
          <p:cNvPr id="12" name="Text 9"/>
          <p:cNvSpPr txBox="1"/>
          <p:nvPr/>
        </p:nvSpPr>
        <p:spPr>
          <a:xfrm>
            <a:off x="6126480" y="5074920"/>
            <a:ext cx="5059375" cy="457200"/>
          </a:xfrm>
          <a:prstGeom prst="rect">
            <a:avLst/>
          </a:prstGeom>
          <a:noFill/>
          <a:ln/>
        </p:spPr>
        <p:txBody>
          <a:bodyPr wrap="square" lIns="0" tIns="0" rIns="0" bIns="0" rtlCol="0" anchor="t"/>
          <a:lstStyle/>
          <a:p>
            <a:pPr marL="0" indent="0" algn="ctr">
              <a:buNone/>
            </a:pPr>
            <a:r>
              <a:rPr lang="ko-KR" altLang="en-US" sz="1600" dirty="0" err="1">
                <a:solidFill>
                  <a:schemeClr val="accent3"/>
                </a:solidFill>
              </a:rPr>
              <a:t>에셋</a:t>
            </a:r>
            <a:r>
              <a:rPr lang="ko-KR" altLang="en-US" sz="1600" dirty="0">
                <a:solidFill>
                  <a:schemeClr val="accent3"/>
                </a:solidFill>
              </a:rPr>
              <a:t> </a:t>
            </a:r>
            <a:r>
              <a:rPr lang="ko-KR" altLang="en-US" sz="1600" dirty="0" err="1">
                <a:solidFill>
                  <a:schemeClr val="accent3"/>
                </a:solidFill>
              </a:rPr>
              <a:t>기깔나면</a:t>
            </a:r>
            <a:r>
              <a:rPr lang="ko-KR" altLang="en-US" sz="1600" dirty="0">
                <a:solidFill>
                  <a:schemeClr val="accent3"/>
                </a:solidFill>
              </a:rPr>
              <a:t> 게임 퀄리티 올라간다</a:t>
            </a:r>
            <a:r>
              <a:rPr lang="en-US" altLang="ko-KR" sz="1600" dirty="0">
                <a:solidFill>
                  <a:schemeClr val="accent3"/>
                </a:solidFill>
              </a:rPr>
              <a:t>.</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05  팀원과의 관계</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게임 방향 정하기</a:t>
            </a:r>
            <a:endParaRPr lang="en-US" sz="3200" dirty="0"/>
          </a:p>
        </p:txBody>
      </p:sp>
      <p:sp>
        <p:nvSpPr>
          <p:cNvPr id="4" name="direction card 1"/>
          <p:cNvSpPr/>
          <p:nvPr/>
        </p:nvSpPr>
        <p:spPr>
          <a:xfrm>
            <a:off x="548640" y="1783080"/>
            <a:ext cx="5410048" cy="1737360"/>
          </a:xfrm>
          <a:prstGeom prst="roundRect">
            <a:avLst>
              <a:gd name="adj" fmla="val 6316"/>
            </a:avLst>
          </a:prstGeom>
          <a:solidFill>
            <a:schemeClr val="bg2"/>
          </a:solidFill>
          <a:ln/>
        </p:spPr>
        <p:txBody>
          <a:bodyPr/>
          <a:lstStyle/>
          <a:p>
            <a:endParaRPr lang="ko-KR" altLang="en-US"/>
          </a:p>
        </p:txBody>
      </p:sp>
      <p:sp>
        <p:nvSpPr>
          <p:cNvPr id="5" name="direction icon 1 circle"/>
          <p:cNvSpPr/>
          <p:nvPr/>
        </p:nvSpPr>
        <p:spPr>
          <a:xfrm>
            <a:off x="914400" y="2148840"/>
            <a:ext cx="685800" cy="685800"/>
          </a:xfrm>
          <a:prstGeom prst="ellipse">
            <a:avLst/>
          </a:prstGeom>
          <a:solidFill>
            <a:schemeClr val="accent2"/>
          </a:solidFill>
          <a:ln/>
        </p:spPr>
        <p:txBody>
          <a:bodyPr/>
          <a:lstStyle/>
          <a:p>
            <a:endParaRPr lang="ko-KR" altLang="en-US"/>
          </a:p>
        </p:txBody>
      </p:sp>
      <p:pic>
        <p:nvPicPr>
          <p:cNvPr id="6" name="direction icon 1" descr="direction icon 1"/>
          <p:cNvPicPr>
            <a:picLocks noChangeAspect="1"/>
          </p:cNvPicPr>
          <p:nvPr/>
        </p:nvPicPr>
        <p:blipFill>
          <a:blip r:embed="rId3"/>
          <a:stretch>
            <a:fillRect/>
          </a:stretch>
        </p:blipFill>
        <p:spPr>
          <a:xfrm>
            <a:off x="1085850" y="2320290"/>
            <a:ext cx="342900" cy="342900"/>
          </a:xfrm>
          <a:prstGeom prst="rect">
            <a:avLst/>
          </a:prstGeom>
        </p:spPr>
      </p:pic>
      <p:sp>
        <p:nvSpPr>
          <p:cNvPr id="7" name="Text 4"/>
          <p:cNvSpPr txBox="1"/>
          <p:nvPr/>
        </p:nvSpPr>
        <p:spPr>
          <a:xfrm>
            <a:off x="1828800" y="2148840"/>
            <a:ext cx="3764128" cy="411480"/>
          </a:xfrm>
          <a:prstGeom prst="rect">
            <a:avLst/>
          </a:prstGeom>
          <a:noFill/>
          <a:ln/>
        </p:spPr>
        <p:txBody>
          <a:bodyPr wrap="square" lIns="0" tIns="0" rIns="0" bIns="0" rtlCol="0" anchor="t"/>
          <a:lstStyle/>
          <a:p>
            <a:pPr marL="0" indent="0">
              <a:buNone/>
            </a:pPr>
            <a:r>
              <a:rPr lang="en-US" sz="1900" b="1" dirty="0">
                <a:solidFill>
                  <a:schemeClr val="tx2"/>
                </a:solidFill>
              </a:rPr>
              <a:t>만드는 사람이 재밌는 게임</a:t>
            </a:r>
            <a:endParaRPr lang="en-US" sz="1900" dirty="0"/>
          </a:p>
        </p:txBody>
      </p:sp>
      <p:sp>
        <p:nvSpPr>
          <p:cNvPr id="8" name="Text 5"/>
          <p:cNvSpPr txBox="1"/>
          <p:nvPr/>
        </p:nvSpPr>
        <p:spPr>
          <a:xfrm>
            <a:off x="1828800" y="2651760"/>
            <a:ext cx="3764128" cy="685800"/>
          </a:xfrm>
          <a:prstGeom prst="rect">
            <a:avLst/>
          </a:prstGeom>
          <a:noFill/>
          <a:ln/>
        </p:spPr>
        <p:txBody>
          <a:bodyPr wrap="square" lIns="0" tIns="0" rIns="0" bIns="0" rtlCol="0" anchor="t"/>
          <a:lstStyle/>
          <a:p>
            <a:pPr marL="0" indent="0">
              <a:buNone/>
            </a:pPr>
            <a:r>
              <a:rPr lang="en-US" sz="1500" dirty="0">
                <a:solidFill>
                  <a:schemeClr val="tx1"/>
                </a:solidFill>
              </a:rPr>
              <a:t>만드는 사람들이 재밌다고 느끼는 게임으로 방향 잡기</a:t>
            </a:r>
            <a:endParaRPr lang="en-US" sz="1500" dirty="0"/>
          </a:p>
        </p:txBody>
      </p:sp>
      <p:sp>
        <p:nvSpPr>
          <p:cNvPr id="9" name="direction card 2"/>
          <p:cNvSpPr/>
          <p:nvPr/>
        </p:nvSpPr>
        <p:spPr>
          <a:xfrm>
            <a:off x="6233008" y="1783080"/>
            <a:ext cx="5410048" cy="1737360"/>
          </a:xfrm>
          <a:prstGeom prst="roundRect">
            <a:avLst>
              <a:gd name="adj" fmla="val 6316"/>
            </a:avLst>
          </a:prstGeom>
          <a:solidFill>
            <a:schemeClr val="bg2"/>
          </a:solidFill>
          <a:ln/>
        </p:spPr>
        <p:txBody>
          <a:bodyPr/>
          <a:lstStyle/>
          <a:p>
            <a:endParaRPr lang="ko-KR" altLang="en-US"/>
          </a:p>
        </p:txBody>
      </p:sp>
      <p:sp>
        <p:nvSpPr>
          <p:cNvPr id="10" name="direction icon 2 circle"/>
          <p:cNvSpPr/>
          <p:nvPr/>
        </p:nvSpPr>
        <p:spPr>
          <a:xfrm>
            <a:off x="6598768" y="2148840"/>
            <a:ext cx="685800" cy="685800"/>
          </a:xfrm>
          <a:prstGeom prst="ellipse">
            <a:avLst/>
          </a:prstGeom>
          <a:solidFill>
            <a:schemeClr val="accent2"/>
          </a:solidFill>
          <a:ln/>
        </p:spPr>
        <p:txBody>
          <a:bodyPr/>
          <a:lstStyle/>
          <a:p>
            <a:endParaRPr lang="ko-KR" altLang="en-US"/>
          </a:p>
        </p:txBody>
      </p:sp>
      <p:pic>
        <p:nvPicPr>
          <p:cNvPr id="11" name="direction icon 2" descr="direction icon 2"/>
          <p:cNvPicPr>
            <a:picLocks noChangeAspect="1"/>
          </p:cNvPicPr>
          <p:nvPr/>
        </p:nvPicPr>
        <p:blipFill>
          <a:blip r:embed="rId4"/>
          <a:stretch>
            <a:fillRect/>
          </a:stretch>
        </p:blipFill>
        <p:spPr>
          <a:xfrm>
            <a:off x="6770218" y="2320290"/>
            <a:ext cx="342900" cy="342900"/>
          </a:xfrm>
          <a:prstGeom prst="rect">
            <a:avLst/>
          </a:prstGeom>
        </p:spPr>
      </p:pic>
      <p:sp>
        <p:nvSpPr>
          <p:cNvPr id="12" name="Text 8"/>
          <p:cNvSpPr txBox="1"/>
          <p:nvPr/>
        </p:nvSpPr>
        <p:spPr>
          <a:xfrm>
            <a:off x="7513168" y="2148840"/>
            <a:ext cx="3764128" cy="411480"/>
          </a:xfrm>
          <a:prstGeom prst="rect">
            <a:avLst/>
          </a:prstGeom>
          <a:noFill/>
          <a:ln/>
        </p:spPr>
        <p:txBody>
          <a:bodyPr wrap="square" lIns="0" tIns="0" rIns="0" bIns="0" rtlCol="0" anchor="t"/>
          <a:lstStyle/>
          <a:p>
            <a:pPr marL="0" indent="0">
              <a:buNone/>
            </a:pPr>
            <a:r>
              <a:rPr lang="en-US" sz="1900" b="1" dirty="0">
                <a:solidFill>
                  <a:schemeClr val="tx2"/>
                </a:solidFill>
              </a:rPr>
              <a:t>범위는 연구과제 기준으로</a:t>
            </a:r>
            <a:endParaRPr lang="en-US" sz="1900" dirty="0"/>
          </a:p>
        </p:txBody>
      </p:sp>
      <p:sp>
        <p:nvSpPr>
          <p:cNvPr id="13" name="Text 9"/>
          <p:cNvSpPr txBox="1"/>
          <p:nvPr/>
        </p:nvSpPr>
        <p:spPr>
          <a:xfrm>
            <a:off x="7513168" y="2651760"/>
            <a:ext cx="3764128" cy="685800"/>
          </a:xfrm>
          <a:prstGeom prst="rect">
            <a:avLst/>
          </a:prstGeom>
          <a:noFill/>
          <a:ln/>
        </p:spPr>
        <p:txBody>
          <a:bodyPr wrap="square" lIns="0" tIns="0" rIns="0" bIns="0" rtlCol="0" anchor="t"/>
          <a:lstStyle/>
          <a:p>
            <a:pPr marL="0" indent="0">
              <a:buNone/>
            </a:pPr>
            <a:r>
              <a:rPr lang="en-US" sz="1500" dirty="0" err="1">
                <a:solidFill>
                  <a:schemeClr val="tx1"/>
                </a:solidFill>
              </a:rPr>
              <a:t>연구과제</a:t>
            </a:r>
            <a:r>
              <a:rPr lang="ko-KR" altLang="en-US" sz="1500" dirty="0">
                <a:solidFill>
                  <a:schemeClr val="tx1"/>
                </a:solidFill>
              </a:rPr>
              <a:t>는</a:t>
            </a:r>
            <a:r>
              <a:rPr lang="en-US" sz="1500" dirty="0">
                <a:solidFill>
                  <a:schemeClr val="tx1"/>
                </a:solidFill>
              </a:rPr>
              <a:t> 게임에 </a:t>
            </a:r>
            <a:r>
              <a:rPr lang="en-US" sz="1500" dirty="0" err="1">
                <a:solidFill>
                  <a:schemeClr val="tx1"/>
                </a:solidFill>
              </a:rPr>
              <a:t>필요한</a:t>
            </a:r>
            <a:r>
              <a:rPr lang="en-US" sz="1500" dirty="0">
                <a:solidFill>
                  <a:schemeClr val="tx1"/>
                </a:solidFill>
              </a:rPr>
              <a:t> </a:t>
            </a:r>
            <a:r>
              <a:rPr lang="en-US" sz="1500" dirty="0" err="1">
                <a:solidFill>
                  <a:schemeClr val="tx1"/>
                </a:solidFill>
              </a:rPr>
              <a:t>기능으로</a:t>
            </a:r>
            <a:r>
              <a:rPr lang="en-US" sz="1500" dirty="0">
                <a:solidFill>
                  <a:schemeClr val="tx1"/>
                </a:solidFill>
              </a:rPr>
              <a:t> 정하기</a:t>
            </a:r>
            <a:endParaRPr lang="en-US" sz="1500" dirty="0"/>
          </a:p>
        </p:txBody>
      </p:sp>
      <p:sp>
        <p:nvSpPr>
          <p:cNvPr id="14" name="equation 졸작"/>
          <p:cNvSpPr/>
          <p:nvPr/>
        </p:nvSpPr>
        <p:spPr>
          <a:xfrm>
            <a:off x="548640" y="3931920"/>
            <a:ext cx="2651760" cy="2148840"/>
          </a:xfrm>
          <a:prstGeom prst="roundRect">
            <a:avLst>
              <a:gd name="adj" fmla="val 5106"/>
            </a:avLst>
          </a:prstGeom>
          <a:solidFill>
            <a:schemeClr val="tx2"/>
          </a:solidFill>
          <a:ln/>
        </p:spPr>
        <p:txBody>
          <a:bodyPr/>
          <a:lstStyle/>
          <a:p>
            <a:endParaRPr lang="ko-KR" altLang="en-US"/>
          </a:p>
        </p:txBody>
      </p:sp>
      <p:sp>
        <p:nvSpPr>
          <p:cNvPr id="15" name="Text 11"/>
          <p:cNvSpPr txBox="1"/>
          <p:nvPr/>
        </p:nvSpPr>
        <p:spPr>
          <a:xfrm>
            <a:off x="548640" y="3931920"/>
            <a:ext cx="2651760" cy="2148840"/>
          </a:xfrm>
          <a:prstGeom prst="rect">
            <a:avLst/>
          </a:prstGeom>
          <a:noFill/>
          <a:ln/>
        </p:spPr>
        <p:txBody>
          <a:bodyPr wrap="square" lIns="0" tIns="0" rIns="0" bIns="0" rtlCol="0" anchor="ctr"/>
          <a:lstStyle/>
          <a:p>
            <a:pPr marL="0" indent="0" algn="ctr">
              <a:buNone/>
            </a:pPr>
            <a:r>
              <a:rPr lang="en-US" sz="4800" b="1" dirty="0">
                <a:solidFill>
                  <a:schemeClr val="bg1"/>
                </a:solidFill>
              </a:rPr>
              <a:t>졸작</a:t>
            </a:r>
            <a:endParaRPr lang="en-US" sz="4800" dirty="0"/>
          </a:p>
        </p:txBody>
      </p:sp>
      <p:sp>
        <p:nvSpPr>
          <p:cNvPr id="16" name="Text 12"/>
          <p:cNvSpPr txBox="1"/>
          <p:nvPr/>
        </p:nvSpPr>
        <p:spPr>
          <a:xfrm>
            <a:off x="3200400" y="3931920"/>
            <a:ext cx="822960" cy="2148840"/>
          </a:xfrm>
          <a:prstGeom prst="rect">
            <a:avLst/>
          </a:prstGeom>
          <a:noFill/>
          <a:ln/>
        </p:spPr>
        <p:txBody>
          <a:bodyPr wrap="square" lIns="0" tIns="0" rIns="0" bIns="0" rtlCol="0" anchor="ctr"/>
          <a:lstStyle/>
          <a:p>
            <a:pPr marL="0" indent="0" algn="ctr">
              <a:buNone/>
            </a:pPr>
            <a:r>
              <a:rPr lang="en-US" sz="4800" b="1" dirty="0">
                <a:solidFill>
                  <a:schemeClr val="tx2"/>
                </a:solidFill>
              </a:rPr>
              <a:t>=</a:t>
            </a:r>
            <a:endParaRPr lang="en-US" sz="4800" dirty="0"/>
          </a:p>
        </p:txBody>
      </p:sp>
      <p:sp>
        <p:nvSpPr>
          <p:cNvPr id="17" name="equation 연구과제"/>
          <p:cNvSpPr/>
          <p:nvPr/>
        </p:nvSpPr>
        <p:spPr>
          <a:xfrm>
            <a:off x="4023360" y="3931920"/>
            <a:ext cx="3749040" cy="2148840"/>
          </a:xfrm>
          <a:prstGeom prst="roundRect">
            <a:avLst>
              <a:gd name="adj" fmla="val 5106"/>
            </a:avLst>
          </a:prstGeom>
          <a:solidFill>
            <a:schemeClr val="bg2"/>
          </a:solidFill>
          <a:ln/>
        </p:spPr>
        <p:txBody>
          <a:bodyPr/>
          <a:lstStyle/>
          <a:p>
            <a:endParaRPr lang="ko-KR" altLang="en-US"/>
          </a:p>
        </p:txBody>
      </p:sp>
      <p:sp>
        <p:nvSpPr>
          <p:cNvPr id="18" name="Text 14"/>
          <p:cNvSpPr txBox="1"/>
          <p:nvPr/>
        </p:nvSpPr>
        <p:spPr>
          <a:xfrm>
            <a:off x="4023360" y="3931920"/>
            <a:ext cx="3749040" cy="2148840"/>
          </a:xfrm>
          <a:prstGeom prst="rect">
            <a:avLst/>
          </a:prstGeom>
          <a:noFill/>
          <a:ln/>
        </p:spPr>
        <p:txBody>
          <a:bodyPr wrap="square" lIns="0" tIns="0" rIns="0" bIns="0" rtlCol="0" anchor="ctr"/>
          <a:lstStyle/>
          <a:p>
            <a:pPr marL="0" indent="0" algn="ctr">
              <a:buNone/>
            </a:pPr>
            <a:r>
              <a:rPr lang="en-US" sz="4800" b="1" dirty="0">
                <a:solidFill>
                  <a:schemeClr val="tx2"/>
                </a:solidFill>
              </a:rPr>
              <a:t>연구과제</a:t>
            </a:r>
            <a:endParaRPr lang="en-US" sz="4800" dirty="0"/>
          </a:p>
        </p:txBody>
      </p:sp>
      <p:sp>
        <p:nvSpPr>
          <p:cNvPr id="19" name="Text 15"/>
          <p:cNvSpPr txBox="1"/>
          <p:nvPr/>
        </p:nvSpPr>
        <p:spPr>
          <a:xfrm>
            <a:off x="7772400" y="3931920"/>
            <a:ext cx="822960" cy="2148840"/>
          </a:xfrm>
          <a:prstGeom prst="rect">
            <a:avLst/>
          </a:prstGeom>
          <a:noFill/>
          <a:ln/>
        </p:spPr>
        <p:txBody>
          <a:bodyPr wrap="square" lIns="0" tIns="0" rIns="0" bIns="0" rtlCol="0" anchor="ctr"/>
          <a:lstStyle/>
          <a:p>
            <a:pPr marL="0" indent="0" algn="ctr">
              <a:buNone/>
            </a:pPr>
            <a:r>
              <a:rPr lang="en-US" sz="4800" b="1" dirty="0">
                <a:solidFill>
                  <a:schemeClr val="tx2"/>
                </a:solidFill>
              </a:rPr>
              <a:t>+</a:t>
            </a:r>
            <a:endParaRPr lang="en-US" sz="4800" dirty="0"/>
          </a:p>
        </p:txBody>
      </p:sp>
      <p:sp>
        <p:nvSpPr>
          <p:cNvPr id="20" name="equation α"/>
          <p:cNvSpPr/>
          <p:nvPr/>
        </p:nvSpPr>
        <p:spPr>
          <a:xfrm>
            <a:off x="8595360" y="3931920"/>
            <a:ext cx="3044952" cy="2148840"/>
          </a:xfrm>
          <a:prstGeom prst="roundRect">
            <a:avLst>
              <a:gd name="adj" fmla="val 5106"/>
            </a:avLst>
          </a:prstGeom>
          <a:solidFill>
            <a:schemeClr val="accent1"/>
          </a:solidFill>
          <a:ln/>
        </p:spPr>
        <p:txBody>
          <a:bodyPr/>
          <a:lstStyle/>
          <a:p>
            <a:endParaRPr lang="ko-KR" altLang="en-US"/>
          </a:p>
        </p:txBody>
      </p:sp>
      <p:sp>
        <p:nvSpPr>
          <p:cNvPr id="21" name="Text 17"/>
          <p:cNvSpPr txBox="1"/>
          <p:nvPr/>
        </p:nvSpPr>
        <p:spPr>
          <a:xfrm>
            <a:off x="8595360" y="3931920"/>
            <a:ext cx="3044952" cy="2148840"/>
          </a:xfrm>
          <a:prstGeom prst="rect">
            <a:avLst/>
          </a:prstGeom>
          <a:noFill/>
          <a:ln/>
        </p:spPr>
        <p:txBody>
          <a:bodyPr wrap="square" lIns="0" tIns="0" rIns="0" bIns="0" rtlCol="0" anchor="ctr"/>
          <a:lstStyle/>
          <a:p>
            <a:pPr marL="0" indent="0" algn="ctr">
              <a:buNone/>
            </a:pPr>
            <a:r>
              <a:rPr lang="en-US" sz="4800" b="1" dirty="0">
                <a:solidFill>
                  <a:schemeClr val="bg1"/>
                </a:solidFill>
              </a:rPr>
              <a:t>α</a:t>
            </a:r>
            <a:endParaRPr lang="en-US" sz="4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3657600" cy="1188720"/>
          </a:xfrm>
          <a:prstGeom prst="rect">
            <a:avLst/>
          </a:prstGeom>
          <a:noFill/>
          <a:ln/>
        </p:spPr>
        <p:txBody>
          <a:bodyPr wrap="square" lIns="0" tIns="0" rIns="0" bIns="0" rtlCol="0"/>
          <a:lstStyle/>
          <a:p>
            <a:pPr marL="0" indent="0">
              <a:buNone/>
            </a:pPr>
            <a:r>
              <a:rPr lang="en-US" sz="8000" b="1" dirty="0">
                <a:solidFill>
                  <a:schemeClr val="accent1"/>
                </a:solidFill>
              </a:rPr>
              <a:t>06</a:t>
            </a:r>
            <a:endParaRPr lang="en-US" sz="8000" dirty="0"/>
          </a:p>
        </p:txBody>
      </p:sp>
      <p:sp>
        <p:nvSpPr>
          <p:cNvPr id="3" name="Text 0"/>
          <p:cNvSpPr>
            <a:spLocks noGrp="1"/>
          </p:cNvSpPr>
          <p:nvPr>
            <p:ph type="title" idx="101" hasCustomPrompt="1"/>
          </p:nvPr>
        </p:nvSpPr>
        <p:spPr>
          <a:xfrm>
            <a:off x="548640" y="3063240"/>
            <a:ext cx="10058400" cy="914400"/>
          </a:xfrm>
          <a:prstGeom prst="rect">
            <a:avLst/>
          </a:prstGeom>
          <a:noFill/>
          <a:ln/>
        </p:spPr>
        <p:txBody>
          <a:bodyPr wrap="square" lIns="0" tIns="0" rIns="0" bIns="0" rtlCol="0"/>
          <a:lstStyle/>
          <a:p>
            <a:pPr marL="0" indent="0" algn="l">
              <a:buNone/>
            </a:pPr>
            <a:r>
              <a:rPr lang="en-US" sz="4400" b="1" dirty="0">
                <a:solidFill>
                  <a:schemeClr val="bg1"/>
                </a:solidFill>
              </a:rPr>
              <a:t>기타</a:t>
            </a:r>
            <a:endParaRPr lang="en-US" sz="4400" dirty="0"/>
          </a:p>
        </p:txBody>
      </p:sp>
      <p:sp>
        <p:nvSpPr>
          <p:cNvPr id="4" name="Text 0"/>
          <p:cNvSpPr>
            <a:spLocks noGrp="1"/>
          </p:cNvSpPr>
          <p:nvPr>
            <p:ph type="body" idx="102" hasCustomPrompt="1"/>
          </p:nvPr>
        </p:nvSpPr>
        <p:spPr>
          <a:xfrm>
            <a:off x="548640" y="4069080"/>
            <a:ext cx="10058400" cy="548640"/>
          </a:xfrm>
          <a:prstGeom prst="rect">
            <a:avLst/>
          </a:prstGeom>
          <a:noFill/>
          <a:ln/>
        </p:spPr>
        <p:txBody>
          <a:bodyPr wrap="square" lIns="0" tIns="0" rIns="0" bIns="0" rtlCol="0"/>
          <a:lstStyle/>
          <a:p>
            <a:pPr marL="0" indent="0">
              <a:buNone/>
            </a:pPr>
            <a:r>
              <a:rPr lang="en-US" sz="2000" dirty="0">
                <a:solidFill>
                  <a:schemeClr val="accent3"/>
                </a:solidFill>
              </a:rPr>
              <a:t>끝까지 버티려면 몸부터 챙기자</a:t>
            </a:r>
            <a:endParaRPr lang="en-US" sz="20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7315200" cy="320040"/>
          </a:xfrm>
          <a:prstGeom prst="rect">
            <a:avLst/>
          </a:prstGeom>
          <a:noFill/>
          <a:ln/>
        </p:spPr>
        <p:txBody>
          <a:bodyPr wrap="square" lIns="0" tIns="0" rIns="0" bIns="0" rtlCol="0"/>
          <a:lstStyle/>
          <a:p>
            <a:pPr marL="0" indent="0">
              <a:buNone/>
            </a:pPr>
            <a:r>
              <a:rPr lang="en-US" sz="1300" b="1" dirty="0">
                <a:solidFill>
                  <a:schemeClr val="accent1"/>
                </a:solidFill>
              </a:rPr>
              <a:t>06  기타</a:t>
            </a:r>
            <a:endParaRPr lang="en-US" sz="1300" dirty="0"/>
          </a:p>
        </p:txBody>
      </p:sp>
      <p:sp>
        <p:nvSpPr>
          <p:cNvPr id="3" name="Text 0"/>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2"/>
                </a:solidFill>
              </a:rPr>
              <a:t>오래 버티는 개발 습관</a:t>
            </a:r>
            <a:endParaRPr lang="en-US" sz="3200" dirty="0"/>
          </a:p>
        </p:txBody>
      </p:sp>
      <p:sp>
        <p:nvSpPr>
          <p:cNvPr id="4" name="habit card"/>
          <p:cNvSpPr/>
          <p:nvPr/>
        </p:nvSpPr>
        <p:spPr>
          <a:xfrm>
            <a:off x="548640" y="1783080"/>
            <a:ext cx="5669280" cy="4297680"/>
          </a:xfrm>
          <a:prstGeom prst="roundRect">
            <a:avLst>
              <a:gd name="adj" fmla="val 2553"/>
            </a:avLst>
          </a:prstGeom>
          <a:solidFill>
            <a:schemeClr val="tx2"/>
          </a:solidFill>
          <a:ln/>
        </p:spPr>
        <p:txBody>
          <a:bodyPr/>
          <a:lstStyle/>
          <a:p>
            <a:endParaRPr lang="ko-KR" altLang="en-US"/>
          </a:p>
        </p:txBody>
      </p:sp>
      <p:sp>
        <p:nvSpPr>
          <p:cNvPr id="5" name="habit icon circle"/>
          <p:cNvSpPr/>
          <p:nvPr/>
        </p:nvSpPr>
        <p:spPr>
          <a:xfrm>
            <a:off x="1005840" y="2240280"/>
            <a:ext cx="731520" cy="731520"/>
          </a:xfrm>
          <a:prstGeom prst="ellipse">
            <a:avLst/>
          </a:prstGeom>
          <a:solidFill>
            <a:schemeClr val="accent1"/>
          </a:solidFill>
          <a:ln/>
        </p:spPr>
        <p:txBody>
          <a:bodyPr/>
          <a:lstStyle/>
          <a:p>
            <a:endParaRPr lang="ko-KR" altLang="en-US"/>
          </a:p>
        </p:txBody>
      </p:sp>
      <p:pic>
        <p:nvPicPr>
          <p:cNvPr id="6" name="habit icon" descr="habit icon"/>
          <p:cNvPicPr>
            <a:picLocks noChangeAspect="1"/>
          </p:cNvPicPr>
          <p:nvPr/>
        </p:nvPicPr>
        <p:blipFill>
          <a:blip r:embed="rId3"/>
          <a:stretch>
            <a:fillRect/>
          </a:stretch>
        </p:blipFill>
        <p:spPr>
          <a:xfrm>
            <a:off x="1188720" y="2423160"/>
            <a:ext cx="365760" cy="365760"/>
          </a:xfrm>
          <a:prstGeom prst="rect">
            <a:avLst/>
          </a:prstGeom>
        </p:spPr>
      </p:pic>
      <p:sp>
        <p:nvSpPr>
          <p:cNvPr id="7" name="Text 4"/>
          <p:cNvSpPr txBox="1"/>
          <p:nvPr/>
        </p:nvSpPr>
        <p:spPr>
          <a:xfrm>
            <a:off x="1005840" y="3108960"/>
            <a:ext cx="4754880" cy="1280160"/>
          </a:xfrm>
          <a:prstGeom prst="rect">
            <a:avLst/>
          </a:prstGeom>
          <a:noFill/>
          <a:ln/>
        </p:spPr>
        <p:txBody>
          <a:bodyPr wrap="square" lIns="0" tIns="0" rIns="0" bIns="0" rtlCol="0" anchor="b"/>
          <a:lstStyle/>
          <a:p>
            <a:pPr marL="0" indent="0">
              <a:buNone/>
            </a:pPr>
            <a:r>
              <a:rPr lang="en-US" sz="8800" b="1" dirty="0">
                <a:solidFill>
                  <a:schemeClr val="accent1"/>
                </a:solidFill>
              </a:rPr>
              <a:t>60</a:t>
            </a:r>
            <a:r>
              <a:rPr lang="en-US" sz="3000" b="1" dirty="0">
                <a:solidFill>
                  <a:schemeClr val="bg1"/>
                </a:solidFill>
              </a:rPr>
              <a:t> 분 코딩</a:t>
            </a:r>
            <a:endParaRPr lang="en-US" sz="8800" dirty="0"/>
          </a:p>
        </p:txBody>
      </p:sp>
      <p:sp>
        <p:nvSpPr>
          <p:cNvPr id="8" name="Text 5"/>
          <p:cNvSpPr txBox="1"/>
          <p:nvPr/>
        </p:nvSpPr>
        <p:spPr>
          <a:xfrm>
            <a:off x="1005840" y="4480560"/>
            <a:ext cx="4754880" cy="1280160"/>
          </a:xfrm>
          <a:prstGeom prst="rect">
            <a:avLst/>
          </a:prstGeom>
          <a:noFill/>
          <a:ln/>
        </p:spPr>
        <p:txBody>
          <a:bodyPr wrap="square" lIns="0" tIns="0" rIns="0" bIns="0" rtlCol="0" anchor="b"/>
          <a:lstStyle/>
          <a:p>
            <a:pPr marL="0" indent="0">
              <a:buNone/>
            </a:pPr>
            <a:r>
              <a:rPr lang="en-US" sz="8800" b="1" dirty="0">
                <a:solidFill>
                  <a:schemeClr val="accent1"/>
                </a:solidFill>
              </a:rPr>
              <a:t>1</a:t>
            </a:r>
            <a:r>
              <a:rPr lang="en-US" sz="3000" b="1" dirty="0">
                <a:solidFill>
                  <a:schemeClr val="bg1"/>
                </a:solidFill>
              </a:rPr>
              <a:t> 번 스트레칭</a:t>
            </a:r>
            <a:endParaRPr lang="en-US" sz="8800" dirty="0"/>
          </a:p>
        </p:txBody>
      </p:sp>
      <p:sp>
        <p:nvSpPr>
          <p:cNvPr id="9" name="gear card 1"/>
          <p:cNvSpPr/>
          <p:nvPr/>
        </p:nvSpPr>
        <p:spPr>
          <a:xfrm>
            <a:off x="6492240" y="1783080"/>
            <a:ext cx="5150815" cy="2011680"/>
          </a:xfrm>
          <a:prstGeom prst="roundRect">
            <a:avLst>
              <a:gd name="adj" fmla="val 5455"/>
            </a:avLst>
          </a:prstGeom>
          <a:solidFill>
            <a:schemeClr val="bg2"/>
          </a:solidFill>
          <a:ln/>
        </p:spPr>
        <p:txBody>
          <a:bodyPr/>
          <a:lstStyle/>
          <a:p>
            <a:endParaRPr lang="ko-KR" altLang="en-US"/>
          </a:p>
        </p:txBody>
      </p:sp>
      <p:sp>
        <p:nvSpPr>
          <p:cNvPr id="10" name="gear icon 1 circle"/>
          <p:cNvSpPr/>
          <p:nvPr/>
        </p:nvSpPr>
        <p:spPr>
          <a:xfrm>
            <a:off x="6903720" y="2400300"/>
            <a:ext cx="777240" cy="777240"/>
          </a:xfrm>
          <a:prstGeom prst="ellipse">
            <a:avLst/>
          </a:prstGeom>
          <a:solidFill>
            <a:schemeClr val="accent2"/>
          </a:solidFill>
          <a:ln/>
        </p:spPr>
        <p:txBody>
          <a:bodyPr/>
          <a:lstStyle/>
          <a:p>
            <a:endParaRPr lang="ko-KR" altLang="en-US"/>
          </a:p>
        </p:txBody>
      </p:sp>
      <p:pic>
        <p:nvPicPr>
          <p:cNvPr id="11" name="gear icon 1" descr="gear icon 1"/>
          <p:cNvPicPr>
            <a:picLocks noChangeAspect="1"/>
          </p:cNvPicPr>
          <p:nvPr/>
        </p:nvPicPr>
        <p:blipFill>
          <a:blip r:embed="rId4"/>
          <a:stretch>
            <a:fillRect/>
          </a:stretch>
        </p:blipFill>
        <p:spPr>
          <a:xfrm>
            <a:off x="7098030" y="2594610"/>
            <a:ext cx="388620" cy="388620"/>
          </a:xfrm>
          <a:prstGeom prst="rect">
            <a:avLst/>
          </a:prstGeom>
        </p:spPr>
      </p:pic>
      <p:sp>
        <p:nvSpPr>
          <p:cNvPr id="12" name="Text 8"/>
          <p:cNvSpPr txBox="1"/>
          <p:nvPr/>
        </p:nvSpPr>
        <p:spPr>
          <a:xfrm>
            <a:off x="7955280" y="2240280"/>
            <a:ext cx="3322015" cy="320040"/>
          </a:xfrm>
          <a:prstGeom prst="rect">
            <a:avLst/>
          </a:prstGeom>
          <a:noFill/>
          <a:ln/>
        </p:spPr>
        <p:txBody>
          <a:bodyPr wrap="square" lIns="0" tIns="0" rIns="0" bIns="0" rtlCol="0" anchor="t"/>
          <a:lstStyle/>
          <a:p>
            <a:pPr marL="0" indent="0">
              <a:buNone/>
            </a:pPr>
            <a:r>
              <a:rPr lang="en-US" sz="1300" b="1" dirty="0">
                <a:solidFill>
                  <a:schemeClr val="accent1"/>
                </a:solidFill>
              </a:rPr>
              <a:t>추천</a:t>
            </a:r>
            <a:endParaRPr lang="en-US" sz="1300" dirty="0"/>
          </a:p>
        </p:txBody>
      </p:sp>
      <p:sp>
        <p:nvSpPr>
          <p:cNvPr id="13" name="Text 9"/>
          <p:cNvSpPr txBox="1"/>
          <p:nvPr/>
        </p:nvSpPr>
        <p:spPr>
          <a:xfrm>
            <a:off x="7955280" y="2560320"/>
            <a:ext cx="3322015" cy="457200"/>
          </a:xfrm>
          <a:prstGeom prst="rect">
            <a:avLst/>
          </a:prstGeom>
          <a:noFill/>
          <a:ln/>
        </p:spPr>
        <p:txBody>
          <a:bodyPr wrap="square" lIns="0" tIns="0" rIns="0" bIns="0" rtlCol="0" anchor="t"/>
          <a:lstStyle/>
          <a:p>
            <a:pPr marL="0" indent="0">
              <a:buNone/>
            </a:pPr>
            <a:r>
              <a:rPr lang="en-US" sz="2100" b="1" dirty="0">
                <a:solidFill>
                  <a:schemeClr val="tx2"/>
                </a:solidFill>
              </a:rPr>
              <a:t>버티컬 마우스</a:t>
            </a:r>
            <a:endParaRPr lang="en-US" sz="2100" dirty="0"/>
          </a:p>
        </p:txBody>
      </p:sp>
      <p:sp>
        <p:nvSpPr>
          <p:cNvPr id="14" name="Text 10"/>
          <p:cNvSpPr txBox="1"/>
          <p:nvPr/>
        </p:nvSpPr>
        <p:spPr>
          <a:xfrm>
            <a:off x="7955280" y="3017520"/>
            <a:ext cx="3322015" cy="365760"/>
          </a:xfrm>
          <a:prstGeom prst="rect">
            <a:avLst/>
          </a:prstGeom>
          <a:noFill/>
          <a:ln/>
        </p:spPr>
        <p:txBody>
          <a:bodyPr wrap="square" lIns="0" tIns="0" rIns="0" bIns="0" rtlCol="0" anchor="t"/>
          <a:lstStyle/>
          <a:p>
            <a:pPr marL="0" indent="0">
              <a:buNone/>
            </a:pPr>
            <a:r>
              <a:rPr lang="en-US" sz="1500" dirty="0">
                <a:solidFill>
                  <a:schemeClr val="accent6"/>
                </a:solidFill>
              </a:rPr>
              <a:t>손목 부담 줄이기</a:t>
            </a:r>
            <a:endParaRPr lang="en-US" sz="1500" dirty="0"/>
          </a:p>
        </p:txBody>
      </p:sp>
      <p:sp>
        <p:nvSpPr>
          <p:cNvPr id="15" name="gear card 2"/>
          <p:cNvSpPr/>
          <p:nvPr/>
        </p:nvSpPr>
        <p:spPr>
          <a:xfrm>
            <a:off x="6492240" y="4069080"/>
            <a:ext cx="5150815" cy="2011680"/>
          </a:xfrm>
          <a:prstGeom prst="roundRect">
            <a:avLst>
              <a:gd name="adj" fmla="val 5455"/>
            </a:avLst>
          </a:prstGeom>
          <a:solidFill>
            <a:schemeClr val="bg2"/>
          </a:solidFill>
          <a:ln/>
        </p:spPr>
        <p:txBody>
          <a:bodyPr/>
          <a:lstStyle/>
          <a:p>
            <a:endParaRPr lang="ko-KR" altLang="en-US"/>
          </a:p>
        </p:txBody>
      </p:sp>
      <p:sp>
        <p:nvSpPr>
          <p:cNvPr id="16" name="gear icon 2 circle"/>
          <p:cNvSpPr/>
          <p:nvPr/>
        </p:nvSpPr>
        <p:spPr>
          <a:xfrm>
            <a:off x="6903720" y="4686300"/>
            <a:ext cx="777240" cy="777240"/>
          </a:xfrm>
          <a:prstGeom prst="ellipse">
            <a:avLst/>
          </a:prstGeom>
          <a:solidFill>
            <a:schemeClr val="accent2"/>
          </a:solidFill>
          <a:ln/>
        </p:spPr>
        <p:txBody>
          <a:bodyPr/>
          <a:lstStyle/>
          <a:p>
            <a:endParaRPr lang="ko-KR" altLang="en-US"/>
          </a:p>
        </p:txBody>
      </p:sp>
      <p:pic>
        <p:nvPicPr>
          <p:cNvPr id="17" name="gear icon 2" descr="gear icon 2"/>
          <p:cNvPicPr>
            <a:picLocks noChangeAspect="1"/>
          </p:cNvPicPr>
          <p:nvPr/>
        </p:nvPicPr>
        <p:blipFill>
          <a:blip r:embed="rId5"/>
          <a:stretch>
            <a:fillRect/>
          </a:stretch>
        </p:blipFill>
        <p:spPr>
          <a:xfrm>
            <a:off x="7098030" y="4880610"/>
            <a:ext cx="388620" cy="388620"/>
          </a:xfrm>
          <a:prstGeom prst="rect">
            <a:avLst/>
          </a:prstGeom>
        </p:spPr>
      </p:pic>
      <p:sp>
        <p:nvSpPr>
          <p:cNvPr id="18" name="Text 13"/>
          <p:cNvSpPr txBox="1"/>
          <p:nvPr/>
        </p:nvSpPr>
        <p:spPr>
          <a:xfrm>
            <a:off x="7955280" y="4526280"/>
            <a:ext cx="3322015" cy="320040"/>
          </a:xfrm>
          <a:prstGeom prst="rect">
            <a:avLst/>
          </a:prstGeom>
          <a:noFill/>
          <a:ln/>
        </p:spPr>
        <p:txBody>
          <a:bodyPr wrap="square" lIns="0" tIns="0" rIns="0" bIns="0" rtlCol="0" anchor="t"/>
          <a:lstStyle/>
          <a:p>
            <a:pPr marL="0" indent="0">
              <a:buNone/>
            </a:pPr>
            <a:r>
              <a:rPr lang="en-US" sz="1300" b="1" dirty="0">
                <a:solidFill>
                  <a:schemeClr val="accent1"/>
                </a:solidFill>
              </a:rPr>
              <a:t>추천</a:t>
            </a:r>
            <a:endParaRPr lang="en-US" sz="1300" dirty="0"/>
          </a:p>
        </p:txBody>
      </p:sp>
      <p:sp>
        <p:nvSpPr>
          <p:cNvPr id="19" name="Text 14"/>
          <p:cNvSpPr txBox="1"/>
          <p:nvPr/>
        </p:nvSpPr>
        <p:spPr>
          <a:xfrm>
            <a:off x="7955280" y="4846320"/>
            <a:ext cx="3322015" cy="457200"/>
          </a:xfrm>
          <a:prstGeom prst="rect">
            <a:avLst/>
          </a:prstGeom>
          <a:noFill/>
          <a:ln/>
        </p:spPr>
        <p:txBody>
          <a:bodyPr wrap="square" lIns="0" tIns="0" rIns="0" bIns="0" rtlCol="0" anchor="t"/>
          <a:lstStyle/>
          <a:p>
            <a:pPr marL="0" indent="0">
              <a:buNone/>
            </a:pPr>
            <a:r>
              <a:rPr lang="en-US" sz="2100" b="1" dirty="0">
                <a:solidFill>
                  <a:schemeClr val="tx2"/>
                </a:solidFill>
              </a:rPr>
              <a:t>인체공학 키보드</a:t>
            </a:r>
            <a:endParaRPr lang="en-US" sz="2100" dirty="0"/>
          </a:p>
        </p:txBody>
      </p:sp>
      <p:sp>
        <p:nvSpPr>
          <p:cNvPr id="20" name="Text 15"/>
          <p:cNvSpPr txBox="1"/>
          <p:nvPr/>
        </p:nvSpPr>
        <p:spPr>
          <a:xfrm>
            <a:off x="7955280" y="5303520"/>
            <a:ext cx="3322015" cy="365760"/>
          </a:xfrm>
          <a:prstGeom prst="rect">
            <a:avLst/>
          </a:prstGeom>
          <a:noFill/>
          <a:ln/>
        </p:spPr>
        <p:txBody>
          <a:bodyPr wrap="square" lIns="0" tIns="0" rIns="0" bIns="0" rtlCol="0" anchor="t"/>
          <a:lstStyle/>
          <a:p>
            <a:pPr marL="0" indent="0">
              <a:buNone/>
            </a:pPr>
            <a:r>
              <a:rPr lang="en-US" sz="1500" dirty="0">
                <a:solidFill>
                  <a:schemeClr val="accent6"/>
                </a:solidFill>
              </a:rPr>
              <a:t>어깨 · 손가락 피로 줄이기</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554480"/>
            <a:ext cx="8229600" cy="457200"/>
          </a:xfrm>
          <a:prstGeom prst="rect">
            <a:avLst/>
          </a:prstGeom>
          <a:noFill/>
          <a:ln/>
        </p:spPr>
        <p:txBody>
          <a:bodyPr wrap="square" lIns="0" tIns="0" rIns="0" bIns="0" rtlCol="0"/>
          <a:lstStyle/>
          <a:p>
            <a:pPr marL="0" indent="0">
              <a:buNone/>
            </a:pPr>
            <a:r>
              <a:rPr lang="en-US" sz="1800" b="1" dirty="0">
                <a:solidFill>
                  <a:schemeClr val="accent1"/>
                </a:solidFill>
              </a:rPr>
              <a:t>함께 만드는 졸업작품</a:t>
            </a:r>
            <a:endParaRPr lang="en-US" sz="1800" dirty="0"/>
          </a:p>
        </p:txBody>
      </p:sp>
      <p:sp>
        <p:nvSpPr>
          <p:cNvPr id="3" name="Text 0"/>
          <p:cNvSpPr>
            <a:spLocks noGrp="1"/>
          </p:cNvSpPr>
          <p:nvPr>
            <p:ph type="title" idx="101" hasCustomPrompt="1"/>
          </p:nvPr>
        </p:nvSpPr>
        <p:spPr>
          <a:xfrm>
            <a:off x="548640" y="2103120"/>
            <a:ext cx="10058400" cy="1371600"/>
          </a:xfrm>
          <a:prstGeom prst="rect">
            <a:avLst/>
          </a:prstGeom>
          <a:noFill/>
          <a:ln/>
        </p:spPr>
        <p:txBody>
          <a:bodyPr wrap="square" lIns="0" tIns="0" rIns="0" bIns="0" rtlCol="0" anchor="ctr"/>
          <a:lstStyle/>
          <a:p>
            <a:pPr marL="0" indent="0" algn="l">
              <a:buNone/>
            </a:pPr>
            <a:r>
              <a:rPr lang="en-US" sz="6000" b="1" dirty="0">
                <a:solidFill>
                  <a:schemeClr val="bg1"/>
                </a:solidFill>
              </a:rPr>
              <a:t>Q &amp; A</a:t>
            </a:r>
            <a:endParaRPr lang="en-US" sz="6000" dirty="0"/>
          </a:p>
        </p:txBody>
      </p:sp>
      <p:sp>
        <p:nvSpPr>
          <p:cNvPr id="4" name="Text 0"/>
          <p:cNvSpPr>
            <a:spLocks noGrp="1"/>
          </p:cNvSpPr>
          <p:nvPr>
            <p:ph type="body" idx="102" hasCustomPrompt="1"/>
          </p:nvPr>
        </p:nvSpPr>
        <p:spPr>
          <a:xfrm>
            <a:off x="548640" y="3657600"/>
            <a:ext cx="10058400" cy="548640"/>
          </a:xfrm>
          <a:prstGeom prst="rect">
            <a:avLst/>
          </a:prstGeom>
          <a:noFill/>
          <a:ln/>
        </p:spPr>
        <p:txBody>
          <a:bodyPr wrap="square" lIns="0" tIns="0" rIns="0" bIns="0" rtlCol="0"/>
          <a:lstStyle/>
          <a:p>
            <a:pPr marL="0" indent="0">
              <a:buNone/>
            </a:pPr>
            <a:r>
              <a:rPr lang="en-US" sz="2200" dirty="0">
                <a:solidFill>
                  <a:schemeClr val="accent3"/>
                </a:solidFill>
              </a:rPr>
              <a:t>궁금한 건 무엇이든 편하게 물어봐 주세요</a:t>
            </a:r>
            <a:endParaRPr lang="en-US" sz="2200" dirty="0"/>
          </a:p>
        </p:txBody>
      </p:sp>
      <p:sp>
        <p:nvSpPr>
          <p:cNvPr id="5" name="Text 0"/>
          <p:cNvSpPr>
            <a:spLocks noGrp="1"/>
          </p:cNvSpPr>
          <p:nvPr>
            <p:ph type="body" idx="103" hasCustomPrompt="1"/>
          </p:nvPr>
        </p:nvSpPr>
        <p:spPr>
          <a:xfrm>
            <a:off x="548640" y="5394960"/>
            <a:ext cx="10058400" cy="457200"/>
          </a:xfrm>
          <a:prstGeom prst="rect">
            <a:avLst/>
          </a:prstGeom>
          <a:noFill/>
          <a:ln/>
        </p:spPr>
        <p:txBody>
          <a:bodyPr wrap="square" lIns="0" tIns="0" rIns="0" bIns="0" rtlCol="0"/>
          <a:lstStyle/>
          <a:p>
            <a:pPr marL="0" indent="0">
              <a:buNone/>
            </a:pPr>
            <a:r>
              <a:rPr lang="en-US" sz="1600" dirty="0">
                <a:solidFill>
                  <a:schemeClr val="bg1"/>
                </a:solidFill>
              </a:rPr>
              <a:t>감사합니다  ·  Team PIP  ·  S.T.L</a:t>
            </a:r>
            <a:endParaRPr lang="en-US" sz="1600" dirty="0"/>
          </a:p>
        </p:txBody>
      </p:sp>
      <p:sp>
        <p:nvSpPr>
          <p:cNvPr id="6" name="deco circle large"/>
          <p:cNvSpPr/>
          <p:nvPr/>
        </p:nvSpPr>
        <p:spPr>
          <a:xfrm>
            <a:off x="8778240" y="-1097280"/>
            <a:ext cx="4754880" cy="4754880"/>
          </a:xfrm>
          <a:prstGeom prst="ellipse">
            <a:avLst/>
          </a:prstGeom>
          <a:solidFill>
            <a:schemeClr val="accent2">
              <a:alpha val="30000"/>
            </a:schemeClr>
          </a:solidFill>
          <a:ln/>
        </p:spPr>
        <p:txBody>
          <a:bodyPr/>
          <a:lstStyle/>
          <a:p>
            <a:endParaRPr lang="ko-KR" altLang="en-US"/>
          </a:p>
        </p:txBody>
      </p:sp>
      <p:sp>
        <p:nvSpPr>
          <p:cNvPr id="7" name="deco circle accent"/>
          <p:cNvSpPr/>
          <p:nvPr/>
        </p:nvSpPr>
        <p:spPr>
          <a:xfrm>
            <a:off x="9966960" y="3931920"/>
            <a:ext cx="2011680" cy="2011680"/>
          </a:xfrm>
          <a:prstGeom prst="ellipse">
            <a:avLst/>
          </a:prstGeom>
          <a:solidFill>
            <a:schemeClr val="accent1">
              <a:alpha val="85000"/>
            </a:schemeClr>
          </a:solidFill>
          <a:ln/>
        </p:spPr>
        <p:txBody>
          <a:bodyPr/>
          <a:lstStyle/>
          <a:p>
            <a:endParaRPr lang="ko-KR" altLang="en-US"/>
          </a:p>
        </p:txBody>
      </p:sp>
      <p:pic>
        <p:nvPicPr>
          <p:cNvPr id="8" name="qna icon" descr="질문"/>
          <p:cNvPicPr>
            <a:picLocks noChangeAspect="1"/>
          </p:cNvPicPr>
          <p:nvPr/>
        </p:nvPicPr>
        <p:blipFill>
          <a:blip r:embed="rId3"/>
          <a:stretch>
            <a:fillRect/>
          </a:stretch>
        </p:blipFill>
        <p:spPr>
          <a:xfrm>
            <a:off x="10469880" y="4434840"/>
            <a:ext cx="1005840" cy="1005840"/>
          </a:xfrm>
          <a:prstGeom prst="rect">
            <a:avLst/>
          </a:prstGeom>
        </p:spPr>
      </p:pic>
    </p:spTree>
  </p:cSld>
  <p:clrMapOvr>
    <a:masterClrMapping/>
  </p:clrMapOvr>
</p:sld>
</file>

<file path=ppt/theme/theme1.xml><?xml version="1.0" encoding="utf-8"?>
<a:theme xmlns:a="http://schemas.openxmlformats.org/drawingml/2006/main" name="PIP AtoZ">
  <a:themeElements>
    <a:clrScheme name="PIP AtoZ">
      <a:dk1>
        <a:srgbClr val="1A1F2E"/>
      </a:dk1>
      <a:lt1>
        <a:srgbClr val="FFFFFF"/>
      </a:lt1>
      <a:dk2>
        <a:srgbClr val="1C2B4A"/>
      </a:dk2>
      <a:lt2>
        <a:srgbClr val="EEF2F8"/>
      </a:lt2>
      <a:accent1>
        <a:srgbClr val="FF6B35"/>
      </a:accent1>
      <a:accent2>
        <a:srgbClr val="3D6FB6"/>
      </a:accent2>
      <a:accent3>
        <a:srgbClr val="9FB6D9"/>
      </a:accent3>
      <a:accent4>
        <a:srgbClr val="22A57A"/>
      </a:accent4>
      <a:accent5>
        <a:srgbClr val="E5484D"/>
      </a:accent5>
      <a:accent6>
        <a:srgbClr val="7A8499"/>
      </a:accent6>
      <a:hlink>
        <a:srgbClr val="3D6FB6"/>
      </a:hlink>
      <a:folHlink>
        <a:srgbClr val="7A8499"/>
      </a:folHlink>
    </a:clrScheme>
    <a:fontScheme name="PIP AtoZ">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1829</Words>
  <Application>Microsoft Office PowerPoint</Application>
  <PresentationFormat>와이드스크린</PresentationFormat>
  <Paragraphs>315</Paragraphs>
  <Slides>24</Slides>
  <Notes>24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24</vt:i4>
      </vt:variant>
    </vt:vector>
  </HeadingPairs>
  <TitlesOfParts>
    <vt:vector size="28" baseType="lpstr">
      <vt:lpstr>Malgun Gothic</vt:lpstr>
      <vt:lpstr>Arial</vt:lpstr>
      <vt:lpstr>Consolas</vt:lpstr>
      <vt:lpstr>PIP AtoZ</vt:lpstr>
      <vt:lpstr>함께 만드는 졸업작품</vt:lpstr>
      <vt:lpstr>오늘 이야기할 여섯 가지</vt:lpstr>
      <vt:lpstr>S.T.L 제작 파이프라인</vt:lpstr>
      <vt:lpstr>S.T.L 제작 파이프라인</vt:lpstr>
      <vt:lpstr>S.T.L 제작 파이프라인</vt:lpstr>
      <vt:lpstr>S.T.L 제작 파이프라인</vt:lpstr>
      <vt:lpstr>개발 도구</vt:lpstr>
      <vt:lpstr>도구를 알면 개발 속도가 달라진다</vt:lpstr>
      <vt:lpstr>코딩 팁</vt:lpstr>
      <vt:lpstr>서버는 설계가 먼저다</vt:lpstr>
      <vt:lpstr>구현 전에 규모와 명세서부터 확인하기</vt:lpstr>
      <vt:lpstr>디버깅의 기본 자세</vt:lpstr>
      <vt:lpstr>협업 코드의 두 가지 약속</vt:lpstr>
      <vt:lpstr>AI 활용</vt:lpstr>
      <vt:lpstr>요구사항은 명확하게, 개발자 용어로</vt:lpstr>
      <vt:lpstr>AI를 팀원처럼 쓰는 세 가지 습관</vt:lpstr>
      <vt:lpstr>PowerPoint 프레젠테이션</vt:lpstr>
      <vt:lpstr>팀원과의 관계</vt:lpstr>
      <vt:lpstr>진짜 동료가 되고, 같은 곳을 바라보기</vt:lpstr>
      <vt:lpstr>돈.</vt:lpstr>
      <vt:lpstr>게임 방향 정하기</vt:lpstr>
      <vt:lpstr>기타</vt:lpstr>
      <vt:lpstr>오래 버티는 개발 습관</vt:lpstr>
      <vt:lpstr>Q &amp; 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함께 만드는 졸업작품</dc:title>
  <dc:subject>PptxGenJS Presentation</dc:subject>
  <dc:creator>Team PIP</dc:creator>
  <cp:lastModifiedBy>임찬진(2021180035)</cp:lastModifiedBy>
  <cp:revision>20</cp:revision>
  <dcterms:created xsi:type="dcterms:W3CDTF">2026-10-13T15:25:27Z</dcterms:created>
  <dcterms:modified xsi:type="dcterms:W3CDTF">2026-10-13T16:00:04Z</dcterms:modified>
</cp:coreProperties>
</file>